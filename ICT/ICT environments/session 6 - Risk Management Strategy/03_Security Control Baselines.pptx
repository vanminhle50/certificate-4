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5" r:id="rId1"/>
  </p:sldMasterIdLst>
  <p:notesMasterIdLst>
    <p:notesMasterId r:id="rId16"/>
  </p:notesMasterIdLst>
  <p:handoutMasterIdLst>
    <p:handoutMasterId r:id="rId17"/>
  </p:handoutMasterIdLst>
  <p:sldIdLst>
    <p:sldId id="285" r:id="rId2"/>
    <p:sldId id="298" r:id="rId3"/>
    <p:sldId id="295" r:id="rId4"/>
    <p:sldId id="299" r:id="rId5"/>
    <p:sldId id="284" r:id="rId6"/>
    <p:sldId id="286" r:id="rId7"/>
    <p:sldId id="300" r:id="rId8"/>
    <p:sldId id="301" r:id="rId9"/>
    <p:sldId id="287" r:id="rId10"/>
    <p:sldId id="293" r:id="rId11"/>
    <p:sldId id="288" r:id="rId12"/>
    <p:sldId id="289" r:id="rId13"/>
    <p:sldId id="294" r:id="rId14"/>
    <p:sldId id="292" r:id="rId15"/>
  </p:sldIdLst>
  <p:sldSz cx="9144000" cy="6858000" type="screen4x3"/>
  <p:notesSz cx="6858000" cy="9144000"/>
  <p:defaultTextStyle>
    <a:defPPr>
      <a:defRPr lang="en-AU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-96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216B"/>
    <a:srgbClr val="F9A350"/>
    <a:srgbClr val="6D28AA"/>
    <a:srgbClr val="D81E05"/>
    <a:srgbClr val="56A0D3"/>
    <a:srgbClr val="CE007C"/>
    <a:srgbClr val="5F6062"/>
    <a:srgbClr val="CCD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62" autoAdjust="0"/>
    <p:restoredTop sz="79035" autoAdjust="0"/>
  </p:normalViewPr>
  <p:slideViewPr>
    <p:cSldViewPr snapToObjects="1">
      <p:cViewPr varScale="1">
        <p:scale>
          <a:sx n="89" d="100"/>
          <a:sy n="89" d="100"/>
        </p:scale>
        <p:origin x="8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Objects="1">
      <p:cViewPr varScale="1">
        <p:scale>
          <a:sx n="86" d="100"/>
          <a:sy n="86" d="100"/>
        </p:scale>
        <p:origin x="-3894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Calibri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Calibri" charset="0"/>
              </a:defRPr>
            </a:lvl1pPr>
          </a:lstStyle>
          <a:p>
            <a:pPr>
              <a:defRPr/>
            </a:pPr>
            <a:fld id="{DF17304A-8AE6-4B8F-BC51-6042B6C897B0}" type="datetime1">
              <a:rPr lang="en-AU"/>
              <a:pPr>
                <a:defRPr/>
              </a:pPr>
              <a:t>14/8/21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Calibri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Calibri" charset="0"/>
              </a:defRPr>
            </a:lvl1pPr>
          </a:lstStyle>
          <a:p>
            <a:pPr>
              <a:defRPr/>
            </a:pPr>
            <a:fld id="{66CAC372-13BC-4886-9A45-826534FF9D97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Calibri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Calibri" charset="0"/>
              </a:defRPr>
            </a:lvl1pPr>
          </a:lstStyle>
          <a:p>
            <a:pPr>
              <a:defRPr/>
            </a:pPr>
            <a:fld id="{AEAB2429-5BE2-4262-B1B4-BDC64C262D7A}" type="datetime1">
              <a:rPr lang="en-AU"/>
              <a:pPr>
                <a:defRPr/>
              </a:pPr>
              <a:t>14/8/21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Calibri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Calibri" charset="0"/>
              </a:defRPr>
            </a:lvl1pPr>
          </a:lstStyle>
          <a:p>
            <a:pPr>
              <a:defRPr/>
            </a:pPr>
            <a:fld id="{95420BDD-AC37-4C53-8FD7-803DA85FB7AF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96" charset="-128"/>
        <a:cs typeface="+mn-cs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96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96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96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96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420BDD-AC37-4C53-8FD7-803DA85FB7AF}" type="slidenum">
              <a:rPr lang="en-AU" smtClean="0"/>
              <a:pPr>
                <a:defRPr/>
              </a:pPr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8346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420BDD-AC37-4C53-8FD7-803DA85FB7AF}" type="slidenum">
              <a:rPr lang="en-AU" smtClean="0"/>
              <a:pPr>
                <a:defRPr/>
              </a:pPr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7280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420BDD-AC37-4C53-8FD7-803DA85FB7AF}" type="slidenum">
              <a:rPr lang="en-AU" smtClean="0"/>
              <a:pPr>
                <a:defRPr/>
              </a:pPr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05358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420BDD-AC37-4C53-8FD7-803DA85FB7AF}" type="slidenum">
              <a:rPr lang="en-AU" smtClean="0"/>
              <a:pPr>
                <a:defRPr/>
              </a:pPr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3812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420BDD-AC37-4C53-8FD7-803DA85FB7AF}" type="slidenum">
              <a:rPr lang="en-AU" smtClean="0"/>
              <a:pPr>
                <a:defRPr/>
              </a:pPr>
              <a:t>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589600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420BDD-AC37-4C53-8FD7-803DA85FB7AF}" type="slidenum">
              <a:rPr lang="en-AU" smtClean="0"/>
              <a:pPr>
                <a:defRPr/>
              </a:pPr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33237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420BDD-AC37-4C53-8FD7-803DA85FB7AF}" type="slidenum">
              <a:rPr lang="en-AU" smtClean="0"/>
              <a:pPr>
                <a:defRPr/>
              </a:pPr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41071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Assess adequacy of security controls compared to defined requirements and in security. light of current vulnerabilities</a:t>
            </a:r>
          </a:p>
          <a:p>
            <a:r>
              <a:rPr lang="en-AU" dirty="0"/>
              <a:t>Reassess what security exceptions need to be monitored on an ongoing basis</a:t>
            </a:r>
          </a:p>
          <a:p>
            <a:r>
              <a:rPr lang="en-AU" dirty="0"/>
              <a:t>Evaluate how well the security mechanisms are operating and check for weaknesses, such as intrusion detection, penetration and stress testing, and testing of contingency plans • </a:t>
            </a:r>
          </a:p>
          <a:p>
            <a:r>
              <a:rPr lang="en-AU" dirty="0"/>
              <a:t>Ensure that exceptions are acted upon </a:t>
            </a:r>
          </a:p>
          <a:p>
            <a:r>
              <a:rPr lang="en-AU" dirty="0"/>
              <a:t>Monitor compliance to key controls 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420BDD-AC37-4C53-8FD7-803DA85FB7AF}" type="slidenum">
              <a:rPr lang="en-AU" smtClean="0"/>
              <a:pPr>
                <a:defRPr/>
              </a:pPr>
              <a:t>9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890927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80000"/>
              </a:lnSpc>
            </a:pPr>
            <a:r>
              <a:rPr lang="en-AU" sz="1200" dirty="0"/>
              <a:t>Technical Risks include, but are not limited to:</a:t>
            </a:r>
          </a:p>
          <a:p>
            <a:pPr>
              <a:lnSpc>
                <a:spcPct val="80000"/>
              </a:lnSpc>
            </a:pPr>
            <a:r>
              <a:rPr lang="en-AU" sz="1200" dirty="0"/>
              <a:t>	Hardware physical exposure, easy access, </a:t>
            </a:r>
          </a:p>
          <a:p>
            <a:pPr>
              <a:lnSpc>
                <a:spcPct val="80000"/>
              </a:lnSpc>
            </a:pPr>
            <a:r>
              <a:rPr lang="en-AU" sz="1200" dirty="0"/>
              <a:t>	Hardware Incorrect Configuration</a:t>
            </a:r>
          </a:p>
          <a:p>
            <a:pPr>
              <a:lnSpc>
                <a:spcPct val="80000"/>
              </a:lnSpc>
            </a:pPr>
            <a:r>
              <a:rPr lang="en-AU" sz="1200" dirty="0"/>
              <a:t>	Hardware Misuse</a:t>
            </a:r>
          </a:p>
          <a:p>
            <a:pPr>
              <a:lnSpc>
                <a:spcPct val="80000"/>
              </a:lnSpc>
            </a:pPr>
            <a:r>
              <a:rPr lang="en-AU" sz="1200" dirty="0"/>
              <a:t>	Lack of Software Patches</a:t>
            </a:r>
          </a:p>
          <a:p>
            <a:pPr>
              <a:lnSpc>
                <a:spcPct val="80000"/>
              </a:lnSpc>
            </a:pPr>
            <a:r>
              <a:rPr lang="en-AU" sz="1200" dirty="0"/>
              <a:t>	Software Vulnerabilities</a:t>
            </a:r>
          </a:p>
          <a:p>
            <a:pPr>
              <a:lnSpc>
                <a:spcPct val="80000"/>
              </a:lnSpc>
            </a:pPr>
            <a:r>
              <a:rPr lang="en-AU" sz="1200" dirty="0"/>
              <a:t>Security Risk:</a:t>
            </a:r>
          </a:p>
          <a:p>
            <a:pPr>
              <a:lnSpc>
                <a:spcPct val="80000"/>
              </a:lnSpc>
            </a:pPr>
            <a:r>
              <a:rPr lang="en-AU" sz="1200" dirty="0"/>
              <a:t>	Trojan Horse Infection</a:t>
            </a:r>
          </a:p>
          <a:p>
            <a:pPr>
              <a:lnSpc>
                <a:spcPct val="80000"/>
              </a:lnSpc>
            </a:pPr>
            <a:r>
              <a:rPr lang="en-AU" sz="1200" dirty="0"/>
              <a:t>	Root Kits</a:t>
            </a:r>
          </a:p>
          <a:p>
            <a:pPr>
              <a:lnSpc>
                <a:spcPct val="80000"/>
              </a:lnSpc>
            </a:pPr>
            <a:r>
              <a:rPr lang="en-AU" sz="1200" dirty="0"/>
              <a:t>	DoS</a:t>
            </a:r>
          </a:p>
          <a:p>
            <a:pPr>
              <a:lnSpc>
                <a:spcPct val="80000"/>
              </a:lnSpc>
            </a:pPr>
            <a:r>
              <a:rPr lang="en-AU" sz="1200" dirty="0"/>
              <a:t>	Man-in-the-middle</a:t>
            </a:r>
          </a:p>
          <a:p>
            <a:pPr>
              <a:lnSpc>
                <a:spcPct val="80000"/>
              </a:lnSpc>
            </a:pPr>
            <a:r>
              <a:rPr lang="en-AU" sz="1200" dirty="0"/>
              <a:t>	Operating Systems Vulnerabilities</a:t>
            </a:r>
          </a:p>
          <a:p>
            <a:pPr>
              <a:lnSpc>
                <a:spcPct val="80000"/>
              </a:lnSpc>
            </a:pPr>
            <a:r>
              <a:rPr lang="en-AU" sz="1200" dirty="0"/>
              <a:t>	Programming Languages and mobile codes (Java, ActiveX, Scripts)</a:t>
            </a:r>
          </a:p>
          <a:p>
            <a:pPr>
              <a:lnSpc>
                <a:spcPct val="80000"/>
              </a:lnSpc>
            </a:pPr>
            <a:r>
              <a:rPr lang="en-AU" sz="1200" dirty="0"/>
              <a:t>Physical Risks include:</a:t>
            </a:r>
          </a:p>
          <a:p>
            <a:pPr>
              <a:lnSpc>
                <a:spcPct val="80000"/>
              </a:lnSpc>
            </a:pPr>
            <a:r>
              <a:rPr lang="en-AU" sz="1200" dirty="0"/>
              <a:t>	Alarms Disabled</a:t>
            </a:r>
          </a:p>
          <a:p>
            <a:pPr>
              <a:lnSpc>
                <a:spcPct val="80000"/>
              </a:lnSpc>
            </a:pPr>
            <a:r>
              <a:rPr lang="en-AU" sz="1200" dirty="0"/>
              <a:t>	Locks left open</a:t>
            </a:r>
          </a:p>
          <a:p>
            <a:pPr>
              <a:lnSpc>
                <a:spcPct val="80000"/>
              </a:lnSpc>
            </a:pPr>
            <a:r>
              <a:rPr lang="en-AU" sz="1200" dirty="0"/>
              <a:t>	Secure areas left open with no security personnel</a:t>
            </a:r>
          </a:p>
          <a:p>
            <a:pPr>
              <a:lnSpc>
                <a:spcPct val="80000"/>
              </a:lnSpc>
            </a:pPr>
            <a:r>
              <a:rPr lang="en-AU" sz="1200" dirty="0"/>
              <a:t>	Equipment damage</a:t>
            </a:r>
          </a:p>
          <a:p>
            <a:pPr>
              <a:lnSpc>
                <a:spcPct val="80000"/>
              </a:lnSpc>
            </a:pPr>
            <a:r>
              <a:rPr lang="en-AU" sz="1200" dirty="0"/>
              <a:t>	Equipment theft</a:t>
            </a:r>
          </a:p>
          <a:p>
            <a:pPr>
              <a:lnSpc>
                <a:spcPct val="80000"/>
              </a:lnSpc>
            </a:pPr>
            <a:r>
              <a:rPr lang="en-AU" sz="1200" dirty="0"/>
              <a:t>Communication Risks:</a:t>
            </a:r>
          </a:p>
          <a:p>
            <a:pPr>
              <a:lnSpc>
                <a:spcPct val="80000"/>
              </a:lnSpc>
            </a:pPr>
            <a:r>
              <a:rPr lang="en-AU" sz="1200" dirty="0"/>
              <a:t>	No standards for accessing personnel at different levels of the organisation</a:t>
            </a:r>
          </a:p>
          <a:p>
            <a:pPr>
              <a:lnSpc>
                <a:spcPct val="80000"/>
              </a:lnSpc>
            </a:pPr>
            <a:r>
              <a:rPr lang="en-AU" sz="1200" dirty="0"/>
              <a:t>‘	No confirmation/verification of source of communications</a:t>
            </a:r>
          </a:p>
          <a:p>
            <a:pPr>
              <a:lnSpc>
                <a:spcPct val="80000"/>
              </a:lnSpc>
            </a:pPr>
            <a:r>
              <a:rPr lang="en-AU" sz="1200" dirty="0"/>
              <a:t>Training Risks (or lack of training)</a:t>
            </a:r>
          </a:p>
          <a:p>
            <a:pPr>
              <a:lnSpc>
                <a:spcPct val="80000"/>
              </a:lnSpc>
            </a:pPr>
            <a:r>
              <a:rPr lang="en-AU" sz="1200" dirty="0"/>
              <a:t>	User training non existent or inappropriate</a:t>
            </a:r>
          </a:p>
          <a:p>
            <a:pPr>
              <a:lnSpc>
                <a:spcPct val="80000"/>
              </a:lnSpc>
            </a:pPr>
            <a:r>
              <a:rPr lang="en-AU" sz="1200" dirty="0"/>
              <a:t>	non verification of continuing understanding of current policies</a:t>
            </a:r>
          </a:p>
          <a:p>
            <a:pPr>
              <a:lnSpc>
                <a:spcPct val="80000"/>
              </a:lnSpc>
            </a:pPr>
            <a:r>
              <a:rPr lang="en-AU" sz="1200" dirty="0"/>
              <a:t>Violation of Policies and Regulations</a:t>
            </a:r>
          </a:p>
          <a:p>
            <a:pPr>
              <a:lnSpc>
                <a:spcPct val="80000"/>
              </a:lnSpc>
            </a:pPr>
            <a:r>
              <a:rPr lang="en-AU" sz="1200" dirty="0"/>
              <a:t>	Intellectual Property Risks</a:t>
            </a:r>
          </a:p>
          <a:p>
            <a:pPr>
              <a:lnSpc>
                <a:spcPct val="80000"/>
              </a:lnSpc>
            </a:pPr>
            <a:r>
              <a:rPr lang="en-AU" sz="1200" dirty="0"/>
              <a:t>	Identity theft</a:t>
            </a:r>
          </a:p>
          <a:p>
            <a:pPr>
              <a:lnSpc>
                <a:spcPct val="80000"/>
              </a:lnSpc>
            </a:pPr>
            <a:r>
              <a:rPr lang="en-AU" sz="1200" dirty="0"/>
              <a:t>	Illegal Use of resources (such as the Internet)</a:t>
            </a:r>
          </a:p>
          <a:p>
            <a:pPr>
              <a:lnSpc>
                <a:spcPct val="80000"/>
              </a:lnSpc>
            </a:pPr>
            <a:r>
              <a:rPr lang="en-AU" sz="1200" dirty="0"/>
              <a:t>	Industrial Espionage</a:t>
            </a:r>
          </a:p>
          <a:p>
            <a:pPr>
              <a:lnSpc>
                <a:spcPct val="80000"/>
              </a:lnSpc>
            </a:pPr>
            <a:r>
              <a:rPr lang="en-AU" sz="1200" dirty="0"/>
              <a:t>	</a:t>
            </a:r>
            <a:r>
              <a:rPr lang="en-AU" sz="1200" dirty="0" err="1"/>
              <a:t>Tunneling</a:t>
            </a:r>
            <a:endParaRPr lang="en-AU" sz="1200" dirty="0"/>
          </a:p>
          <a:p>
            <a:pPr>
              <a:lnSpc>
                <a:spcPct val="80000"/>
              </a:lnSpc>
            </a:pPr>
            <a:endParaRPr lang="en-AU" sz="1200" dirty="0"/>
          </a:p>
          <a:p>
            <a:pPr>
              <a:lnSpc>
                <a:spcPct val="80000"/>
              </a:lnSpc>
            </a:pPr>
            <a:endParaRPr lang="en-AU" sz="1200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5420BDD-AC37-4C53-8FD7-803DA85FB7AF}" type="slidenum">
              <a:rPr lang="en-AU" smtClean="0"/>
              <a:pPr>
                <a:defRPr/>
              </a:pPr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78580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420BDD-AC37-4C53-8FD7-803DA85FB7AF}" type="slidenum">
              <a:rPr lang="en-AU" smtClean="0"/>
              <a:pPr>
                <a:defRPr/>
              </a:pPr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2511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142844" y="357166"/>
            <a:ext cx="8839200" cy="533400"/>
          </a:xfrm>
          <a:prstGeom prst="rect">
            <a:avLst/>
          </a:prstGeom>
        </p:spPr>
        <p:txBody>
          <a:bodyPr/>
          <a:lstStyle>
            <a:lvl1pPr algn="l">
              <a:defRPr sz="2400" b="1" i="0">
                <a:solidFill>
                  <a:srgbClr val="84216B"/>
                </a:solidFill>
                <a:latin typeface="Arial"/>
                <a:cs typeface="Arial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42875" y="1142985"/>
            <a:ext cx="8839169" cy="478634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1800">
                <a:solidFill>
                  <a:srgbClr val="5F6062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800">
                <a:solidFill>
                  <a:srgbClr val="5F6062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800">
                <a:solidFill>
                  <a:srgbClr val="5F6062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800">
                <a:solidFill>
                  <a:srgbClr val="5F6062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800">
                <a:solidFill>
                  <a:srgbClr val="5F6062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,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4714876" y="1214438"/>
            <a:ext cx="4214812" cy="4643437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214313" y="1214438"/>
            <a:ext cx="4286250" cy="4643437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1800">
                <a:solidFill>
                  <a:srgbClr val="5F6062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800">
                <a:solidFill>
                  <a:srgbClr val="5F6062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800">
                <a:solidFill>
                  <a:srgbClr val="5F6062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800">
                <a:solidFill>
                  <a:srgbClr val="5F6062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800">
                <a:solidFill>
                  <a:srgbClr val="5F6062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42844" y="357166"/>
            <a:ext cx="8786844" cy="533400"/>
          </a:xfrm>
          <a:prstGeom prst="rect">
            <a:avLst/>
          </a:prstGeom>
        </p:spPr>
        <p:txBody>
          <a:bodyPr/>
          <a:lstStyle>
            <a:lvl1pPr algn="l">
              <a:defRPr sz="2400" b="1" i="0">
                <a:solidFill>
                  <a:srgbClr val="84216B"/>
                </a:solidFill>
                <a:latin typeface="Arial"/>
                <a:cs typeface="Arial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,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42844" y="1214438"/>
            <a:ext cx="4214812" cy="4643437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4643438" y="1214438"/>
            <a:ext cx="4286250" cy="4643437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1800">
                <a:solidFill>
                  <a:srgbClr val="5F6062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800">
                <a:solidFill>
                  <a:srgbClr val="5F6062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800">
                <a:solidFill>
                  <a:srgbClr val="5F6062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800">
                <a:solidFill>
                  <a:srgbClr val="5F6062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800">
                <a:solidFill>
                  <a:srgbClr val="5F6062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42844" y="357166"/>
            <a:ext cx="8786844" cy="533400"/>
          </a:xfrm>
          <a:prstGeom prst="rect">
            <a:avLst/>
          </a:prstGeom>
        </p:spPr>
        <p:txBody>
          <a:bodyPr/>
          <a:lstStyle>
            <a:lvl1pPr algn="l">
              <a:defRPr sz="2400" b="1" i="0">
                <a:solidFill>
                  <a:srgbClr val="84216B"/>
                </a:solidFill>
                <a:latin typeface="Arial"/>
                <a:cs typeface="Arial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ext ar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4643438" y="1214438"/>
            <a:ext cx="4286250" cy="4643437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1800">
                <a:solidFill>
                  <a:srgbClr val="5F6062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800">
                <a:solidFill>
                  <a:srgbClr val="5F6062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800">
                <a:solidFill>
                  <a:srgbClr val="5F6062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800">
                <a:solidFill>
                  <a:srgbClr val="5F6062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800">
                <a:solidFill>
                  <a:srgbClr val="5F6062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42844" y="357166"/>
            <a:ext cx="8786844" cy="533400"/>
          </a:xfrm>
          <a:prstGeom prst="rect">
            <a:avLst/>
          </a:prstGeom>
        </p:spPr>
        <p:txBody>
          <a:bodyPr/>
          <a:lstStyle>
            <a:lvl1pPr algn="l">
              <a:defRPr sz="2400" b="1" i="0">
                <a:solidFill>
                  <a:srgbClr val="84216B"/>
                </a:solidFill>
                <a:latin typeface="Arial"/>
                <a:cs typeface="Arial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142844" y="1214438"/>
            <a:ext cx="4286250" cy="4643437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1800">
                <a:solidFill>
                  <a:srgbClr val="5F6062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800">
                <a:solidFill>
                  <a:srgbClr val="5F6062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800">
                <a:solidFill>
                  <a:srgbClr val="5F6062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800">
                <a:solidFill>
                  <a:srgbClr val="5F6062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800">
                <a:solidFill>
                  <a:srgbClr val="5F6062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142843" y="357166"/>
            <a:ext cx="8858281" cy="533400"/>
          </a:xfrm>
          <a:prstGeom prst="rect">
            <a:avLst/>
          </a:prstGeom>
        </p:spPr>
        <p:txBody>
          <a:bodyPr/>
          <a:lstStyle>
            <a:lvl1pPr algn="l">
              <a:defRPr sz="2400" b="1" i="0">
                <a:solidFill>
                  <a:srgbClr val="84216B"/>
                </a:solidFill>
                <a:latin typeface="Arial"/>
                <a:cs typeface="Arial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142875" y="1214438"/>
            <a:ext cx="8858250" cy="4643437"/>
          </a:xfrm>
          <a:prstGeom prst="rect">
            <a:avLst/>
          </a:prstGeom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 left,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4714876" y="1214438"/>
            <a:ext cx="4214812" cy="4643437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214313" y="1214438"/>
            <a:ext cx="4286250" cy="4643437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1800">
                <a:solidFill>
                  <a:srgbClr val="5F6062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800">
                <a:solidFill>
                  <a:srgbClr val="5F6062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800">
                <a:solidFill>
                  <a:srgbClr val="5F6062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800">
                <a:solidFill>
                  <a:srgbClr val="5F6062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800">
                <a:solidFill>
                  <a:srgbClr val="5F6062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42844" y="357166"/>
            <a:ext cx="8786844" cy="533400"/>
          </a:xfrm>
          <a:prstGeom prst="rect">
            <a:avLst/>
          </a:prstGeom>
        </p:spPr>
        <p:txBody>
          <a:bodyPr/>
          <a:lstStyle>
            <a:lvl1pPr algn="l">
              <a:defRPr sz="2400" b="1" i="0">
                <a:solidFill>
                  <a:srgbClr val="84216B"/>
                </a:solidFill>
                <a:latin typeface="Arial"/>
                <a:cs typeface="Arial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14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142844" y="357166"/>
            <a:ext cx="8839200" cy="533400"/>
          </a:xfrm>
          <a:prstGeom prst="rect">
            <a:avLst/>
          </a:prstGeom>
        </p:spPr>
        <p:txBody>
          <a:bodyPr/>
          <a:lstStyle>
            <a:lvl1pPr algn="l">
              <a:defRPr sz="2400" b="1" i="0">
                <a:solidFill>
                  <a:srgbClr val="84216B"/>
                </a:solidFill>
                <a:latin typeface="Arial"/>
                <a:cs typeface="Arial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42875" y="1142985"/>
            <a:ext cx="8839169" cy="478634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1800">
                <a:solidFill>
                  <a:srgbClr val="5F6062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800">
                <a:solidFill>
                  <a:srgbClr val="5F6062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800">
                <a:solidFill>
                  <a:srgbClr val="5F6062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800">
                <a:solidFill>
                  <a:srgbClr val="5F6062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800">
                <a:solidFill>
                  <a:srgbClr val="5F6062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62837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text ar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4643438" y="1214438"/>
            <a:ext cx="4286250" cy="4643437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1800">
                <a:solidFill>
                  <a:srgbClr val="5F6062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800">
                <a:solidFill>
                  <a:srgbClr val="5F6062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800">
                <a:solidFill>
                  <a:srgbClr val="5F6062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800">
                <a:solidFill>
                  <a:srgbClr val="5F6062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800">
                <a:solidFill>
                  <a:srgbClr val="5F6062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42844" y="357166"/>
            <a:ext cx="8786844" cy="533400"/>
          </a:xfrm>
          <a:prstGeom prst="rect">
            <a:avLst/>
          </a:prstGeom>
        </p:spPr>
        <p:txBody>
          <a:bodyPr/>
          <a:lstStyle>
            <a:lvl1pPr algn="l">
              <a:defRPr sz="2400" b="1" i="0">
                <a:solidFill>
                  <a:srgbClr val="84216B"/>
                </a:solidFill>
                <a:latin typeface="Arial"/>
                <a:cs typeface="Arial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142844" y="1214438"/>
            <a:ext cx="4286250" cy="4643437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1800">
                <a:solidFill>
                  <a:srgbClr val="5F6062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800">
                <a:solidFill>
                  <a:srgbClr val="5F6062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800">
                <a:solidFill>
                  <a:srgbClr val="5F6062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800">
                <a:solidFill>
                  <a:srgbClr val="5F6062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800">
                <a:solidFill>
                  <a:srgbClr val="5F6062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64704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 txBox="1">
            <a:spLocks noGrp="1"/>
          </p:cNvSpPr>
          <p:nvPr/>
        </p:nvSpPr>
        <p:spPr bwMode="auto">
          <a:xfrm rot="5400000">
            <a:off x="4179103" y="1893105"/>
            <a:ext cx="785796" cy="9144000"/>
          </a:xfrm>
          <a:prstGeom prst="rect">
            <a:avLst/>
          </a:prstGeom>
          <a:solidFill>
            <a:srgbClr val="84216B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r">
              <a:defRPr/>
            </a:pPr>
            <a:endParaRPr lang="en-US" sz="1000">
              <a:solidFill>
                <a:srgbClr val="898989"/>
              </a:solidFill>
              <a:cs typeface="Arial" charset="0"/>
            </a:endParaRPr>
          </a:p>
        </p:txBody>
      </p:sp>
      <p:pic>
        <p:nvPicPr>
          <p:cNvPr id="6" name="Picture 5" descr="Main_REV on transparent background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7358082" y="6000768"/>
            <a:ext cx="1571604" cy="734338"/>
          </a:xfrm>
          <a:prstGeom prst="rect">
            <a:avLst/>
          </a:prstGeom>
        </p:spPr>
      </p:pic>
      <p:sp>
        <p:nvSpPr>
          <p:cNvPr id="7" name="Line 7"/>
          <p:cNvSpPr>
            <a:spLocks noChangeShapeType="1"/>
          </p:cNvSpPr>
          <p:nvPr/>
        </p:nvSpPr>
        <p:spPr bwMode="auto">
          <a:xfrm flipH="1">
            <a:off x="142844" y="1000108"/>
            <a:ext cx="8839200" cy="0"/>
          </a:xfrm>
          <a:prstGeom prst="line">
            <a:avLst/>
          </a:prstGeom>
          <a:noFill/>
          <a:ln w="19050">
            <a:solidFill>
              <a:srgbClr val="84216B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61" r:id="rId3"/>
    <p:sldLayoutId id="2147483662" r:id="rId4"/>
    <p:sldLayoutId id="2147483659" r:id="rId5"/>
    <p:sldLayoutId id="2147483675" r:id="rId6"/>
    <p:sldLayoutId id="2147483676" r:id="rId7"/>
    <p:sldLayoutId id="2147483677" r:id="rId8"/>
  </p:sldLayoutIdLst>
  <p:hf hdr="0" ftr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96" charset="-128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-96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-96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-96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-96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-96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-96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-96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-96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96" charset="-128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96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96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96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96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ist.gov/" TargetMode="External"/><Relationship Id="rId4" Type="http://schemas.openxmlformats.org/officeDocument/2006/relationships/hyperlink" Target="https://csrc.nist.gov/glossary/term/security_control_baseline" TargetMode="External"/><Relationship Id="rId5" Type="http://schemas.openxmlformats.org/officeDocument/2006/relationships/hyperlink" Target="https://cyber.gc.ca/en/" TargetMode="External"/><Relationship Id="rId6" Type="http://schemas.openxmlformats.org/officeDocument/2006/relationships/hyperlink" Target="https://cyber.gc.ca/en/guidance/baseline-cyber-security-controls-small-and-medium-organizations" TargetMode="External"/><Relationship Id="rId7" Type="http://schemas.openxmlformats.org/officeDocument/2006/relationships/hyperlink" Target="https://docs.microsoft.com/en-us/windows/security/threat-protection/windows-security-baselines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itperfection.com/network-security/it-security-baselines-checklist-network-security-cybersecurity-windows-server-wireless-wifi-firewall-hardening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sherweb.com/blog/security/what-is-baseline-security/#:~:text=According%20to%20the%20National%20Institute,or%20high%2Dimpact%20information%20system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214312" y="1214438"/>
            <a:ext cx="8715375" cy="4805362"/>
          </a:xfrm>
        </p:spPr>
        <p:txBody>
          <a:bodyPr/>
          <a:lstStyle/>
          <a:p>
            <a:endParaRPr lang="en-AU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AU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Baselining</a:t>
            </a:r>
          </a:p>
          <a:p>
            <a:endParaRPr lang="en-AU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AU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Key Aspects</a:t>
            </a:r>
          </a:p>
          <a:p>
            <a:endParaRPr lang="en-AU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AU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Anomalies</a:t>
            </a:r>
          </a:p>
          <a:p>
            <a:endParaRPr lang="en-AU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AU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Using Baseline</a:t>
            </a:r>
          </a:p>
          <a:p>
            <a:endParaRPr lang="en-AU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AU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Best Practice</a:t>
            </a:r>
          </a:p>
          <a:p>
            <a:endParaRPr lang="en-AU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992160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214312" y="1214438"/>
            <a:ext cx="8715375" cy="4805362"/>
          </a:xfrm>
        </p:spPr>
        <p:txBody>
          <a:bodyPr/>
          <a:lstStyle/>
          <a:p>
            <a:pPr marL="0" indent="0">
              <a:buNone/>
            </a:pPr>
            <a:r>
              <a:rPr lang="en-AU" b="1" dirty="0" smtClean="0">
                <a:latin typeface="Calibri" charset="0"/>
                <a:ea typeface="Calibri" charset="0"/>
                <a:cs typeface="Calibri" charset="0"/>
              </a:rPr>
              <a:t>What are “IT Baselines”?</a:t>
            </a:r>
          </a:p>
          <a:p>
            <a:endParaRPr lang="en-AU" sz="1600" dirty="0">
              <a:latin typeface="Calibri" charset="0"/>
              <a:ea typeface="Calibri" charset="0"/>
              <a:cs typeface="Calibri" charset="0"/>
            </a:endParaRPr>
          </a:p>
          <a:p>
            <a:r>
              <a:rPr lang="en-AU" sz="1600" dirty="0" smtClean="0">
                <a:latin typeface="Calibri" charset="0"/>
                <a:ea typeface="Calibri" charset="0"/>
                <a:cs typeface="Calibri" charset="0"/>
              </a:rPr>
              <a:t>There </a:t>
            </a:r>
            <a:r>
              <a:rPr lang="en-AU" sz="1600" dirty="0">
                <a:latin typeface="Calibri" charset="0"/>
                <a:ea typeface="Calibri" charset="0"/>
                <a:cs typeface="Calibri" charset="0"/>
              </a:rPr>
              <a:t>are a few different ways to interpret what defines baseline security. According to the </a:t>
            </a:r>
            <a:r>
              <a:rPr lang="en-AU" sz="1600" dirty="0">
                <a:latin typeface="Calibri" charset="0"/>
                <a:ea typeface="Calibri" charset="0"/>
                <a:cs typeface="Calibri" charset="0"/>
                <a:hlinkClick r:id="rId3"/>
              </a:rPr>
              <a:t>National Institute of Standards and Technology (NIST)</a:t>
            </a:r>
            <a:r>
              <a:rPr lang="en-AU" sz="1600" dirty="0">
                <a:latin typeface="Calibri" charset="0"/>
                <a:ea typeface="Calibri" charset="0"/>
                <a:cs typeface="Calibri" charset="0"/>
              </a:rPr>
              <a:t>, a “</a:t>
            </a:r>
            <a:r>
              <a:rPr lang="en-AU" sz="1600" dirty="0">
                <a:latin typeface="Calibri" charset="0"/>
                <a:ea typeface="Calibri" charset="0"/>
                <a:cs typeface="Calibri" charset="0"/>
                <a:hlinkClick r:id="rId4"/>
              </a:rPr>
              <a:t>security control baseline</a:t>
            </a:r>
            <a:r>
              <a:rPr lang="en-AU" sz="1600" dirty="0">
                <a:latin typeface="Calibri" charset="0"/>
                <a:ea typeface="Calibri" charset="0"/>
                <a:cs typeface="Calibri" charset="0"/>
              </a:rPr>
              <a:t>” refers to  “the </a:t>
            </a:r>
            <a:r>
              <a:rPr lang="en-AU" sz="1600" b="1" dirty="0">
                <a:latin typeface="Calibri" charset="0"/>
                <a:ea typeface="Calibri" charset="0"/>
                <a:cs typeface="Calibri" charset="0"/>
              </a:rPr>
              <a:t>set of minimum security controls </a:t>
            </a:r>
            <a:r>
              <a:rPr lang="en-AU" sz="1600" dirty="0">
                <a:latin typeface="Calibri" charset="0"/>
                <a:ea typeface="Calibri" charset="0"/>
                <a:cs typeface="Calibri" charset="0"/>
              </a:rPr>
              <a:t>defined for a low-impact, moderate-impact, or high-impact information system. A set of information security controls that has been established through information security strategic planning activities to address one or more specified security categorizations</a:t>
            </a:r>
            <a:r>
              <a:rPr lang="en-AU" sz="1600" dirty="0" smtClean="0">
                <a:latin typeface="Calibri" charset="0"/>
                <a:ea typeface="Calibri" charset="0"/>
                <a:cs typeface="Calibri" charset="0"/>
              </a:rPr>
              <a:t>.”</a:t>
            </a:r>
          </a:p>
          <a:p>
            <a:endParaRPr lang="en-AU" sz="1600" dirty="0">
              <a:latin typeface="Calibri" charset="0"/>
              <a:ea typeface="Calibri" charset="0"/>
              <a:cs typeface="Calibri" charset="0"/>
            </a:endParaRPr>
          </a:p>
          <a:p>
            <a:r>
              <a:rPr lang="en-AU" sz="1600" dirty="0">
                <a:latin typeface="Calibri" charset="0"/>
                <a:ea typeface="Calibri" charset="0"/>
                <a:cs typeface="Calibri" charset="0"/>
              </a:rPr>
              <a:t>Meanwhile, the </a:t>
            </a:r>
            <a:r>
              <a:rPr lang="en-AU" sz="1600" dirty="0">
                <a:latin typeface="Calibri" charset="0"/>
                <a:ea typeface="Calibri" charset="0"/>
                <a:cs typeface="Calibri" charset="0"/>
                <a:hlinkClick r:id="rId5"/>
              </a:rPr>
              <a:t>Canadian Centre for Cyber Security</a:t>
            </a:r>
            <a:r>
              <a:rPr lang="en-AU" sz="1600" dirty="0">
                <a:latin typeface="Calibri" charset="0"/>
                <a:ea typeface="Calibri" charset="0"/>
                <a:cs typeface="Calibri" charset="0"/>
              </a:rPr>
              <a:t> defines its </a:t>
            </a:r>
            <a:r>
              <a:rPr lang="en-AU" sz="1600" dirty="0">
                <a:latin typeface="Calibri" charset="0"/>
                <a:ea typeface="Calibri" charset="0"/>
                <a:cs typeface="Calibri" charset="0"/>
                <a:hlinkClick r:id="rId6"/>
              </a:rPr>
              <a:t>Baseline Cyber Security Controls</a:t>
            </a:r>
            <a:r>
              <a:rPr lang="en-AU" sz="1600" dirty="0">
                <a:latin typeface="Calibri" charset="0"/>
                <a:ea typeface="Calibri" charset="0"/>
                <a:cs typeface="Calibri" charset="0"/>
              </a:rPr>
              <a:t> as “a </a:t>
            </a:r>
            <a:r>
              <a:rPr lang="en-AU" sz="1600" b="1" dirty="0">
                <a:latin typeface="Calibri" charset="0"/>
                <a:ea typeface="Calibri" charset="0"/>
                <a:cs typeface="Calibri" charset="0"/>
              </a:rPr>
              <a:t>condensed set of advice, guidance, and security controls </a:t>
            </a:r>
            <a:r>
              <a:rPr lang="en-AU" sz="1600" dirty="0">
                <a:latin typeface="Calibri" charset="0"/>
                <a:ea typeface="Calibri" charset="0"/>
                <a:cs typeface="Calibri" charset="0"/>
              </a:rPr>
              <a:t>on how organizations can get the most out of their cyber security investments</a:t>
            </a:r>
            <a:r>
              <a:rPr lang="en-AU" sz="1600" dirty="0" smtClean="0">
                <a:latin typeface="Calibri" charset="0"/>
                <a:ea typeface="Calibri" charset="0"/>
                <a:cs typeface="Calibri" charset="0"/>
              </a:rPr>
              <a:t>.”</a:t>
            </a:r>
          </a:p>
          <a:p>
            <a:endParaRPr lang="en-AU" sz="1600" dirty="0">
              <a:latin typeface="Calibri" charset="0"/>
              <a:ea typeface="Calibri" charset="0"/>
              <a:cs typeface="Calibri" charset="0"/>
            </a:endParaRPr>
          </a:p>
          <a:p>
            <a:r>
              <a:rPr lang="en-AU" sz="1600" dirty="0">
                <a:latin typeface="Calibri" charset="0"/>
                <a:ea typeface="Calibri" charset="0"/>
                <a:cs typeface="Calibri" charset="0"/>
              </a:rPr>
              <a:t>Microsoft, on the other hand, identifies </a:t>
            </a:r>
            <a:r>
              <a:rPr lang="en-AU" sz="1600" dirty="0">
                <a:latin typeface="Calibri" charset="0"/>
                <a:ea typeface="Calibri" charset="0"/>
                <a:cs typeface="Calibri" charset="0"/>
                <a:hlinkClick r:id="rId7"/>
              </a:rPr>
              <a:t>security baselines</a:t>
            </a:r>
            <a:r>
              <a:rPr lang="en-AU" sz="1600" dirty="0">
                <a:latin typeface="Calibri" charset="0"/>
                <a:ea typeface="Calibri" charset="0"/>
                <a:cs typeface="Calibri" charset="0"/>
              </a:rPr>
              <a:t> simply as standards defined by individual organizations that apps and devices must be compliant with. Microsoft’s own security baselines are groups of </a:t>
            </a:r>
            <a:r>
              <a:rPr lang="en-AU" sz="1600" b="1" dirty="0">
                <a:latin typeface="Calibri" charset="0"/>
                <a:ea typeface="Calibri" charset="0"/>
                <a:cs typeface="Calibri" charset="0"/>
              </a:rPr>
              <a:t>recommended configuration settings for different levels of impact</a:t>
            </a:r>
            <a:r>
              <a:rPr lang="en-AU" sz="1600" dirty="0">
                <a:latin typeface="Calibri" charset="0"/>
                <a:ea typeface="Calibri" charset="0"/>
                <a:cs typeface="Calibri" charset="0"/>
              </a:rPr>
              <a:t>, informed by feedback from various stakeholders</a:t>
            </a:r>
            <a:r>
              <a:rPr lang="en-AU" sz="1600" dirty="0" smtClean="0">
                <a:latin typeface="Calibri" charset="0"/>
                <a:ea typeface="Calibri" charset="0"/>
                <a:cs typeface="Calibri" charset="0"/>
              </a:rPr>
              <a:t>.</a:t>
            </a:r>
            <a:endParaRPr lang="en-AU" sz="1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sz="2000" dirty="0" smtClean="0"/>
              <a:t>IT Security “Baselines”: An Alternative to Control Feasibility Analysis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1043108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214312" y="1214438"/>
            <a:ext cx="8715375" cy="4805362"/>
          </a:xfrm>
        </p:spPr>
        <p:txBody>
          <a:bodyPr/>
          <a:lstStyle/>
          <a:p>
            <a:pPr marL="0" indent="0">
              <a:buNone/>
            </a:pPr>
            <a:r>
              <a:rPr lang="en-AU" b="1" dirty="0" smtClean="0">
                <a:latin typeface="Calibri" charset="0"/>
                <a:ea typeface="Calibri" charset="0"/>
                <a:cs typeface="Calibri" charset="0"/>
              </a:rPr>
              <a:t>IT Baselines </a:t>
            </a:r>
            <a:r>
              <a:rPr lang="mr-IN" b="1" dirty="0" smtClean="0">
                <a:latin typeface="Calibri" charset="0"/>
                <a:ea typeface="Calibri" charset="0"/>
                <a:cs typeface="Calibri" charset="0"/>
              </a:rPr>
              <a:t>–</a:t>
            </a:r>
            <a:r>
              <a:rPr lang="en-AU" b="1" dirty="0" smtClean="0">
                <a:latin typeface="Calibri" charset="0"/>
                <a:ea typeface="Calibri" charset="0"/>
                <a:cs typeface="Calibri" charset="0"/>
              </a:rPr>
              <a:t> “The Bare Minimum” Control</a:t>
            </a:r>
          </a:p>
          <a:p>
            <a:endParaRPr lang="en-AU" dirty="0" smtClean="0">
              <a:latin typeface="Calibri" charset="0"/>
              <a:ea typeface="Calibri" charset="0"/>
              <a:cs typeface="Calibri" charset="0"/>
            </a:endParaRPr>
          </a:p>
          <a:p>
            <a:r>
              <a:rPr lang="en-AU" dirty="0" smtClean="0">
                <a:latin typeface="Calibri" charset="0"/>
                <a:ea typeface="Calibri" charset="0"/>
                <a:cs typeface="Calibri" charset="0"/>
              </a:rPr>
              <a:t>Cutting </a:t>
            </a:r>
            <a:r>
              <a:rPr lang="en-AU" dirty="0">
                <a:latin typeface="Calibri" charset="0"/>
                <a:ea typeface="Calibri" charset="0"/>
                <a:cs typeface="Calibri" charset="0"/>
              </a:rPr>
              <a:t>through all the jargon—think of baseline security as the </a:t>
            </a:r>
            <a:r>
              <a:rPr lang="en-AU" b="1" dirty="0">
                <a:latin typeface="Calibri" charset="0"/>
                <a:ea typeface="Calibri" charset="0"/>
                <a:cs typeface="Calibri" charset="0"/>
              </a:rPr>
              <a:t>bare minimum of what a business needs to sufficiently protect itself from vulnerabilities and threats </a:t>
            </a:r>
            <a:r>
              <a:rPr lang="en-AU" dirty="0">
                <a:latin typeface="Calibri" charset="0"/>
                <a:ea typeface="Calibri" charset="0"/>
                <a:cs typeface="Calibri" charset="0"/>
              </a:rPr>
              <a:t>while still being able to work efficiently and effectively. For MSPs, this extends to the bare minimum of security solutions that should be offered to deploy and maintain that protection</a:t>
            </a:r>
            <a:r>
              <a:rPr lang="en-AU" dirty="0" smtClean="0">
                <a:latin typeface="Calibri" charset="0"/>
                <a:ea typeface="Calibri" charset="0"/>
                <a:cs typeface="Calibri" charset="0"/>
              </a:rPr>
              <a:t>.</a:t>
            </a:r>
          </a:p>
          <a:p>
            <a:endParaRPr lang="en-AU" dirty="0" smtClean="0">
              <a:latin typeface="Calibri" charset="0"/>
              <a:ea typeface="Calibri" charset="0"/>
              <a:cs typeface="Calibri" charset="0"/>
            </a:endParaRPr>
          </a:p>
          <a:p>
            <a:endParaRPr lang="en-AU" dirty="0" smtClean="0">
              <a:latin typeface="Calibri" charset="0"/>
              <a:ea typeface="Calibri" charset="0"/>
              <a:cs typeface="Calibri" charset="0"/>
            </a:endParaRPr>
          </a:p>
          <a:p>
            <a:endParaRPr lang="en-AU" dirty="0">
              <a:latin typeface="Calibri" charset="0"/>
              <a:ea typeface="Calibri" charset="0"/>
              <a:cs typeface="Calibri" charset="0"/>
            </a:endParaRPr>
          </a:p>
          <a:p>
            <a:endParaRPr lang="en-AU" dirty="0">
              <a:latin typeface="Calibri" charset="0"/>
              <a:ea typeface="Calibri" charset="0"/>
              <a:cs typeface="Calibri" charset="0"/>
            </a:endParaRPr>
          </a:p>
          <a:p>
            <a:pPr marL="0" indent="0">
              <a:buNone/>
            </a:pPr>
            <a:r>
              <a:rPr lang="en-AU" sz="1400" b="1" dirty="0" smtClean="0">
                <a:latin typeface="Calibri" charset="0"/>
                <a:ea typeface="Calibri" charset="0"/>
                <a:cs typeface="Calibri" charset="0"/>
              </a:rPr>
              <a:t>Source on Baselining Overview:</a:t>
            </a:r>
            <a:endParaRPr lang="en-US" sz="1400" b="1" dirty="0">
              <a:latin typeface="Calibri" charset="0"/>
              <a:ea typeface="Calibri" charset="0"/>
              <a:cs typeface="Calibri" charset="0"/>
              <a:hlinkClick r:id="rId3"/>
            </a:endParaRPr>
          </a:p>
          <a:p>
            <a:pPr marL="285750" indent="-285750">
              <a:buFont typeface="Arial" charset="0"/>
              <a:buChar char="•"/>
            </a:pPr>
            <a:r>
              <a:rPr lang="en-US" sz="1400" dirty="0">
                <a:latin typeface="Calibri" charset="0"/>
                <a:ea typeface="Calibri" charset="0"/>
                <a:cs typeface="Calibri" charset="0"/>
                <a:hlinkClick r:id="rId3"/>
              </a:rPr>
              <a:t>https://www.itperfection.com/network-security/it-security-baselines-checklist-network-security-cybersecurity-windows-server-wireless-wifi-firewall-hardening/</a:t>
            </a:r>
            <a:r>
              <a:rPr lang="en-US" sz="1400" dirty="0">
                <a:latin typeface="Calibri" charset="0"/>
                <a:ea typeface="Calibri" charset="0"/>
                <a:cs typeface="Calibri" charset="0"/>
              </a:rPr>
              <a:t> </a:t>
            </a:r>
            <a:endParaRPr lang="en-AU" b="1" dirty="0">
              <a:latin typeface="Calibri" charset="0"/>
              <a:ea typeface="Calibri" charset="0"/>
              <a:cs typeface="Calibri" charset="0"/>
            </a:endParaRPr>
          </a:p>
          <a:p>
            <a:pPr marL="0" indent="0">
              <a:buNone/>
            </a:pPr>
            <a:endParaRPr lang="en-AU" dirty="0">
              <a:latin typeface="Calibri" charset="0"/>
              <a:ea typeface="Calibri" charset="0"/>
              <a:cs typeface="Calibri" charset="0"/>
            </a:endParaRPr>
          </a:p>
          <a:p>
            <a:endParaRPr lang="en-AU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sz="2000" dirty="0" smtClean="0"/>
              <a:t>IT Security “Baselines”: An Alternative to Control Feasibility Analysis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844380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214312" y="1214438"/>
            <a:ext cx="8715375" cy="4805362"/>
          </a:xfrm>
        </p:spPr>
        <p:txBody>
          <a:bodyPr/>
          <a:lstStyle/>
          <a:p>
            <a:pPr marL="0" indent="0">
              <a:buNone/>
            </a:pPr>
            <a:r>
              <a:rPr lang="en-AU" b="1" dirty="0" smtClean="0"/>
              <a:t>IT Baselines </a:t>
            </a:r>
            <a:r>
              <a:rPr lang="mr-IN" b="1" dirty="0" smtClean="0"/>
              <a:t>–</a:t>
            </a:r>
            <a:r>
              <a:rPr lang="en-AU" b="1" dirty="0" smtClean="0"/>
              <a:t> Weighing the Bare Minimum in ICT Industry”</a:t>
            </a:r>
          </a:p>
          <a:p>
            <a:pPr marL="0" indent="0">
              <a:buNone/>
            </a:pPr>
            <a:endParaRPr lang="en-AU" dirty="0" smtClean="0"/>
          </a:p>
          <a:p>
            <a:r>
              <a:rPr lang="en-AU" dirty="0" smtClean="0"/>
              <a:t>Unfortunately </a:t>
            </a:r>
            <a:r>
              <a:rPr lang="en-AU" dirty="0"/>
              <a:t>for us all, </a:t>
            </a:r>
            <a:r>
              <a:rPr lang="en-AU" b="1" dirty="0"/>
              <a:t>cybersecurity isn’t a one-size-fits-all</a:t>
            </a:r>
            <a:r>
              <a:rPr lang="en-AU" dirty="0"/>
              <a:t>, one-and-done type of thing. There’s not some magic cybersecurity easy button we can press to suddenly prevent and deflect all the bad behaviours that can compromise our business data. </a:t>
            </a:r>
            <a:r>
              <a:rPr lang="en-AU" b="1" dirty="0"/>
              <a:t>Good cybersecurity requires vigilance, awareness, training and monitoring. </a:t>
            </a:r>
            <a:r>
              <a:rPr lang="en-AU" dirty="0"/>
              <a:t>We all need it, no matter how small our business or uninteresting we think we might be as potential targets</a:t>
            </a:r>
            <a:r>
              <a:rPr lang="en-AU" dirty="0" smtClean="0"/>
              <a:t>.</a:t>
            </a:r>
          </a:p>
          <a:p>
            <a:endParaRPr lang="en-AU" dirty="0"/>
          </a:p>
          <a:p>
            <a:r>
              <a:rPr lang="en-AU" dirty="0"/>
              <a:t>On the bright side, however, </a:t>
            </a:r>
            <a:r>
              <a:rPr lang="en-AU" b="1" dirty="0"/>
              <a:t>it’s not difficult to organize a standard set of policies, procedures and solutions to implement solid baseline security</a:t>
            </a:r>
            <a:r>
              <a:rPr lang="en-AU" dirty="0"/>
              <a:t>. General areas to focus on include security assessments, security for major productivity suites such as Microsoft 365, endpoint protection, email security and backup and disaster recovery.</a:t>
            </a:r>
          </a:p>
          <a:p>
            <a:endParaRPr lang="en-AU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sz="2000" dirty="0" smtClean="0"/>
              <a:t>IT Security “Baselines”: An Alternative to Control Feasibility Analysis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61480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131554" y="1066800"/>
            <a:ext cx="8798134" cy="4876799"/>
          </a:xfrm>
        </p:spPr>
        <p:txBody>
          <a:bodyPr/>
          <a:lstStyle/>
          <a:p>
            <a:pPr marL="457200" indent="-457200"/>
            <a:r>
              <a:rPr lang="en-AU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Security Baseline Overview</a:t>
            </a:r>
          </a:p>
          <a:p>
            <a:pPr lvl="1"/>
            <a:r>
              <a:rPr lang="en-AU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Effective network security demands an integrated defence-in-depth approach.</a:t>
            </a:r>
          </a:p>
          <a:p>
            <a:pPr lvl="2"/>
            <a:r>
              <a:rPr lang="en-AU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The focus is primarily on securing the network infrastructure itself, as well as all critical network services and data. </a:t>
            </a:r>
          </a:p>
          <a:p>
            <a:pPr lvl="1"/>
            <a:endParaRPr lang="en-AU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lvl="1"/>
            <a:r>
              <a:rPr lang="en-AU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In order to provide this Infrastructure Security, one must first understand the </a:t>
            </a:r>
            <a:r>
              <a:rPr lang="en-AU" b="1" dirty="0">
                <a:solidFill>
                  <a:srgbClr val="66006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Network Design</a:t>
            </a:r>
            <a:r>
              <a:rPr lang="en-AU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 as well as the </a:t>
            </a:r>
            <a:r>
              <a:rPr lang="en-AU" b="1" dirty="0">
                <a:solidFill>
                  <a:srgbClr val="66006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Network Operation</a:t>
            </a:r>
            <a:r>
              <a:rPr lang="en-AU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 when it is at its </a:t>
            </a:r>
            <a:r>
              <a:rPr lang="en-AU" b="1" dirty="0">
                <a:solidFill>
                  <a:srgbClr val="0A422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normal performance/behaviour</a:t>
            </a:r>
            <a:r>
              <a:rPr lang="en-AU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lvl="1"/>
            <a:endParaRPr lang="en-AU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lvl="1"/>
            <a:r>
              <a:rPr lang="en-AU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A Security Infrastructure Baseline is like a screen shot of the design and its basic operation, allowing for:</a:t>
            </a:r>
          </a:p>
          <a:p>
            <a:pPr lvl="2"/>
            <a:r>
              <a:rPr lang="en-AU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Anomalies and Trends to be identified</a:t>
            </a:r>
          </a:p>
          <a:p>
            <a:pPr lvl="2"/>
            <a:r>
              <a:rPr lang="en-AU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Audits to be performed</a:t>
            </a:r>
          </a:p>
          <a:p>
            <a:pPr lvl="2"/>
            <a:r>
              <a:rPr lang="en-AU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Security Risk Assessment to be created and verified </a:t>
            </a:r>
          </a:p>
          <a:p>
            <a:endParaRPr lang="en-AU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Security Infrastructure Baseline</a:t>
            </a:r>
          </a:p>
        </p:txBody>
      </p:sp>
    </p:spTree>
    <p:extLst>
      <p:ext uri="{BB962C8B-B14F-4D97-AF65-F5344CB8AC3E}">
        <p14:creationId xmlns:p14="http://schemas.microsoft.com/office/powerpoint/2010/main" val="728348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214312" y="1214438"/>
            <a:ext cx="8715375" cy="4643437"/>
          </a:xfrm>
        </p:spPr>
        <p:txBody>
          <a:bodyPr/>
          <a:lstStyle/>
          <a:p>
            <a:pPr>
              <a:buFontTx/>
              <a:buNone/>
            </a:pPr>
            <a:endParaRPr lang="en-AU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Infrastructure Device Access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Routing Infrastructure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Device Resiliency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Network Telemetry/Monitoring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Network Policy Enforcement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Switching Infrastructure</a:t>
            </a:r>
          </a:p>
          <a:p>
            <a:pPr marL="0" indent="0" eaLnBrk="1" hangingPunct="1">
              <a:buNone/>
            </a:pPr>
            <a:endParaRPr lang="en-AU" b="1" dirty="0">
              <a:solidFill>
                <a:srgbClr val="003366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Key Areas of Consideration</a:t>
            </a:r>
          </a:p>
        </p:txBody>
      </p:sp>
    </p:spTree>
    <p:extLst>
      <p:ext uri="{BB962C8B-B14F-4D97-AF65-F5344CB8AC3E}">
        <p14:creationId xmlns:p14="http://schemas.microsoft.com/office/powerpoint/2010/main" val="1293665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214312" y="1214438"/>
            <a:ext cx="8715375" cy="4805362"/>
          </a:xfrm>
        </p:spPr>
        <p:txBody>
          <a:bodyPr/>
          <a:lstStyle/>
          <a:p>
            <a:pPr marL="0" indent="0">
              <a:buNone/>
            </a:pPr>
            <a:r>
              <a:rPr lang="en-AU" b="1" dirty="0" smtClean="0">
                <a:latin typeface="Calibri" charset="0"/>
                <a:ea typeface="Calibri" charset="0"/>
                <a:cs typeface="Calibri" charset="0"/>
              </a:rPr>
              <a:t>Common categories include:</a:t>
            </a:r>
          </a:p>
          <a:p>
            <a:pPr marL="0" indent="0">
              <a:buNone/>
            </a:pPr>
            <a:endParaRPr lang="en-AU" b="1" dirty="0">
              <a:latin typeface="Calibri" charset="0"/>
              <a:ea typeface="Calibri" charset="0"/>
              <a:cs typeface="Calibri" charset="0"/>
            </a:endParaRPr>
          </a:p>
          <a:p>
            <a:r>
              <a:rPr lang="en-AU" dirty="0" smtClean="0">
                <a:latin typeface="Calibri" charset="0"/>
                <a:ea typeface="Calibri" charset="0"/>
                <a:cs typeface="Calibri" charset="0"/>
              </a:rPr>
              <a:t>Password baselines </a:t>
            </a:r>
          </a:p>
          <a:p>
            <a:r>
              <a:rPr lang="en-AU" dirty="0" smtClean="0">
                <a:latin typeface="Calibri" charset="0"/>
                <a:ea typeface="Calibri" charset="0"/>
                <a:cs typeface="Calibri" charset="0"/>
              </a:rPr>
              <a:t>Firewall baselines</a:t>
            </a:r>
          </a:p>
          <a:p>
            <a:r>
              <a:rPr lang="en-AU" dirty="0" smtClean="0">
                <a:latin typeface="Calibri" charset="0"/>
                <a:ea typeface="Calibri" charset="0"/>
                <a:cs typeface="Calibri" charset="0"/>
              </a:rPr>
              <a:t>Wireless security baselines </a:t>
            </a:r>
          </a:p>
          <a:p>
            <a:r>
              <a:rPr lang="en-AU" dirty="0">
                <a:latin typeface="Calibri" charset="0"/>
                <a:ea typeface="Calibri" charset="0"/>
                <a:cs typeface="Calibri" charset="0"/>
              </a:rPr>
              <a:t>Baselines for Windows </a:t>
            </a:r>
            <a:r>
              <a:rPr lang="en-AU" dirty="0" smtClean="0">
                <a:latin typeface="Calibri" charset="0"/>
                <a:ea typeface="Calibri" charset="0"/>
                <a:cs typeface="Calibri" charset="0"/>
              </a:rPr>
              <a:t>Workstations</a:t>
            </a:r>
          </a:p>
          <a:p>
            <a:r>
              <a:rPr lang="en-AU" dirty="0">
                <a:latin typeface="Calibri" charset="0"/>
                <a:ea typeface="Calibri" charset="0"/>
                <a:cs typeface="Calibri" charset="0"/>
              </a:rPr>
              <a:t>”Hardening” </a:t>
            </a:r>
            <a:r>
              <a:rPr lang="en-AU" dirty="0" smtClean="0">
                <a:latin typeface="Calibri" charset="0"/>
                <a:ea typeface="Calibri" charset="0"/>
                <a:cs typeface="Calibri" charset="0"/>
              </a:rPr>
              <a:t>baselines</a:t>
            </a:r>
          </a:p>
          <a:p>
            <a:r>
              <a:rPr lang="en-AU" dirty="0">
                <a:latin typeface="Calibri" charset="0"/>
                <a:ea typeface="Calibri" charset="0"/>
                <a:cs typeface="Calibri" charset="0"/>
              </a:rPr>
              <a:t>Baselines for Virtual Machines or Physical </a:t>
            </a:r>
            <a:r>
              <a:rPr lang="en-AU" dirty="0" smtClean="0">
                <a:latin typeface="Calibri" charset="0"/>
                <a:ea typeface="Calibri" charset="0"/>
                <a:cs typeface="Calibri" charset="0"/>
              </a:rPr>
              <a:t>Server</a:t>
            </a:r>
          </a:p>
          <a:p>
            <a:r>
              <a:rPr lang="en-AU" dirty="0" smtClean="0">
                <a:latin typeface="Calibri" charset="0"/>
                <a:ea typeface="Calibri" charset="0"/>
                <a:cs typeface="Calibri" charset="0"/>
              </a:rPr>
              <a:t>Infrastructure Device Access baselines</a:t>
            </a:r>
          </a:p>
          <a:p>
            <a:endParaRPr lang="en-AU" dirty="0" smtClean="0">
              <a:latin typeface="Calibri" charset="0"/>
              <a:ea typeface="Calibri" charset="0"/>
              <a:cs typeface="Calibri" charset="0"/>
            </a:endParaRPr>
          </a:p>
          <a:p>
            <a:endParaRPr lang="en-AU" dirty="0" smtClean="0">
              <a:latin typeface="Calibri" charset="0"/>
              <a:ea typeface="Calibri" charset="0"/>
              <a:cs typeface="Calibri" charset="0"/>
            </a:endParaRPr>
          </a:p>
          <a:p>
            <a:pPr marL="0" indent="0">
              <a:buNone/>
            </a:pPr>
            <a:r>
              <a:rPr lang="en-AU" sz="1400" b="1" dirty="0" smtClean="0">
                <a:latin typeface="Calibri" charset="0"/>
                <a:ea typeface="Calibri" charset="0"/>
                <a:cs typeface="Calibri" charset="0"/>
              </a:rPr>
              <a:t>More information on common baselines:</a:t>
            </a:r>
          </a:p>
          <a:p>
            <a:r>
              <a:rPr lang="en-AU" sz="1400" dirty="0">
                <a:latin typeface="Calibri" charset="0"/>
                <a:ea typeface="Calibri" charset="0"/>
                <a:cs typeface="Calibri" charset="0"/>
                <a:hlinkClick r:id="rId3"/>
              </a:rPr>
              <a:t>https://www.sherweb.com/blog/security/what-is-baseline-security/#:~:text=According%20to%20the%20National%20Institute,or%20high%2Dimpact%20information%20system</a:t>
            </a:r>
            <a:r>
              <a:rPr lang="en-AU" sz="1400" dirty="0">
                <a:latin typeface="Calibri" charset="0"/>
                <a:ea typeface="Calibri" charset="0"/>
                <a:cs typeface="Calibri" charset="0"/>
              </a:rPr>
              <a:t>.</a:t>
            </a:r>
          </a:p>
          <a:p>
            <a:endParaRPr lang="en-AU" dirty="0" smtClean="0">
              <a:latin typeface="Calibri" charset="0"/>
              <a:ea typeface="Calibri" charset="0"/>
              <a:cs typeface="Calibri" charset="0"/>
            </a:endParaRPr>
          </a:p>
          <a:p>
            <a:endParaRPr lang="en-AU" dirty="0">
              <a:latin typeface="Calibri" charset="0"/>
              <a:ea typeface="Calibri" charset="0"/>
              <a:cs typeface="Calibri" charset="0"/>
            </a:endParaRPr>
          </a:p>
          <a:p>
            <a:pPr marL="285750" indent="-285750">
              <a:buFont typeface="Arial" charset="0"/>
              <a:buChar char="•"/>
            </a:pPr>
            <a:endParaRPr lang="en-AU" b="1" dirty="0">
              <a:latin typeface="Calibri" charset="0"/>
              <a:ea typeface="Calibri" charset="0"/>
              <a:cs typeface="Calibri" charset="0"/>
            </a:endParaRPr>
          </a:p>
          <a:p>
            <a:pPr marL="0" indent="0">
              <a:buNone/>
            </a:pPr>
            <a:endParaRPr lang="en-AU" dirty="0">
              <a:latin typeface="Calibri" charset="0"/>
              <a:ea typeface="Calibri" charset="0"/>
              <a:cs typeface="Calibri" charset="0"/>
            </a:endParaRPr>
          </a:p>
          <a:p>
            <a:endParaRPr lang="en-AU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sz="2000" dirty="0" smtClean="0"/>
              <a:t>Examples of Common IT Security Baselines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968078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214312" y="1214438"/>
            <a:ext cx="8715375" cy="4805362"/>
          </a:xfrm>
        </p:spPr>
        <p:txBody>
          <a:bodyPr/>
          <a:lstStyle/>
          <a:p>
            <a:pPr marL="0" indent="0">
              <a:buNone/>
            </a:pPr>
            <a:r>
              <a:rPr lang="en-AU" b="1" dirty="0" smtClean="0">
                <a:latin typeface="Calibri" charset="0"/>
                <a:ea typeface="Calibri" charset="0"/>
                <a:cs typeface="Calibri" charset="0"/>
              </a:rPr>
              <a:t>Category examples include:</a:t>
            </a:r>
          </a:p>
          <a:p>
            <a:pPr marL="0" indent="0">
              <a:buNone/>
            </a:pPr>
            <a:endParaRPr lang="en-AU" b="1" dirty="0">
              <a:latin typeface="Calibri" charset="0"/>
              <a:ea typeface="Calibri" charset="0"/>
              <a:cs typeface="Calibri" charset="0"/>
            </a:endParaRPr>
          </a:p>
          <a:p>
            <a:r>
              <a:rPr lang="en-AU" b="1" dirty="0" smtClean="0">
                <a:latin typeface="Calibri" charset="0"/>
                <a:ea typeface="Calibri" charset="0"/>
                <a:cs typeface="Calibri" charset="0"/>
              </a:rPr>
              <a:t>Password</a:t>
            </a:r>
            <a:r>
              <a:rPr lang="en-AU" b="1" dirty="0">
                <a:latin typeface="Calibri" charset="0"/>
                <a:ea typeface="Calibri" charset="0"/>
                <a:cs typeface="Calibri" charset="0"/>
              </a:rPr>
              <a:t>: </a:t>
            </a:r>
            <a:r>
              <a:rPr lang="en-AU" dirty="0">
                <a:latin typeface="Calibri" charset="0"/>
                <a:ea typeface="Calibri" charset="0"/>
                <a:cs typeface="Calibri" charset="0"/>
              </a:rPr>
              <a:t>Account holders must have the ability to either activate an account and set a password before use or require users to set a password during initial access to a system</a:t>
            </a:r>
            <a:r>
              <a:rPr lang="en-AU" dirty="0" smtClean="0">
                <a:latin typeface="Calibri" charset="0"/>
                <a:ea typeface="Calibri" charset="0"/>
                <a:cs typeface="Calibri" charset="0"/>
              </a:rPr>
              <a:t>. </a:t>
            </a:r>
          </a:p>
          <a:p>
            <a:endParaRPr lang="en-AU" dirty="0" smtClean="0">
              <a:latin typeface="Calibri" charset="0"/>
              <a:ea typeface="Calibri" charset="0"/>
              <a:cs typeface="Calibri" charset="0"/>
            </a:endParaRPr>
          </a:p>
          <a:p>
            <a:r>
              <a:rPr lang="en-AU" b="1" dirty="0" smtClean="0">
                <a:latin typeface="Calibri" charset="0"/>
                <a:ea typeface="Calibri" charset="0"/>
                <a:cs typeface="Calibri" charset="0"/>
              </a:rPr>
              <a:t>Firewall: </a:t>
            </a:r>
            <a:r>
              <a:rPr lang="en-AU" dirty="0">
                <a:latin typeface="Calibri" charset="0"/>
                <a:ea typeface="Calibri" charset="0"/>
                <a:cs typeface="Calibri" charset="0"/>
              </a:rPr>
              <a:t>All Firewall implementations should adopt the principal of “least privilege” and deny all inbound traffic by default</a:t>
            </a:r>
            <a:r>
              <a:rPr lang="en-AU" dirty="0" smtClean="0">
                <a:latin typeface="Calibri" charset="0"/>
                <a:ea typeface="Calibri" charset="0"/>
                <a:cs typeface="Calibri" charset="0"/>
              </a:rPr>
              <a:t>.</a:t>
            </a:r>
          </a:p>
          <a:p>
            <a:endParaRPr lang="en-AU" dirty="0" smtClean="0">
              <a:latin typeface="Calibri" charset="0"/>
              <a:ea typeface="Calibri" charset="0"/>
              <a:cs typeface="Calibri" charset="0"/>
            </a:endParaRPr>
          </a:p>
          <a:p>
            <a:r>
              <a:rPr lang="en-AU" b="1" dirty="0" smtClean="0">
                <a:latin typeface="Calibri" charset="0"/>
                <a:ea typeface="Calibri" charset="0"/>
                <a:cs typeface="Calibri" charset="0"/>
              </a:rPr>
              <a:t>Wireless</a:t>
            </a:r>
            <a:r>
              <a:rPr lang="en-AU" b="1" dirty="0">
                <a:latin typeface="Calibri" charset="0"/>
                <a:ea typeface="Calibri" charset="0"/>
                <a:cs typeface="Calibri" charset="0"/>
              </a:rPr>
              <a:t>: </a:t>
            </a:r>
            <a:r>
              <a:rPr lang="en-AU" dirty="0">
                <a:latin typeface="Calibri" charset="0"/>
                <a:ea typeface="Calibri" charset="0"/>
                <a:cs typeface="Calibri" charset="0"/>
              </a:rPr>
              <a:t>Limit physical access to the network room or wiring closet and </a:t>
            </a:r>
            <a:r>
              <a:rPr lang="en-AU" dirty="0" smtClean="0">
                <a:latin typeface="Calibri" charset="0"/>
                <a:ea typeface="Calibri" charset="0"/>
                <a:cs typeface="Calibri" charset="0"/>
              </a:rPr>
              <a:t>secure </a:t>
            </a:r>
            <a:r>
              <a:rPr lang="en-AU" dirty="0">
                <a:latin typeface="Calibri" charset="0"/>
                <a:ea typeface="Calibri" charset="0"/>
                <a:cs typeface="Calibri" charset="0"/>
              </a:rPr>
              <a:t>access points with a Security brackets or locks</a:t>
            </a:r>
            <a:endParaRPr lang="en-AU" dirty="0" smtClean="0">
              <a:latin typeface="Calibri" charset="0"/>
              <a:ea typeface="Calibri" charset="0"/>
              <a:cs typeface="Calibri" charset="0"/>
            </a:endParaRPr>
          </a:p>
          <a:p>
            <a:endParaRPr lang="en-AU" dirty="0">
              <a:latin typeface="Calibri" charset="0"/>
              <a:ea typeface="Calibri" charset="0"/>
              <a:cs typeface="Calibri" charset="0"/>
            </a:endParaRPr>
          </a:p>
          <a:p>
            <a:r>
              <a:rPr lang="en-AU" b="1" dirty="0" smtClean="0">
                <a:latin typeface="Calibri" charset="0"/>
                <a:ea typeface="Calibri" charset="0"/>
                <a:cs typeface="Calibri" charset="0"/>
              </a:rPr>
              <a:t>Windows </a:t>
            </a:r>
            <a:r>
              <a:rPr lang="en-AU" b="1" dirty="0">
                <a:latin typeface="Calibri" charset="0"/>
                <a:ea typeface="Calibri" charset="0"/>
                <a:cs typeface="Calibri" charset="0"/>
              </a:rPr>
              <a:t>Workstations: </a:t>
            </a:r>
            <a:r>
              <a:rPr lang="en-AU" dirty="0">
                <a:latin typeface="Calibri" charset="0"/>
                <a:ea typeface="Calibri" charset="0"/>
                <a:cs typeface="Calibri" charset="0"/>
              </a:rPr>
              <a:t>Block executable content from email client and webmail and </a:t>
            </a:r>
            <a:r>
              <a:rPr lang="en-AU" dirty="0" smtClean="0">
                <a:latin typeface="Calibri" charset="0"/>
                <a:ea typeface="Calibri" charset="0"/>
                <a:cs typeface="Calibri" charset="0"/>
              </a:rPr>
              <a:t>block </a:t>
            </a:r>
            <a:r>
              <a:rPr lang="en-AU" dirty="0">
                <a:latin typeface="Calibri" charset="0"/>
                <a:ea typeface="Calibri" charset="0"/>
                <a:cs typeface="Calibri" charset="0"/>
              </a:rPr>
              <a:t>Office applications from </a:t>
            </a:r>
            <a:r>
              <a:rPr lang="en-AU" dirty="0" smtClean="0">
                <a:latin typeface="Calibri" charset="0"/>
                <a:ea typeface="Calibri" charset="0"/>
                <a:cs typeface="Calibri" charset="0"/>
              </a:rPr>
              <a:t>injecting </a:t>
            </a:r>
            <a:r>
              <a:rPr lang="en-AU" dirty="0">
                <a:latin typeface="Calibri" charset="0"/>
                <a:ea typeface="Calibri" charset="0"/>
                <a:cs typeface="Calibri" charset="0"/>
              </a:rPr>
              <a:t>code into other </a:t>
            </a:r>
            <a:r>
              <a:rPr lang="en-AU" dirty="0" smtClean="0">
                <a:latin typeface="Calibri" charset="0"/>
                <a:ea typeface="Calibri" charset="0"/>
                <a:cs typeface="Calibri" charset="0"/>
              </a:rPr>
              <a:t>processes</a:t>
            </a:r>
          </a:p>
          <a:p>
            <a:endParaRPr lang="en-AU" dirty="0">
              <a:latin typeface="Calibri" charset="0"/>
              <a:ea typeface="Calibri" charset="0"/>
              <a:cs typeface="Calibri" charset="0"/>
            </a:endParaRPr>
          </a:p>
          <a:p>
            <a:r>
              <a:rPr lang="en-AU" b="1" dirty="0">
                <a:latin typeface="Calibri" charset="0"/>
                <a:ea typeface="Calibri" charset="0"/>
                <a:cs typeface="Calibri" charset="0"/>
              </a:rPr>
              <a:t>Hardening: </a:t>
            </a:r>
            <a:r>
              <a:rPr lang="en-AU" dirty="0">
                <a:latin typeface="Calibri" charset="0"/>
                <a:ea typeface="Calibri" charset="0"/>
                <a:cs typeface="Calibri" charset="0"/>
              </a:rPr>
              <a:t>Confirming that security updates are installed on a regular basis.</a:t>
            </a:r>
            <a:endParaRPr lang="en-AU" dirty="0" smtClean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sz="2000" dirty="0" smtClean="0"/>
              <a:t>Examples of Common IT Security Baselines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1350404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214312" y="1066800"/>
            <a:ext cx="8715375" cy="4791075"/>
          </a:xfrm>
        </p:spPr>
        <p:txBody>
          <a:bodyPr/>
          <a:lstStyle/>
          <a:p>
            <a:r>
              <a:rPr lang="en-AU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Comparing the Baseline with the current status of the infrastructure the security team can determine:</a:t>
            </a:r>
          </a:p>
          <a:p>
            <a:pPr lvl="1"/>
            <a:r>
              <a:rPr lang="en-AU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Changes in network utilisation patterns, due to:</a:t>
            </a:r>
          </a:p>
          <a:p>
            <a:pPr lvl="2"/>
            <a:r>
              <a:rPr lang="en-AU" sz="1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Trends:</a:t>
            </a:r>
          </a:p>
          <a:p>
            <a:pPr lvl="3"/>
            <a:r>
              <a:rPr lang="en-AU" sz="1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Increase of # users in the infrastructure</a:t>
            </a:r>
          </a:p>
          <a:p>
            <a:pPr lvl="3"/>
            <a:r>
              <a:rPr lang="en-AU" sz="1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Change of Software in the organisation</a:t>
            </a:r>
          </a:p>
          <a:p>
            <a:pPr lvl="3"/>
            <a:r>
              <a:rPr lang="en-AU" sz="1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Change in the user behaviour with respect to use and storage of data</a:t>
            </a:r>
          </a:p>
          <a:p>
            <a:pPr lvl="2"/>
            <a:r>
              <a:rPr lang="en-AU" sz="1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Anomalies:</a:t>
            </a:r>
          </a:p>
          <a:p>
            <a:pPr lvl="3"/>
            <a:r>
              <a:rPr lang="en-AU" sz="1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Security violations</a:t>
            </a:r>
          </a:p>
          <a:p>
            <a:pPr lvl="4"/>
            <a:r>
              <a:rPr lang="en-AU" sz="13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Intentional</a:t>
            </a:r>
          </a:p>
          <a:p>
            <a:pPr lvl="4"/>
            <a:r>
              <a:rPr lang="en-AU" sz="13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Unintentional</a:t>
            </a:r>
          </a:p>
          <a:p>
            <a:pPr lvl="3"/>
            <a:r>
              <a:rPr lang="en-AU" sz="1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Malware infection</a:t>
            </a:r>
          </a:p>
          <a:p>
            <a:pPr lvl="3"/>
            <a:r>
              <a:rPr lang="en-AU" sz="1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Attacks to:</a:t>
            </a:r>
          </a:p>
          <a:p>
            <a:pPr lvl="4"/>
            <a:r>
              <a:rPr lang="en-AU" sz="13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DoS, DDoS</a:t>
            </a:r>
          </a:p>
          <a:p>
            <a:pPr lvl="4"/>
            <a:r>
              <a:rPr lang="en-AU" sz="13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Newly discovered Vulnerabilities</a:t>
            </a:r>
          </a:p>
          <a:p>
            <a:endParaRPr lang="en-AU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Identify Anomalies / Trends</a:t>
            </a:r>
          </a:p>
        </p:txBody>
      </p:sp>
    </p:spTree>
    <p:extLst>
      <p:ext uri="{BB962C8B-B14F-4D97-AF65-F5344CB8AC3E}">
        <p14:creationId xmlns:p14="http://schemas.microsoft.com/office/powerpoint/2010/main" val="2538212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Using the Baseline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AU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AU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Assess the adequacy of current security controls compared to defined requirements and in light of current vulnerabilities</a:t>
            </a:r>
          </a:p>
          <a:p>
            <a:endParaRPr lang="en-AU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AU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Reassess what security exceptions need to be monitored on an ongoing basis</a:t>
            </a:r>
          </a:p>
          <a:p>
            <a:endParaRPr lang="en-AU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AU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Evaluate how well the security mechanisms are operating and check for weaknesses, such as intrusion detection, penetration and stress testing, and testing of contingency plans</a:t>
            </a:r>
          </a:p>
          <a:p>
            <a:endParaRPr lang="en-AU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AU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Ensure that exceptions are acted upon </a:t>
            </a:r>
          </a:p>
          <a:p>
            <a:endParaRPr lang="en-AU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AU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Monitor compliance to key controls </a:t>
            </a:r>
          </a:p>
          <a:p>
            <a:endParaRPr lang="en-AU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168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FD46E16-6F98-465E-A572-D26465E8EB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Audits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0940552-6A75-4CAD-B0C5-50C9FE4DB4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AU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AU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The Security Infrastructure Baseline will enable Audits to be performed at several levels:</a:t>
            </a:r>
          </a:p>
          <a:p>
            <a:pPr lvl="1"/>
            <a:r>
              <a:rPr lang="en-AU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Risk Assessments</a:t>
            </a:r>
          </a:p>
          <a:p>
            <a:pPr lvl="1"/>
            <a:r>
              <a:rPr lang="en-AU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Performance</a:t>
            </a:r>
          </a:p>
          <a:p>
            <a:pPr lvl="1"/>
            <a:r>
              <a:rPr lang="en-AU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Security Breaches</a:t>
            </a:r>
          </a:p>
          <a:p>
            <a:pPr lvl="1"/>
            <a:r>
              <a:rPr lang="en-AU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Policies and Procedures</a:t>
            </a:r>
          </a:p>
          <a:p>
            <a:pPr lvl="1"/>
            <a:endParaRPr lang="en-AU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AU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Organisations will usually conduct ‘Business Analysis’ and the auditing process will contribute to increased performance and continuity.</a:t>
            </a:r>
          </a:p>
          <a:p>
            <a:endParaRPr lang="en-AU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AU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89670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7186FBD-0AEA-4BDD-BE49-85D9EAEC67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Risk Categories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0DEA12A-15B2-40B0-B88E-0352CA7B98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2875" y="990601"/>
            <a:ext cx="8839169" cy="4938730"/>
          </a:xfrm>
        </p:spPr>
        <p:txBody>
          <a:bodyPr/>
          <a:lstStyle/>
          <a:p>
            <a:pPr marL="0" indent="0">
              <a:buNone/>
            </a:pPr>
            <a:r>
              <a:rPr lang="en-AU" sz="1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Several categories of Risk can be identified through a well defined baseline:</a:t>
            </a:r>
          </a:p>
          <a:p>
            <a:r>
              <a:rPr lang="en-AU" sz="1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	Technical Risks </a:t>
            </a:r>
          </a:p>
          <a:p>
            <a:pPr marL="685800" lvl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AU" sz="1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	Hardware physical exposure, easy access, </a:t>
            </a:r>
          </a:p>
          <a:p>
            <a:pPr marL="685800" lvl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AU" sz="1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	Hardware Incorrect Configuration</a:t>
            </a:r>
          </a:p>
          <a:p>
            <a:pPr marL="685800" lvl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AU" sz="1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	Hardware Misuse</a:t>
            </a:r>
          </a:p>
          <a:p>
            <a:pPr marL="685800" lvl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AU" sz="1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	Lack of Software Patches</a:t>
            </a:r>
          </a:p>
          <a:p>
            <a:pPr marL="685800" lvl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AU" sz="1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	Software Vulnerabilities</a:t>
            </a:r>
          </a:p>
          <a:p>
            <a:pPr marL="0" indent="0">
              <a:buNone/>
            </a:pPr>
            <a:endParaRPr lang="en-AU" sz="16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80000"/>
              </a:lnSpc>
            </a:pPr>
            <a:r>
              <a:rPr lang="en-AU" sz="1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Security Risk:</a:t>
            </a:r>
          </a:p>
          <a:p>
            <a:pPr marL="685800" lvl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AU" sz="1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	Trojan Horse Infection</a:t>
            </a:r>
          </a:p>
          <a:p>
            <a:pPr marL="685800" lvl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AU" sz="1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	Root Kits</a:t>
            </a:r>
          </a:p>
          <a:p>
            <a:pPr marL="685800" lvl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AU" sz="1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	</a:t>
            </a:r>
            <a:r>
              <a:rPr lang="en-AU" sz="1600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DoS</a:t>
            </a:r>
            <a:endParaRPr lang="en-AU" sz="16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685800" lvl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AU" sz="1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	Man-in-the-middle</a:t>
            </a:r>
          </a:p>
          <a:p>
            <a:pPr marL="685800" lvl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AU" sz="1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	Operating Systems Vulnerabilities</a:t>
            </a:r>
          </a:p>
          <a:p>
            <a:pPr marL="0" indent="0">
              <a:buNone/>
            </a:pPr>
            <a:endParaRPr lang="en-AU" sz="16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80000"/>
              </a:lnSpc>
            </a:pPr>
            <a:r>
              <a:rPr lang="en-AU" sz="1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Physical Risks include:</a:t>
            </a:r>
          </a:p>
          <a:p>
            <a:pPr marL="685800" lvl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AU" sz="1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	Alarms Disabled</a:t>
            </a:r>
          </a:p>
          <a:p>
            <a:pPr marL="685800" lvl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AU" sz="1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	Locks left open</a:t>
            </a:r>
          </a:p>
          <a:p>
            <a:pPr marL="685800" lvl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AU" sz="1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	Secure areas left open with no security personnel</a:t>
            </a:r>
          </a:p>
          <a:p>
            <a:pPr marL="685800" lvl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AU" sz="1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	Equipment damage</a:t>
            </a:r>
          </a:p>
          <a:p>
            <a:pPr marL="685800" lvl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AU" sz="1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	Equipment theft</a:t>
            </a:r>
          </a:p>
          <a:p>
            <a:pPr marL="0" indent="0">
              <a:buNone/>
            </a:pPr>
            <a:endParaRPr lang="en-AU" sz="16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endParaRPr lang="en-AU" sz="16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2940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Risk Categories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en-AU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80000"/>
              </a:lnSpc>
            </a:pPr>
            <a:r>
              <a:rPr lang="en-AU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Communication Risks:</a:t>
            </a:r>
          </a:p>
          <a:p>
            <a:pPr marL="685800" lvl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AU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	No standards for accessing personnel at different levels of the organisation</a:t>
            </a:r>
          </a:p>
          <a:p>
            <a:pPr marL="685800" lvl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AU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	No confirmation/verification of source of communications</a:t>
            </a:r>
          </a:p>
          <a:p>
            <a:pPr>
              <a:lnSpc>
                <a:spcPct val="80000"/>
              </a:lnSpc>
            </a:pPr>
            <a:endParaRPr lang="en-AU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lnSpc>
                <a:spcPct val="80000"/>
              </a:lnSpc>
              <a:buNone/>
            </a:pPr>
            <a:endParaRPr lang="en-AU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80000"/>
              </a:lnSpc>
            </a:pPr>
            <a:r>
              <a:rPr lang="en-AU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Training Risks (or lack of training)</a:t>
            </a:r>
          </a:p>
          <a:p>
            <a:pPr marL="685800" lvl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AU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	User training non existent or inappropriate</a:t>
            </a:r>
          </a:p>
          <a:p>
            <a:pPr marL="685800" lvl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AU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	non verification of continuing understanding of current policies</a:t>
            </a:r>
          </a:p>
          <a:p>
            <a:pPr>
              <a:lnSpc>
                <a:spcPct val="80000"/>
              </a:lnSpc>
            </a:pPr>
            <a:endParaRPr lang="en-AU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lnSpc>
                <a:spcPct val="80000"/>
              </a:lnSpc>
              <a:buNone/>
            </a:pPr>
            <a:endParaRPr lang="en-AU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lnSpc>
                <a:spcPct val="80000"/>
              </a:lnSpc>
            </a:pPr>
            <a:r>
              <a:rPr lang="en-AU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Violation of Policies and Regulations</a:t>
            </a:r>
          </a:p>
          <a:p>
            <a:pPr marL="685800" lvl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AU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	Intellectual Property Risks</a:t>
            </a:r>
          </a:p>
          <a:p>
            <a:pPr marL="685800" lvl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AU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	Identity theft</a:t>
            </a:r>
          </a:p>
          <a:p>
            <a:pPr marL="685800" lvl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AU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	Illegal Use of resources (Internet)</a:t>
            </a:r>
          </a:p>
          <a:p>
            <a:pPr marL="685800" lvl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AU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	Industrial Espionage</a:t>
            </a:r>
          </a:p>
          <a:p>
            <a:pPr marL="685800" lvl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AU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	Tunnelling</a:t>
            </a:r>
          </a:p>
          <a:p>
            <a:endParaRPr lang="en-AU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3851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5D0C5E6-9E9B-4EBD-9F4A-402D129479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Best </a:t>
            </a:r>
            <a:r>
              <a:rPr lang="en-AU" dirty="0" smtClean="0"/>
              <a:t>Practice Examples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911" y="1111956"/>
            <a:ext cx="7696200" cy="4884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197612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1784</TotalTime>
  <Words>872</Words>
  <Application>Microsoft Macintosh PowerPoint</Application>
  <PresentationFormat>On-screen Show (4:3)</PresentationFormat>
  <Paragraphs>206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Calibri</vt:lpstr>
      <vt:lpstr>Calibri Light</vt:lpstr>
      <vt:lpstr>ＭＳ Ｐゴシック</vt:lpstr>
      <vt:lpstr>Wingdings</vt:lpstr>
      <vt:lpstr>Arial</vt:lpstr>
      <vt:lpstr>Content Master</vt:lpstr>
      <vt:lpstr>Objectives</vt:lpstr>
      <vt:lpstr>IT Security “Baselines”: An Alternative to Control Feasibility Analysis</vt:lpstr>
      <vt:lpstr>IT Security “Baselines”: An Alternative to Control Feasibility Analysis</vt:lpstr>
      <vt:lpstr>IT Security “Baselines”: An Alternative to Control Feasibility Analysis</vt:lpstr>
      <vt:lpstr>Security Infrastructure Baseline</vt:lpstr>
      <vt:lpstr>Key Areas of Consideration</vt:lpstr>
      <vt:lpstr>Examples of Common IT Security Baselines</vt:lpstr>
      <vt:lpstr>Examples of Common IT Security Baselines</vt:lpstr>
      <vt:lpstr>Identify Anomalies / Trends</vt:lpstr>
      <vt:lpstr>Using the Baseline</vt:lpstr>
      <vt:lpstr>Audits</vt:lpstr>
      <vt:lpstr>Risk Categories</vt:lpstr>
      <vt:lpstr>Risk Categories</vt:lpstr>
      <vt:lpstr>Best Practice Examples</vt:lpstr>
    </vt:vector>
  </TitlesOfParts>
  <Company>Holmesglen Institute</Company>
  <LinksUpToDate>false</LinksUpToDate>
  <SharedDoc>false</SharedDoc>
  <HyperlinksChanged>false</HyperlinksChanged>
  <AppVersion>15.0040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6</dc:title>
  <dc:creator>Akrati amit Patel</dc:creator>
  <cp:lastModifiedBy>Alexander George Mcconville Bicknell</cp:lastModifiedBy>
  <cp:revision>118</cp:revision>
  <dcterms:created xsi:type="dcterms:W3CDTF">2019-03-22T02:06:03Z</dcterms:created>
  <dcterms:modified xsi:type="dcterms:W3CDTF">2021-08-14T13:06:08Z</dcterms:modified>
</cp:coreProperties>
</file>