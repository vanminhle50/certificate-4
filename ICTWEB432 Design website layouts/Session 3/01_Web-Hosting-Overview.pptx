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4" r:id="rId1"/>
  </p:sldMasterIdLst>
  <p:notesMasterIdLst>
    <p:notesMasterId r:id="rId19"/>
  </p:notesMasterIdLst>
  <p:sldIdLst>
    <p:sldId id="256" r:id="rId2"/>
    <p:sldId id="257" r:id="rId3"/>
    <p:sldId id="266" r:id="rId4"/>
    <p:sldId id="297" r:id="rId5"/>
    <p:sldId id="298" r:id="rId6"/>
    <p:sldId id="300" r:id="rId7"/>
    <p:sldId id="299" r:id="rId8"/>
    <p:sldId id="301" r:id="rId9"/>
    <p:sldId id="306" r:id="rId10"/>
    <p:sldId id="307" r:id="rId11"/>
    <p:sldId id="305" r:id="rId12"/>
    <p:sldId id="261" r:id="rId13"/>
    <p:sldId id="260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EFAC"/>
    <a:srgbClr val="4ADE80"/>
    <a:srgbClr val="67E8F9"/>
    <a:srgbClr val="FF4B3A"/>
    <a:srgbClr val="282A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3"/>
  </p:normalViewPr>
  <p:slideViewPr>
    <p:cSldViewPr snapToGrid="0">
      <p:cViewPr varScale="1">
        <p:scale>
          <a:sx n="120" d="100"/>
          <a:sy n="120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E4149-C1DB-B440-B691-18AA35D9357E}" type="datetimeFigureOut">
              <a:rPr lang="en-AU" smtClean="0"/>
              <a:t>29/4/2024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FED8B-686D-BB48-890C-1802A80E3D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7876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FED8B-686D-BB48-890C-1802A80E3DE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1359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FED8B-686D-BB48-890C-1802A80E3DE7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5270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2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23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29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90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65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9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826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2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23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43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96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96572" y="471526"/>
            <a:ext cx="3006426" cy="914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1pPr>
            <a:lvl2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2pPr>
            <a:lvl3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3pPr>
            <a:lvl4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4pPr>
            <a:lvl5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596571" y="1977275"/>
            <a:ext cx="2638604" cy="26386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4736929" y="1977275"/>
            <a:ext cx="2638603" cy="26386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7877286" y="1977275"/>
            <a:ext cx="2638603" cy="26386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17438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F07CD3FD-BE54-4400-942B-C6C15AA73DF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57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63" r:id="rId6"/>
    <p:sldLayoutId id="2147483858" r:id="rId7"/>
    <p:sldLayoutId id="2147483859" r:id="rId8"/>
    <p:sldLayoutId id="2147483860" r:id="rId9"/>
    <p:sldLayoutId id="2147483862" r:id="rId10"/>
    <p:sldLayoutId id="2147483861" r:id="rId11"/>
    <p:sldLayoutId id="2147483865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FB068-B21F-95E3-5D82-712A18A180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522" b="5973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746A4-DFF3-A6F8-F2F0-390A5A243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1729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AU" sz="6000" b="1" dirty="0">
                <a:solidFill>
                  <a:srgbClr val="FFFFFF"/>
                </a:solidFill>
              </a:rPr>
              <a:t>Web Hosting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F3829-9675-8B95-E672-13A0B1F6F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3503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en-AU">
                <a:solidFill>
                  <a:srgbClr val="FFFFFF"/>
                </a:solidFill>
              </a:rPr>
              <a:t>Front End Design &amp; Development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222043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971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C82C-9C3B-D1B2-F203-81012101C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6783572" cy="1187570"/>
          </a:xfrm>
        </p:spPr>
        <p:txBody>
          <a:bodyPr/>
          <a:lstStyle/>
          <a:p>
            <a:r>
              <a:rPr lang="en-AU" i="1" dirty="0"/>
              <a:t>Recap</a:t>
            </a:r>
            <a:r>
              <a:rPr lang="en-AU" dirty="0"/>
              <a:t> – The Wider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9AFC8-BA3D-B2EE-4510-2F1AD1820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463474"/>
            <a:ext cx="6783573" cy="383099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AU" b="1" dirty="0"/>
              <a:t>Up to this point …</a:t>
            </a:r>
          </a:p>
          <a:p>
            <a:r>
              <a:rPr lang="en-AU" dirty="0"/>
              <a:t>The course has focused on building web applications in a development environment</a:t>
            </a:r>
          </a:p>
          <a:p>
            <a:r>
              <a:rPr lang="en-AU" b="1" u="sng" dirty="0"/>
              <a:t>Rationale</a:t>
            </a:r>
            <a:r>
              <a:rPr lang="en-AU" dirty="0"/>
              <a:t> - we need to learn how to code &amp; build good UI &amp; UX as this is generally the biggest barrier to entry for web development</a:t>
            </a:r>
          </a:p>
          <a:p>
            <a:r>
              <a:rPr lang="en-AU" dirty="0"/>
              <a:t>Moreover hosting, in particular on cloud platforms, are designed with many user-friendly services &amp; documentation to assist with deployment &amp; maintaining the server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Leaping into Production &amp; DevOps</a:t>
            </a:r>
          </a:p>
          <a:p>
            <a:r>
              <a:rPr lang="en-AU" dirty="0"/>
              <a:t>Despite this, we need to practice our production skills by experiencing hosting together</a:t>
            </a:r>
          </a:p>
          <a:p>
            <a:r>
              <a:rPr lang="en-AU" b="1" dirty="0"/>
              <a:t>We can cure any fears/concerns on how to deploy projects</a:t>
            </a:r>
            <a:r>
              <a:rPr lang="en-AU" dirty="0"/>
              <a:t>, as well as understand </a:t>
            </a:r>
            <a:r>
              <a:rPr lang="en-AU" u="sng" dirty="0"/>
              <a:t>proper steps</a:t>
            </a:r>
            <a:r>
              <a:rPr lang="en-AU" dirty="0"/>
              <a:t> on how to load, update &amp; maintain websites into the future</a:t>
            </a:r>
          </a:p>
          <a:p>
            <a:endParaRPr lang="en-AU" dirty="0"/>
          </a:p>
          <a:p>
            <a:r>
              <a:rPr lang="en-AU" dirty="0"/>
              <a:t>Commonly – </a:t>
            </a:r>
            <a:r>
              <a:rPr lang="en-AU" b="1" dirty="0"/>
              <a:t>the hardest part is CHOOSING a web host</a:t>
            </a:r>
            <a:r>
              <a:rPr lang="en-AU" dirty="0"/>
              <a:t>, so we will go through this!</a:t>
            </a:r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0328ABAB-1480-24F0-38BF-2F6027B24A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19" r="8961"/>
          <a:stretch/>
        </p:blipFill>
        <p:spPr>
          <a:xfrm>
            <a:off x="8312400" y="0"/>
            <a:ext cx="387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99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209B62C-3402-4623-9A7C-AA048B56F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731AB-6CC9-47D0-FCCC-165F88A2A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34438"/>
            <a:ext cx="2983229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/>
              <a:t>Recap</a:t>
            </a:r>
            <a:r>
              <a:rPr lang="en-US" dirty="0"/>
              <a:t> – How the Web Works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BF6918EC-2C39-6C90-5117-4988FA18D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85" y="1237809"/>
            <a:ext cx="8334763" cy="4354917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377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142" name="Code Editor"/>
          <p:cNvSpPr txBox="1">
            <a:spLocks noGrp="1"/>
          </p:cNvSpPr>
          <p:nvPr>
            <p:ph type="title" idx="4294967295"/>
          </p:nvPr>
        </p:nvSpPr>
        <p:spPr>
          <a:xfrm>
            <a:off x="901319" y="415471"/>
            <a:ext cx="7742001" cy="741711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3600"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b="1" i="1" dirty="0">
                <a:solidFill>
                  <a:schemeClr val="bg1"/>
                </a:solidFill>
              </a:rPr>
              <a:t>Recap</a:t>
            </a:r>
            <a:r>
              <a:rPr lang="en-AU" b="1" dirty="0">
                <a:solidFill>
                  <a:schemeClr val="bg1"/>
                </a:solidFill>
              </a:rPr>
              <a:t> - Domain Name System (DNS)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4" name="Graphic 3" descr="Internet outline">
            <a:extLst>
              <a:ext uri="{FF2B5EF4-FFF2-40B4-BE49-F238E27FC236}">
                <a16:creationId xmlns:a16="http://schemas.microsoft.com/office/drawing/2014/main" id="{5BA88D16-7F97-BD86-E25B-0E55EB97D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2939" y="3913659"/>
            <a:ext cx="1494185" cy="1494185"/>
          </a:xfrm>
          <a:prstGeom prst="rect">
            <a:avLst/>
          </a:prstGeom>
        </p:spPr>
      </p:pic>
      <p:pic>
        <p:nvPicPr>
          <p:cNvPr id="10" name="Graphic 9" descr="Server with solid fill">
            <a:extLst>
              <a:ext uri="{FF2B5EF4-FFF2-40B4-BE49-F238E27FC236}">
                <a16:creationId xmlns:a16="http://schemas.microsoft.com/office/drawing/2014/main" id="{1C39593C-9C99-E4D4-2A52-8EAD618DE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72732" y="4000145"/>
            <a:ext cx="1298049" cy="1298049"/>
          </a:xfrm>
          <a:prstGeom prst="rect">
            <a:avLst/>
          </a:prstGeom>
        </p:spPr>
      </p:pic>
      <p:pic>
        <p:nvPicPr>
          <p:cNvPr id="12" name="Graphic 11" descr="Download from cloud outline">
            <a:extLst>
              <a:ext uri="{FF2B5EF4-FFF2-40B4-BE49-F238E27FC236}">
                <a16:creationId xmlns:a16="http://schemas.microsoft.com/office/drawing/2014/main" id="{28380688-CBF5-BA54-4CA2-EB35DD10A2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58885" y="1931870"/>
            <a:ext cx="1324708" cy="1324708"/>
          </a:xfrm>
          <a:prstGeom prst="rect">
            <a:avLst/>
          </a:prstGeom>
        </p:spPr>
      </p:pic>
      <p:pic>
        <p:nvPicPr>
          <p:cNvPr id="14" name="Graphic 13" descr="Internet Of Things outline">
            <a:extLst>
              <a:ext uri="{FF2B5EF4-FFF2-40B4-BE49-F238E27FC236}">
                <a16:creationId xmlns:a16="http://schemas.microsoft.com/office/drawing/2014/main" id="{506E37F4-1264-2B98-6CDA-193FA3E4C4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58885" y="4000145"/>
            <a:ext cx="1298049" cy="1298049"/>
          </a:xfrm>
          <a:prstGeom prst="rect">
            <a:avLst/>
          </a:prstGeom>
        </p:spPr>
      </p:pic>
      <p:sp>
        <p:nvSpPr>
          <p:cNvPr id="17" name="TextBox 13">
            <a:extLst>
              <a:ext uri="{FF2B5EF4-FFF2-40B4-BE49-F238E27FC236}">
                <a16:creationId xmlns:a16="http://schemas.microsoft.com/office/drawing/2014/main" id="{E72CB0C8-501B-5D9C-CC84-4BA61F30BAE7}"/>
              </a:ext>
            </a:extLst>
          </p:cNvPr>
          <p:cNvSpPr txBox="1"/>
          <p:nvPr/>
        </p:nvSpPr>
        <p:spPr>
          <a:xfrm>
            <a:off x="2447401" y="3723938"/>
            <a:ext cx="103033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 b="1"/>
            </a:lvl1pPr>
          </a:lstStyle>
          <a:p>
            <a:r>
              <a:rPr lang="en-AU" dirty="0">
                <a:solidFill>
                  <a:schemeClr val="bg1"/>
                </a:solidFill>
              </a:rPr>
              <a:t>Visitor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2CB7BF88-C143-09B7-FDA5-4A6C259A9979}"/>
              </a:ext>
            </a:extLst>
          </p:cNvPr>
          <p:cNvSpPr txBox="1"/>
          <p:nvPr/>
        </p:nvSpPr>
        <p:spPr>
          <a:xfrm>
            <a:off x="5252223" y="3723937"/>
            <a:ext cx="191137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 b="1"/>
            </a:lvl1pPr>
          </a:lstStyle>
          <a:p>
            <a:r>
              <a:rPr lang="en-AU" dirty="0">
                <a:solidFill>
                  <a:schemeClr val="bg1"/>
                </a:solidFill>
              </a:rPr>
              <a:t>DNS Server(s)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158E3228-22E0-662F-A53D-AFDF83FFF898}"/>
              </a:ext>
            </a:extLst>
          </p:cNvPr>
          <p:cNvSpPr txBox="1"/>
          <p:nvPr/>
        </p:nvSpPr>
        <p:spPr>
          <a:xfrm>
            <a:off x="5265552" y="1403162"/>
            <a:ext cx="191137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 b="1"/>
            </a:lvl1pPr>
          </a:lstStyle>
          <a:p>
            <a:r>
              <a:rPr lang="en-AU" dirty="0">
                <a:solidFill>
                  <a:schemeClr val="bg1"/>
                </a:solidFill>
              </a:rPr>
              <a:t>Domain Registrar</a:t>
            </a: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B9918C32-079B-9A62-E81D-99126FFCA0F4}"/>
              </a:ext>
            </a:extLst>
          </p:cNvPr>
          <p:cNvSpPr txBox="1"/>
          <p:nvPr/>
        </p:nvSpPr>
        <p:spPr>
          <a:xfrm>
            <a:off x="8759611" y="3719506"/>
            <a:ext cx="103033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 b="1"/>
            </a:lvl1pPr>
          </a:lstStyle>
          <a:p>
            <a:r>
              <a:rPr lang="en-AU" dirty="0">
                <a:solidFill>
                  <a:schemeClr val="bg1"/>
                </a:solidFill>
              </a:rPr>
              <a:t>Web Host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5741C3F2-88AB-0F60-FAD9-1DC151AC248A}"/>
              </a:ext>
            </a:extLst>
          </p:cNvPr>
          <p:cNvSpPr txBox="1"/>
          <p:nvPr/>
        </p:nvSpPr>
        <p:spPr>
          <a:xfrm>
            <a:off x="5252224" y="5544174"/>
            <a:ext cx="191137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 b="1"/>
            </a:lvl1pPr>
          </a:lstStyle>
          <a:p>
            <a:r>
              <a:rPr lang="en-AU" sz="1200" b="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IP: 157.234.14.321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7C581C5D-43F3-2328-6BE4-A7FBA759B441}"/>
              </a:ext>
            </a:extLst>
          </p:cNvPr>
          <p:cNvSpPr txBox="1"/>
          <p:nvPr/>
        </p:nvSpPr>
        <p:spPr>
          <a:xfrm>
            <a:off x="2004343" y="5544174"/>
            <a:ext cx="191137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 b="1"/>
            </a:lvl1pPr>
          </a:lstStyle>
          <a:p>
            <a:r>
              <a:rPr lang="en-AU" sz="1200" b="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mywebsite.com.au</a:t>
            </a:r>
            <a:endParaRPr lang="en-AU" sz="1200" b="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7EF23F3E-7FEB-D2BE-C3F5-B1DE3D426481}"/>
              </a:ext>
            </a:extLst>
          </p:cNvPr>
          <p:cNvSpPr/>
          <p:nvPr/>
        </p:nvSpPr>
        <p:spPr>
          <a:xfrm>
            <a:off x="4223486" y="4577862"/>
            <a:ext cx="759023" cy="279728"/>
          </a:xfrm>
          <a:prstGeom prst="rightArrow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33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46DA963F-B179-2217-B215-A2D56421518F}"/>
              </a:ext>
            </a:extLst>
          </p:cNvPr>
          <p:cNvSpPr/>
          <p:nvPr/>
        </p:nvSpPr>
        <p:spPr>
          <a:xfrm>
            <a:off x="7506444" y="4577862"/>
            <a:ext cx="759023" cy="279728"/>
          </a:xfrm>
          <a:prstGeom prst="rightArrow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33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4098" name="Picture 2" descr="Download GoDaddy Logo in SVG Vector or PNG File Format ...">
            <a:extLst>
              <a:ext uri="{FF2B5EF4-FFF2-40B4-BE49-F238E27FC236}">
                <a16:creationId xmlns:a16="http://schemas.microsoft.com/office/drawing/2014/main" id="{C60A805D-58AB-4590-27B7-6CDBF3E5D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3321" y="5204923"/>
            <a:ext cx="1356870" cy="90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59315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BBB5F-DF23-E489-81E1-D5270478B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1371600"/>
            <a:ext cx="2652779" cy="4150811"/>
          </a:xfrm>
        </p:spPr>
        <p:txBody>
          <a:bodyPr>
            <a:normAutofit/>
          </a:bodyPr>
          <a:lstStyle/>
          <a:p>
            <a:r>
              <a:rPr lang="en-AU" sz="3400" i="1" dirty="0"/>
              <a:t>Recap</a:t>
            </a:r>
            <a:r>
              <a:rPr lang="en-AU" sz="3400" dirty="0"/>
              <a:t> – Public Website Process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3AD75E-1A77-4E2E-BFE0-452AC5193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875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Computer with solid fill">
            <a:extLst>
              <a:ext uri="{FF2B5EF4-FFF2-40B4-BE49-F238E27FC236}">
                <a16:creationId xmlns:a16="http://schemas.microsoft.com/office/drawing/2014/main" id="{7E7A709E-B513-8AE0-B376-0CBD5A5FD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8506" y="29584"/>
            <a:ext cx="1700586" cy="1700586"/>
          </a:xfrm>
          <a:prstGeom prst="rect">
            <a:avLst/>
          </a:prstGeom>
        </p:spPr>
      </p:pic>
      <p:pic>
        <p:nvPicPr>
          <p:cNvPr id="14" name="Graphic 13" descr="Monitor with solid fill">
            <a:extLst>
              <a:ext uri="{FF2B5EF4-FFF2-40B4-BE49-F238E27FC236}">
                <a16:creationId xmlns:a16="http://schemas.microsoft.com/office/drawing/2014/main" id="{BA0DB57E-7967-EABA-BE04-EC5929559C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6032" y="205031"/>
            <a:ext cx="1408825" cy="14088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ECA3DD5-DF4F-5783-9376-2A4FD076EB03}"/>
              </a:ext>
            </a:extLst>
          </p:cNvPr>
          <p:cNvSpPr txBox="1"/>
          <p:nvPr/>
        </p:nvSpPr>
        <p:spPr>
          <a:xfrm>
            <a:off x="4686839" y="1521993"/>
            <a:ext cx="113653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 b="1"/>
            </a:lvl1pPr>
          </a:lstStyle>
          <a:p>
            <a:r>
              <a:rPr lang="en-AU" dirty="0"/>
              <a:t>Local Client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260244-F38D-3A82-7151-EBDEB9BFE3F5}"/>
              </a:ext>
            </a:extLst>
          </p:cNvPr>
          <p:cNvSpPr txBox="1"/>
          <p:nvPr/>
        </p:nvSpPr>
        <p:spPr>
          <a:xfrm>
            <a:off x="4340207" y="1805382"/>
            <a:ext cx="1829793" cy="17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lang="en-AU" dirty="0"/>
              <a:t>Run on Desktop</a:t>
            </a:r>
            <a:endParaRPr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0C909FE-E38F-9A49-BB3E-A274A01DA232}"/>
              </a:ext>
            </a:extLst>
          </p:cNvPr>
          <p:cNvCxnSpPr>
            <a:cxnSpLocks/>
          </p:cNvCxnSpPr>
          <p:nvPr/>
        </p:nvCxnSpPr>
        <p:spPr>
          <a:xfrm>
            <a:off x="6094076" y="821125"/>
            <a:ext cx="2285211" cy="0"/>
          </a:xfrm>
          <a:prstGeom prst="straightConnector1">
            <a:avLst/>
          </a:prstGeom>
          <a:ln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B7E9259-369E-D62C-844C-A13D5F82CEB1}"/>
              </a:ext>
            </a:extLst>
          </p:cNvPr>
          <p:cNvSpPr txBox="1"/>
          <p:nvPr/>
        </p:nvSpPr>
        <p:spPr>
          <a:xfrm>
            <a:off x="8602449" y="1521993"/>
            <a:ext cx="164147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 b="1"/>
            </a:lvl1pPr>
          </a:lstStyle>
          <a:p>
            <a:r>
              <a:rPr lang="en-AU" dirty="0"/>
              <a:t>Web Host Server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AA3BD5-9878-D26F-9FE3-D1B2F6A306E2}"/>
              </a:ext>
            </a:extLst>
          </p:cNvPr>
          <p:cNvSpPr txBox="1"/>
          <p:nvPr/>
        </p:nvSpPr>
        <p:spPr>
          <a:xfrm>
            <a:off x="8477975" y="1805382"/>
            <a:ext cx="1829793" cy="17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lang="en-AU" dirty="0"/>
              <a:t>Runs on Remote Server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CD03C-2567-55C6-AB9E-E07AFD3C5668}"/>
              </a:ext>
            </a:extLst>
          </p:cNvPr>
          <p:cNvSpPr txBox="1"/>
          <p:nvPr/>
        </p:nvSpPr>
        <p:spPr>
          <a:xfrm>
            <a:off x="6434234" y="582419"/>
            <a:ext cx="1829793" cy="17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lang="en-AU" b="1" dirty="0"/>
              <a:t>Connection</a:t>
            </a:r>
            <a:endParaRPr b="1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0B336F7-B7BA-F62D-FD62-B5BD483E52ED}"/>
              </a:ext>
            </a:extLst>
          </p:cNvPr>
          <p:cNvCxnSpPr>
            <a:cxnSpLocks/>
          </p:cNvCxnSpPr>
          <p:nvPr/>
        </p:nvCxnSpPr>
        <p:spPr>
          <a:xfrm>
            <a:off x="6023207" y="2578970"/>
            <a:ext cx="2285211" cy="0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A400EDD-A80C-AB54-12A3-1BFE1DDB6307}"/>
              </a:ext>
            </a:extLst>
          </p:cNvPr>
          <p:cNvSpPr txBox="1"/>
          <p:nvPr/>
        </p:nvSpPr>
        <p:spPr>
          <a:xfrm>
            <a:off x="6229397" y="2255196"/>
            <a:ext cx="182979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lang="en-AU" b="1" dirty="0"/>
              <a:t>Upload Files</a:t>
            </a:r>
            <a:endParaRPr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405AAF0-C173-2569-1E24-F086398E0743}"/>
              </a:ext>
            </a:extLst>
          </p:cNvPr>
          <p:cNvCxnSpPr>
            <a:cxnSpLocks/>
          </p:cNvCxnSpPr>
          <p:nvPr/>
        </p:nvCxnSpPr>
        <p:spPr>
          <a:xfrm flipH="1">
            <a:off x="6023207" y="3062411"/>
            <a:ext cx="2285211" cy="0"/>
          </a:xfrm>
          <a:prstGeom prst="straightConnector1">
            <a:avLst/>
          </a:prstGeom>
          <a:ln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5C17E3C-E6E5-DFD6-CEF4-45C9A09C1AB6}"/>
              </a:ext>
            </a:extLst>
          </p:cNvPr>
          <p:cNvSpPr txBox="1"/>
          <p:nvPr/>
        </p:nvSpPr>
        <p:spPr>
          <a:xfrm>
            <a:off x="6250914" y="3221725"/>
            <a:ext cx="182979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lang="en-AU" b="1" dirty="0"/>
              <a:t>Download Files</a:t>
            </a:r>
            <a:endParaRPr b="1" dirty="0"/>
          </a:p>
        </p:txBody>
      </p:sp>
      <p:pic>
        <p:nvPicPr>
          <p:cNvPr id="37" name="Graphic 36" descr="Computer with solid fill">
            <a:extLst>
              <a:ext uri="{FF2B5EF4-FFF2-40B4-BE49-F238E27FC236}">
                <a16:creationId xmlns:a16="http://schemas.microsoft.com/office/drawing/2014/main" id="{1F0DC0E9-4082-FC7E-C81E-FE77AFA0D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7596" y="2075230"/>
            <a:ext cx="1700586" cy="1700586"/>
          </a:xfrm>
          <a:prstGeom prst="rect">
            <a:avLst/>
          </a:prstGeom>
        </p:spPr>
      </p:pic>
      <p:pic>
        <p:nvPicPr>
          <p:cNvPr id="38" name="Graphic 37" descr="Monitor with solid fill">
            <a:extLst>
              <a:ext uri="{FF2B5EF4-FFF2-40B4-BE49-F238E27FC236}">
                <a16:creationId xmlns:a16="http://schemas.microsoft.com/office/drawing/2014/main" id="{5E9B7F1C-B364-887D-9AC5-B916A3843D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5122" y="2250677"/>
            <a:ext cx="1408825" cy="140882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471B744-06CD-5D45-A8A1-B63909CB548E}"/>
              </a:ext>
            </a:extLst>
          </p:cNvPr>
          <p:cNvSpPr txBox="1"/>
          <p:nvPr/>
        </p:nvSpPr>
        <p:spPr>
          <a:xfrm>
            <a:off x="4690383" y="3661689"/>
            <a:ext cx="113653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 b="1"/>
            </a:lvl1pPr>
          </a:lstStyle>
          <a:p>
            <a:r>
              <a:rPr lang="en-AU" dirty="0"/>
              <a:t>Local Client</a:t>
            </a:r>
            <a:endParaRPr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05CBAD-4165-6377-7746-1A832EB88590}"/>
              </a:ext>
            </a:extLst>
          </p:cNvPr>
          <p:cNvSpPr txBox="1"/>
          <p:nvPr/>
        </p:nvSpPr>
        <p:spPr>
          <a:xfrm>
            <a:off x="4343751" y="3945078"/>
            <a:ext cx="1829793" cy="17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lang="en-AU" dirty="0"/>
              <a:t>Run on Desktop</a:t>
            </a:r>
            <a:endParaRPr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7F38D0-0227-570D-08A0-4E8E794CBB91}"/>
              </a:ext>
            </a:extLst>
          </p:cNvPr>
          <p:cNvSpPr txBox="1"/>
          <p:nvPr/>
        </p:nvSpPr>
        <p:spPr>
          <a:xfrm>
            <a:off x="8605993" y="3661689"/>
            <a:ext cx="164147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 b="1"/>
            </a:lvl1pPr>
          </a:lstStyle>
          <a:p>
            <a:r>
              <a:rPr lang="en-AU" dirty="0"/>
              <a:t>Web Host Server</a:t>
            </a:r>
            <a:endParaRPr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C8E4E5-48A9-4A53-0C0B-7D2E2E727716}"/>
              </a:ext>
            </a:extLst>
          </p:cNvPr>
          <p:cNvSpPr txBox="1"/>
          <p:nvPr/>
        </p:nvSpPr>
        <p:spPr>
          <a:xfrm>
            <a:off x="8481519" y="3945078"/>
            <a:ext cx="1829793" cy="17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lang="en-AU" dirty="0"/>
              <a:t>Runs on Remote Server</a:t>
            </a:r>
            <a:endParaRPr dirty="0"/>
          </a:p>
        </p:txBody>
      </p:sp>
      <p:pic>
        <p:nvPicPr>
          <p:cNvPr id="44" name="Graphic 43" descr="Computer with solid fill">
            <a:extLst>
              <a:ext uri="{FF2B5EF4-FFF2-40B4-BE49-F238E27FC236}">
                <a16:creationId xmlns:a16="http://schemas.microsoft.com/office/drawing/2014/main" id="{B1BE4ABE-02E2-CB38-9F9C-D88CF0F49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1199" y="4326448"/>
            <a:ext cx="1700586" cy="1700586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025CED0-5183-6338-4B3A-66CE62400580}"/>
              </a:ext>
            </a:extLst>
          </p:cNvPr>
          <p:cNvSpPr txBox="1"/>
          <p:nvPr/>
        </p:nvSpPr>
        <p:spPr>
          <a:xfrm>
            <a:off x="4669596" y="5806580"/>
            <a:ext cx="164147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 sz="1600" b="1"/>
            </a:lvl1pPr>
          </a:lstStyle>
          <a:p>
            <a:r>
              <a:rPr lang="en-AU" dirty="0"/>
              <a:t>Web Host Server</a:t>
            </a:r>
            <a:endParaRPr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CD367A-2F58-4567-97EB-19E8E396EE91}"/>
              </a:ext>
            </a:extLst>
          </p:cNvPr>
          <p:cNvSpPr txBox="1"/>
          <p:nvPr/>
        </p:nvSpPr>
        <p:spPr>
          <a:xfrm>
            <a:off x="4545122" y="6089969"/>
            <a:ext cx="1829793" cy="17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lang="en-AU" dirty="0"/>
              <a:t>Runs on Remote Server</a:t>
            </a:r>
            <a:endParaRPr dirty="0"/>
          </a:p>
        </p:txBody>
      </p:sp>
      <p:pic>
        <p:nvPicPr>
          <p:cNvPr id="47" name="Graphic 46" descr="Monitor with solid fill">
            <a:extLst>
              <a:ext uri="{FF2B5EF4-FFF2-40B4-BE49-F238E27FC236}">
                <a16:creationId xmlns:a16="http://schemas.microsoft.com/office/drawing/2014/main" id="{2626E369-1196-AC68-8838-DA47B29A66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320" y="4175126"/>
            <a:ext cx="874355" cy="87435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C4A963D3-D9A3-450C-B607-89EADB963FCC}"/>
              </a:ext>
            </a:extLst>
          </p:cNvPr>
          <p:cNvSpPr txBox="1"/>
          <p:nvPr/>
        </p:nvSpPr>
        <p:spPr>
          <a:xfrm>
            <a:off x="8767250" y="5020590"/>
            <a:ext cx="1120499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 b="1"/>
            </a:lvl1pPr>
          </a:lstStyle>
          <a:p>
            <a:r>
              <a:rPr lang="en-AU" sz="1200" dirty="0"/>
              <a:t>Public Browser</a:t>
            </a:r>
            <a:endParaRPr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EA21FE-9256-B884-EC23-CCD788ABB145}"/>
              </a:ext>
            </a:extLst>
          </p:cNvPr>
          <p:cNvSpPr txBox="1"/>
          <p:nvPr/>
        </p:nvSpPr>
        <p:spPr>
          <a:xfrm>
            <a:off x="8412602" y="5219976"/>
            <a:ext cx="1829793" cy="156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lang="en-AU" sz="900" dirty="0"/>
              <a:t>Desktop, Mobile, Tablet</a:t>
            </a:r>
            <a:endParaRPr sz="900" dirty="0"/>
          </a:p>
        </p:txBody>
      </p:sp>
      <p:pic>
        <p:nvPicPr>
          <p:cNvPr id="50" name="Graphic 49" descr="Monitor with solid fill">
            <a:extLst>
              <a:ext uri="{FF2B5EF4-FFF2-40B4-BE49-F238E27FC236}">
                <a16:creationId xmlns:a16="http://schemas.microsoft.com/office/drawing/2014/main" id="{EA7B4C85-52D0-89E5-95D3-CDD658673A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320" y="5353089"/>
            <a:ext cx="874355" cy="87435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68BE7C1C-9F12-2A75-5DD7-83456B32816E}"/>
              </a:ext>
            </a:extLst>
          </p:cNvPr>
          <p:cNvSpPr txBox="1"/>
          <p:nvPr/>
        </p:nvSpPr>
        <p:spPr>
          <a:xfrm>
            <a:off x="8767247" y="6172790"/>
            <a:ext cx="1120499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 b="1"/>
            </a:lvl1pPr>
          </a:lstStyle>
          <a:p>
            <a:r>
              <a:rPr lang="en-AU" sz="1200" dirty="0"/>
              <a:t>Public Browser</a:t>
            </a:r>
            <a:endParaRPr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9CAE41-0DBA-619C-B6DC-592E18B69A4D}"/>
              </a:ext>
            </a:extLst>
          </p:cNvPr>
          <p:cNvSpPr txBox="1"/>
          <p:nvPr/>
        </p:nvSpPr>
        <p:spPr>
          <a:xfrm>
            <a:off x="8412599" y="6373048"/>
            <a:ext cx="1829793" cy="156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lang="en-AU" sz="900" dirty="0"/>
              <a:t>Desktop, Mobile, Tablet</a:t>
            </a:r>
            <a:endParaRPr sz="90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E750A6D-B5B6-0C55-D401-FA4C764C0A92}"/>
              </a:ext>
            </a:extLst>
          </p:cNvPr>
          <p:cNvCxnSpPr>
            <a:cxnSpLocks/>
          </p:cNvCxnSpPr>
          <p:nvPr/>
        </p:nvCxnSpPr>
        <p:spPr>
          <a:xfrm flipV="1">
            <a:off x="6375180" y="4553623"/>
            <a:ext cx="2426899" cy="394663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CE1A552-DD0C-B97B-D623-86EC8965FD0B}"/>
              </a:ext>
            </a:extLst>
          </p:cNvPr>
          <p:cNvCxnSpPr>
            <a:cxnSpLocks/>
          </p:cNvCxnSpPr>
          <p:nvPr/>
        </p:nvCxnSpPr>
        <p:spPr>
          <a:xfrm>
            <a:off x="6387534" y="5406316"/>
            <a:ext cx="2453500" cy="400264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61" name="Picture 60">
            <a:extLst>
              <a:ext uri="{FF2B5EF4-FFF2-40B4-BE49-F238E27FC236}">
                <a16:creationId xmlns:a16="http://schemas.microsoft.com/office/drawing/2014/main" id="{613CD239-835F-3515-4A8D-0F24C9C346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1327" y="476876"/>
            <a:ext cx="1008000" cy="696782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02B095C-C977-B9C9-9D53-C67D9A7C1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534" y="2510951"/>
            <a:ext cx="1008000" cy="69678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6AF833F-7B82-167A-9DA1-1D5047C4BB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7741" y="4339993"/>
            <a:ext cx="625357" cy="432279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CE59079E-76BE-7F4B-5F53-EBFC1E79CC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4816" y="5513762"/>
            <a:ext cx="625357" cy="43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09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FB068-B21F-95E3-5D82-712A18A180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4523" b="5974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E746A4-DFF3-A6F8-F2F0-390A5A243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758628" cy="2696866"/>
          </a:xfrm>
        </p:spPr>
        <p:txBody>
          <a:bodyPr anchor="t">
            <a:normAutofit/>
          </a:bodyPr>
          <a:lstStyle/>
          <a:p>
            <a:r>
              <a:rPr lang="en-AU" sz="5000" b="1" dirty="0">
                <a:solidFill>
                  <a:srgbClr val="FFFFFF"/>
                </a:solidFill>
              </a:rPr>
              <a:t>Evaluating a</a:t>
            </a:r>
            <a:br>
              <a:rPr lang="en-AU" sz="5000" b="1" dirty="0">
                <a:solidFill>
                  <a:srgbClr val="FFFFFF"/>
                </a:solidFill>
              </a:rPr>
            </a:br>
            <a:r>
              <a:rPr lang="en-AU" sz="5000" b="1" dirty="0">
                <a:solidFill>
                  <a:srgbClr val="FFFFFF"/>
                </a:solidFill>
              </a:rPr>
              <a:t>Web Host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87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7A89290-F56F-DF63-FB67-4FFF4A977C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8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18412" y="0"/>
            <a:ext cx="457358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7CD31-3A16-534C-DBF3-0519ACE4A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6368902" cy="712380"/>
          </a:xfrm>
        </p:spPr>
        <p:txBody>
          <a:bodyPr>
            <a:normAutofit/>
          </a:bodyPr>
          <a:lstStyle/>
          <a:p>
            <a:r>
              <a:rPr lang="en-AU" sz="3000" dirty="0"/>
              <a:t>Live Website – </a:t>
            </a:r>
            <a:r>
              <a:rPr lang="en-AU" sz="3000" b="1" dirty="0"/>
              <a:t>Core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92C1A-A369-20ED-89DE-5BAE84466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559170"/>
            <a:ext cx="6220048" cy="35917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AU" dirty="0"/>
              <a:t>At minimum, there are generally three aspects to look for when determining an early web host:</a:t>
            </a:r>
          </a:p>
          <a:p>
            <a:pPr marL="457200" indent="-457200">
              <a:buFont typeface="+mj-lt"/>
              <a:buAutoNum type="arabicPeriod"/>
            </a:pPr>
            <a:r>
              <a:rPr lang="en-AU" b="1" dirty="0"/>
              <a:t>Web Hosting Space </a:t>
            </a:r>
            <a:r>
              <a:rPr lang="en-AU" dirty="0"/>
              <a:t>– </a:t>
            </a:r>
            <a:r>
              <a:rPr lang="en-AU" u="sng" dirty="0"/>
              <a:t>allotment on a remote HD</a:t>
            </a:r>
            <a:r>
              <a:rPr lang="en-AU" dirty="0"/>
              <a:t> for website files &amp; connections to it</a:t>
            </a:r>
          </a:p>
          <a:p>
            <a:pPr marL="457200" indent="-457200">
              <a:buFont typeface="+mj-lt"/>
              <a:buAutoNum type="arabicPeriod"/>
            </a:pPr>
            <a:r>
              <a:rPr lang="en-AU" b="1" dirty="0"/>
              <a:t>Domain Name </a:t>
            </a:r>
            <a:r>
              <a:rPr lang="en-AU" dirty="0"/>
              <a:t>– a string of text that </a:t>
            </a:r>
            <a:r>
              <a:rPr lang="en-AU" u="sng" dirty="0"/>
              <a:t>maps to an IP address</a:t>
            </a:r>
            <a:r>
              <a:rPr lang="en-AU" dirty="0"/>
              <a:t>, to access a website via browser</a:t>
            </a:r>
          </a:p>
          <a:p>
            <a:pPr marL="457200" indent="-457200">
              <a:buFont typeface="+mj-lt"/>
              <a:buAutoNum type="arabicPeriod"/>
            </a:pPr>
            <a:r>
              <a:rPr lang="en-AU" b="1" dirty="0"/>
              <a:t>SSL Certificate </a:t>
            </a:r>
            <a:r>
              <a:rPr lang="en-AU" dirty="0"/>
              <a:t>– “Secure Socket Layer” certificate is a </a:t>
            </a:r>
            <a:r>
              <a:rPr lang="en-AU" u="sng" dirty="0"/>
              <a:t>digital document that authenticates</a:t>
            </a:r>
            <a:r>
              <a:rPr lang="en-AU" dirty="0"/>
              <a:t> the identity of a website &amp; its origin, prevents spoof/phishing domains &amp; allows HTTPS</a:t>
            </a:r>
          </a:p>
          <a:p>
            <a:pPr marL="457200" indent="-457200">
              <a:buFont typeface="+mj-lt"/>
              <a:buAutoNum type="arabicPeriod"/>
            </a:pPr>
            <a:endParaRPr lang="en-AU" dirty="0"/>
          </a:p>
          <a:p>
            <a:pPr marL="0" indent="0">
              <a:buNone/>
            </a:pPr>
            <a:r>
              <a:rPr lang="en-AU" dirty="0"/>
              <a:t>Of the above – </a:t>
            </a:r>
            <a:r>
              <a:rPr lang="en-AU" b="1" dirty="0"/>
              <a:t>Web Hosting Space is typically the area that requires the most thought AND offers the most customisation</a:t>
            </a:r>
          </a:p>
          <a:p>
            <a:r>
              <a:rPr lang="en-AU" dirty="0"/>
              <a:t>We need to go deeper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7FE2C2F-BBAE-F131-6BA9-41842412BA5B}"/>
              </a:ext>
            </a:extLst>
          </p:cNvPr>
          <p:cNvSpPr txBox="1">
            <a:spLocks/>
          </p:cNvSpPr>
          <p:nvPr/>
        </p:nvSpPr>
        <p:spPr>
          <a:xfrm>
            <a:off x="2799901" y="5640571"/>
            <a:ext cx="474924" cy="5316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000" dirty="0"/>
              <a:t>😎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DAF840F-953F-AA7E-62D6-6056A90EB81E}"/>
              </a:ext>
            </a:extLst>
          </p:cNvPr>
          <p:cNvSpPr txBox="1">
            <a:spLocks/>
          </p:cNvSpPr>
          <p:nvPr/>
        </p:nvSpPr>
        <p:spPr>
          <a:xfrm>
            <a:off x="9224130" y="3871943"/>
            <a:ext cx="1362152" cy="6043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AU" b="1" dirty="0">
                <a:solidFill>
                  <a:srgbClr val="FFFF00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DOMAIN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AU" sz="1200" i="1" dirty="0">
                <a:solidFill>
                  <a:srgbClr val="FFFF00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The address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29A61CC-2151-B1D4-6E85-8BA72720E457}"/>
              </a:ext>
            </a:extLst>
          </p:cNvPr>
          <p:cNvSpPr txBox="1">
            <a:spLocks/>
          </p:cNvSpPr>
          <p:nvPr/>
        </p:nvSpPr>
        <p:spPr>
          <a:xfrm>
            <a:off x="9202863" y="5848751"/>
            <a:ext cx="1362152" cy="6043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AU" b="1" dirty="0">
                <a:solidFill>
                  <a:srgbClr val="FFFF00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HOSTING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AU" sz="1200" i="1" dirty="0">
                <a:solidFill>
                  <a:srgbClr val="FFFF00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The land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8683132-935E-BB1F-E87D-77755A283F89}"/>
              </a:ext>
            </a:extLst>
          </p:cNvPr>
          <p:cNvSpPr txBox="1">
            <a:spLocks/>
          </p:cNvSpPr>
          <p:nvPr/>
        </p:nvSpPr>
        <p:spPr>
          <a:xfrm>
            <a:off x="7626087" y="4971990"/>
            <a:ext cx="1362152" cy="6043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AU" b="1" dirty="0">
                <a:solidFill>
                  <a:srgbClr val="FFFF00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SSL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AU" sz="1200" i="1" dirty="0">
                <a:solidFill>
                  <a:srgbClr val="FFFF00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The fence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F80E81C-9FF7-7484-5691-B9FA36EC3111}"/>
              </a:ext>
            </a:extLst>
          </p:cNvPr>
          <p:cNvSpPr txBox="1">
            <a:spLocks/>
          </p:cNvSpPr>
          <p:nvPr/>
        </p:nvSpPr>
        <p:spPr>
          <a:xfrm>
            <a:off x="8913909" y="1990831"/>
            <a:ext cx="1897528" cy="6043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AU" b="1" dirty="0">
                <a:solidFill>
                  <a:srgbClr val="FFFF00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THE WEBSITE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AU" sz="1200" i="1" dirty="0">
                <a:solidFill>
                  <a:srgbClr val="FFFF00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The house</a:t>
            </a:r>
          </a:p>
        </p:txBody>
      </p:sp>
    </p:spTree>
    <p:extLst>
      <p:ext uri="{BB962C8B-B14F-4D97-AF65-F5344CB8AC3E}">
        <p14:creationId xmlns:p14="http://schemas.microsoft.com/office/powerpoint/2010/main" val="2576089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C528-021B-1E1C-2371-8187F375D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7091916" cy="1187570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Hosting Step 1: </a:t>
            </a:r>
            <a:r>
              <a:rPr lang="en-AU" dirty="0"/>
              <a:t>The Website 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5DE82-5E5F-2B2A-2F49-2030A6150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506006"/>
            <a:ext cx="6943061" cy="411807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1900" b="1" dirty="0">
                <a:solidFill>
                  <a:schemeClr val="accent1"/>
                </a:solidFill>
              </a:rPr>
              <a:t>STEP ONE: Understand your build, your website “type” &amp; required technologies</a:t>
            </a:r>
            <a:endParaRPr lang="en-AU" sz="19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AU" sz="300" b="1" dirty="0"/>
          </a:p>
          <a:p>
            <a:pPr marL="457200" indent="-457200">
              <a:buFont typeface="+mj-lt"/>
              <a:buAutoNum type="alphaLcPeriod"/>
            </a:pPr>
            <a:r>
              <a:rPr lang="en-AU" b="1" dirty="0"/>
              <a:t>Build type </a:t>
            </a:r>
            <a:r>
              <a:rPr lang="en-AU" dirty="0"/>
              <a:t>– Website remains same to all visitors </a:t>
            </a:r>
            <a:r>
              <a:rPr lang="en-AU" b="1" dirty="0"/>
              <a:t>OR</a:t>
            </a:r>
            <a:r>
              <a:rPr lang="en-AU" dirty="0"/>
              <a:t> adapts based on server requests?</a:t>
            </a:r>
          </a:p>
          <a:p>
            <a:pPr lvl="2"/>
            <a:r>
              <a:rPr lang="en-AU" u="sng" dirty="0"/>
              <a:t>Static build</a:t>
            </a:r>
            <a:r>
              <a:rPr lang="en-AU" dirty="0"/>
              <a:t>:</a:t>
            </a:r>
            <a:r>
              <a:rPr lang="en-AU" b="1" dirty="0"/>
              <a:t>  </a:t>
            </a:r>
            <a:r>
              <a:rPr lang="en-AU" dirty="0"/>
              <a:t>Website does not make dynamic data fetch calls and is largely the same for all users.  Most cases = like most our HTML, CSS &amp; JavaScript websites!</a:t>
            </a:r>
          </a:p>
          <a:p>
            <a:pPr lvl="2"/>
            <a:r>
              <a:rPr lang="en-AU" u="sng" dirty="0"/>
              <a:t>Dynamic build</a:t>
            </a:r>
            <a:r>
              <a:rPr lang="en-AU" dirty="0"/>
              <a:t>: Website makes requests to server-side API to mutate the pages based on user requests.  Typically involves server-side technologies like a server frameworks (Node.js) or databases (MySQL)</a:t>
            </a:r>
          </a:p>
          <a:p>
            <a:pPr lvl="2"/>
            <a:endParaRPr lang="en-AU" dirty="0"/>
          </a:p>
          <a:p>
            <a:pPr marL="457200" indent="-457200">
              <a:buFont typeface="+mj-lt"/>
              <a:buAutoNum type="alphaLcPeriod"/>
            </a:pPr>
            <a:r>
              <a:rPr lang="en-AU" b="1" dirty="0"/>
              <a:t>Technologies</a:t>
            </a:r>
            <a:r>
              <a:rPr lang="en-AU" dirty="0"/>
              <a:t> – Common web technologies </a:t>
            </a:r>
            <a:r>
              <a:rPr lang="en-AU" b="1" dirty="0"/>
              <a:t>OR</a:t>
            </a:r>
            <a:r>
              <a:rPr lang="en-AU" dirty="0"/>
              <a:t> specific language requirements</a:t>
            </a:r>
          </a:p>
          <a:p>
            <a:pPr lvl="2"/>
            <a:r>
              <a:rPr lang="en-AU" u="sng" dirty="0"/>
              <a:t>Front end technologies</a:t>
            </a:r>
            <a:r>
              <a:rPr lang="en-AU" dirty="0"/>
              <a:t> – HTML, CSS &amp; JavaScript</a:t>
            </a:r>
          </a:p>
          <a:p>
            <a:pPr lvl="2"/>
            <a:r>
              <a:rPr lang="en-AU" u="sng" dirty="0"/>
              <a:t>Server-side technologies</a:t>
            </a:r>
            <a:r>
              <a:rPr lang="en-AU" dirty="0"/>
              <a:t> – PHP, C#, Python, Ruby, JavaScript (with Node.js)</a:t>
            </a:r>
          </a:p>
          <a:p>
            <a:pPr lvl="2"/>
            <a:r>
              <a:rPr lang="en-AU" u="sng" dirty="0"/>
              <a:t>Database technologies</a:t>
            </a:r>
            <a:r>
              <a:rPr lang="en-AU" dirty="0"/>
              <a:t> – MySQL, PostgreSQL, SQLite, MongoDB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AD939E-20EA-0EEF-D3C9-11B38DC095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39" r="13826"/>
          <a:stretch/>
        </p:blipFill>
        <p:spPr>
          <a:xfrm>
            <a:off x="8323035" y="0"/>
            <a:ext cx="3868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289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C528-021B-1E1C-2371-8187F375D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7091916" cy="1187570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Hosting Step 2: </a:t>
            </a:r>
            <a:r>
              <a:rPr lang="en-AU" dirty="0"/>
              <a:t>Services Offered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5DE82-5E5F-2B2A-2F49-2030A6150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506006"/>
            <a:ext cx="6943061" cy="41180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1500" b="1" dirty="0">
                <a:solidFill>
                  <a:schemeClr val="accent1"/>
                </a:solidFill>
              </a:rPr>
              <a:t>STEP TWO: What does the website offer as part of its overall package?</a:t>
            </a:r>
            <a:endParaRPr lang="en-AU" sz="15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AU" sz="300" b="1" dirty="0"/>
          </a:p>
          <a:p>
            <a:pPr marL="457200" indent="-457200">
              <a:buFont typeface="+mj-lt"/>
              <a:buAutoNum type="alphaLcPeriod"/>
            </a:pPr>
            <a:r>
              <a:rPr lang="en-AU" sz="1400" b="1" dirty="0"/>
              <a:t>Languages supported </a:t>
            </a:r>
            <a:r>
              <a:rPr lang="en-AU" sz="1400" dirty="0"/>
              <a:t>– web hosts never offer “everything”, typically most run Linux as O/S, but then choose specific languages &amp; technology combinations</a:t>
            </a:r>
          </a:p>
          <a:p>
            <a:pPr marL="457200" indent="-457200">
              <a:buFont typeface="+mj-lt"/>
              <a:buAutoNum type="alphaLcPeriod"/>
            </a:pPr>
            <a:r>
              <a:rPr lang="en-AU" sz="1400" b="1" dirty="0"/>
              <a:t>Static or Dynamic hosting </a:t>
            </a:r>
            <a:r>
              <a:rPr lang="en-AU" sz="1400" dirty="0"/>
              <a:t>– web hosts can offer either or both, depending on their setup.  Several cloud hosts only provide static, as part of a “serverless” strategy (Cloudflare Pages, Netlify, Google Firebase)</a:t>
            </a:r>
          </a:p>
          <a:p>
            <a:pPr marL="457200" indent="-457200">
              <a:buFont typeface="+mj-lt"/>
              <a:buAutoNum type="alphaLcPeriod"/>
            </a:pPr>
            <a:r>
              <a:rPr lang="en-AU" sz="1400" b="1" dirty="0"/>
              <a:t>Other services offered </a:t>
            </a:r>
            <a:r>
              <a:rPr lang="en-AU" sz="1400" dirty="0"/>
              <a:t>– this can show a web hosts flexibility:</a:t>
            </a:r>
          </a:p>
          <a:p>
            <a:pPr lvl="2"/>
            <a:r>
              <a:rPr lang="en-AU" sz="1200" u="sng" dirty="0"/>
              <a:t>Database hosting</a:t>
            </a:r>
            <a:r>
              <a:rPr lang="en-AU" sz="1200" dirty="0"/>
              <a:t> - typically these are rarely free.  Most shared servers typically offer at least one or two SQL-based databases</a:t>
            </a:r>
          </a:p>
          <a:p>
            <a:pPr lvl="2"/>
            <a:r>
              <a:rPr lang="en-AU" sz="1200" u="sng" dirty="0"/>
              <a:t>*Email services</a:t>
            </a:r>
            <a:r>
              <a:rPr lang="en-AU" sz="1200" dirty="0"/>
              <a:t> – typically shared hosts offer email services, cloud do not as external providers typically are more popular than shared email gateways</a:t>
            </a:r>
          </a:p>
          <a:p>
            <a:pPr lvl="2"/>
            <a:r>
              <a:rPr lang="en-AU" sz="1200" u="sng" dirty="0"/>
              <a:t>Website monitoring</a:t>
            </a:r>
            <a:r>
              <a:rPr lang="en-AU" sz="1200" dirty="0"/>
              <a:t> – does the host provide automatic analytics on traffic &amp; performance.  This is mixed between shared &amp; cloud – keep an eye out!</a:t>
            </a:r>
          </a:p>
          <a:p>
            <a:pPr lvl="2"/>
            <a:r>
              <a:rPr lang="en-AU" sz="1200" u="sng" dirty="0"/>
              <a:t>Customer support</a:t>
            </a:r>
            <a:r>
              <a:rPr lang="en-AU" sz="1200" dirty="0"/>
              <a:t> – often a big reason why people still use shared, as cloud hosts typically outsource support to documentation (</a:t>
            </a:r>
            <a:r>
              <a:rPr lang="en-AU" sz="1200" i="1" dirty="0"/>
              <a:t>can even include custom installations like WordPress</a:t>
            </a:r>
            <a:r>
              <a:rPr lang="en-AU" sz="1200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E48A26-1F8E-15E8-D9B8-059992CB44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871" r="28519"/>
          <a:stretch/>
        </p:blipFill>
        <p:spPr>
          <a:xfrm>
            <a:off x="8323035" y="0"/>
            <a:ext cx="3868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952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C528-021B-1E1C-2371-8187F375D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7091916" cy="1187570"/>
          </a:xfrm>
        </p:spPr>
        <p:txBody>
          <a:bodyPr>
            <a:normAutofit/>
          </a:bodyPr>
          <a:lstStyle/>
          <a:p>
            <a:r>
              <a:rPr lang="en-AU" b="1" dirty="0"/>
              <a:t>Hosting Step 3: </a:t>
            </a:r>
            <a:r>
              <a:rPr lang="en-AU" dirty="0"/>
              <a:t>Plans Offered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5DE82-5E5F-2B2A-2F49-2030A6150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314617"/>
            <a:ext cx="6943061" cy="41180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500" b="1" dirty="0">
                <a:solidFill>
                  <a:schemeClr val="accent1"/>
                </a:solidFill>
              </a:rPr>
              <a:t>STEP THREE: What is the cost of hosting &amp; what changes based on payment?</a:t>
            </a:r>
            <a:endParaRPr lang="en-AU" sz="15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AU" sz="300" b="1" dirty="0"/>
          </a:p>
          <a:p>
            <a:pPr marL="457200" indent="-457200">
              <a:buFont typeface="+mj-lt"/>
              <a:buAutoNum type="alphaLcPeriod"/>
            </a:pPr>
            <a:r>
              <a:rPr lang="en-AU" sz="1400" b="1" dirty="0"/>
              <a:t>Shared Hosting</a:t>
            </a:r>
          </a:p>
          <a:p>
            <a:pPr lvl="2"/>
            <a:r>
              <a:rPr lang="en-AU" sz="1200" dirty="0"/>
              <a:t>Often have number of plans that</a:t>
            </a:r>
            <a:r>
              <a:rPr lang="en-AU" sz="1200" b="1" dirty="0"/>
              <a:t> range in price </a:t>
            </a:r>
            <a:r>
              <a:rPr lang="en-AU" sz="1200" dirty="0"/>
              <a:t>– base plans typically begin from around $70-80 per year</a:t>
            </a:r>
          </a:p>
          <a:p>
            <a:pPr lvl="2"/>
            <a:r>
              <a:rPr lang="en-AU" sz="1200" dirty="0"/>
              <a:t>Higher paid plans typically offer </a:t>
            </a:r>
            <a:r>
              <a:rPr lang="en-AU" sz="1200" b="1" dirty="0"/>
              <a:t>more website slots, email addresses, SSD storage space, bandwidth </a:t>
            </a:r>
            <a:r>
              <a:rPr lang="en-AU" sz="1200" dirty="0"/>
              <a:t>as well as other options like free SSLs, “free” domains (bundled) &amp; other perks</a:t>
            </a:r>
          </a:p>
          <a:p>
            <a:pPr lvl="2"/>
            <a:r>
              <a:rPr lang="en-AU" sz="1200" b="1" dirty="0"/>
              <a:t>CARE</a:t>
            </a:r>
            <a:r>
              <a:rPr lang="en-AU" sz="1200" dirty="0"/>
              <a:t> – typically shared hosts like to charge a low fee on 1</a:t>
            </a:r>
            <a:r>
              <a:rPr lang="en-AU" sz="1200" baseline="30000" dirty="0"/>
              <a:t>st</a:t>
            </a:r>
            <a:r>
              <a:rPr lang="en-AU" sz="1200" dirty="0"/>
              <a:t> year </a:t>
            </a:r>
            <a:r>
              <a:rPr lang="en-AU" sz="1200" b="1" dirty="0"/>
              <a:t>and gradually SQUEEZE the price up</a:t>
            </a:r>
            <a:r>
              <a:rPr lang="en-AU" sz="1200" dirty="0"/>
              <a:t> once your all setup on their servers ~ </a:t>
            </a:r>
            <a:r>
              <a:rPr lang="en-AU" sz="1200" i="1" dirty="0"/>
              <a:t>very cunning</a:t>
            </a:r>
            <a:r>
              <a:rPr lang="en-AU" sz="1200" dirty="0"/>
              <a:t>!</a:t>
            </a:r>
            <a:endParaRPr lang="en-AU" sz="1200" b="1" dirty="0"/>
          </a:p>
          <a:p>
            <a:pPr marL="457200" indent="-457200">
              <a:buFont typeface="+mj-lt"/>
              <a:buAutoNum type="alphaLcPeriod"/>
            </a:pPr>
            <a:r>
              <a:rPr lang="en-AU" sz="1400" b="1" dirty="0"/>
              <a:t>Cloud Hosting</a:t>
            </a:r>
          </a:p>
          <a:p>
            <a:pPr lvl="2"/>
            <a:r>
              <a:rPr lang="en-AU" sz="1200" dirty="0"/>
              <a:t>Typically have a free hosting tier (“spark plan”, “hobby option”, etc.)</a:t>
            </a:r>
          </a:p>
          <a:p>
            <a:pPr lvl="2"/>
            <a:r>
              <a:rPr lang="en-AU" sz="1200" dirty="0"/>
              <a:t>These plans provide a decent amount of cloud storage (always check), bandwidth &amp; free staging domains (“</a:t>
            </a:r>
            <a:r>
              <a:rPr lang="en-AU" sz="1200" dirty="0" err="1"/>
              <a:t>www.yoursite.vercel.app</a:t>
            </a:r>
            <a:r>
              <a:rPr lang="en-AU" sz="1200" dirty="0"/>
              <a:t>”), but not much else</a:t>
            </a:r>
          </a:p>
          <a:p>
            <a:pPr lvl="2"/>
            <a:r>
              <a:rPr lang="en-AU" sz="1200" b="1" dirty="0"/>
              <a:t>CARE</a:t>
            </a:r>
            <a:r>
              <a:rPr lang="en-AU" sz="1200" dirty="0"/>
              <a:t> – cloud hosts use sharp variable pricing, if your site goes beyond the free tier limits!</a:t>
            </a:r>
          </a:p>
          <a:p>
            <a:pPr lvl="2"/>
            <a:endParaRPr lang="en-AU" sz="1200" dirty="0"/>
          </a:p>
          <a:p>
            <a:pPr marL="457200" indent="-457200">
              <a:buFont typeface="+mj-lt"/>
              <a:buAutoNum type="alphaLcPeriod"/>
            </a:pPr>
            <a:endParaRPr lang="en-AU" sz="1400" dirty="0"/>
          </a:p>
          <a:p>
            <a:pPr marL="457200" indent="-457200">
              <a:buFont typeface="+mj-lt"/>
              <a:buAutoNum type="alphaLcPeriod"/>
            </a:pP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799F13-2E76-CA03-90E1-01E0C8D345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201"/>
          <a:stretch/>
        </p:blipFill>
        <p:spPr>
          <a:xfrm>
            <a:off x="8333667" y="0"/>
            <a:ext cx="3868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923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B6346-251D-36F5-136C-CE9E4C6E6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7123814" cy="1187570"/>
          </a:xfrm>
        </p:spPr>
        <p:txBody>
          <a:bodyPr/>
          <a:lstStyle/>
          <a:p>
            <a:r>
              <a:rPr lang="en-AU" b="1" dirty="0"/>
              <a:t>Final Hosting Considerations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DB035-DEB8-C489-24DA-270B2358B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325254"/>
            <a:ext cx="7123815" cy="37246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200" b="1" dirty="0">
                <a:solidFill>
                  <a:schemeClr val="accent1"/>
                </a:solidFill>
              </a:rPr>
              <a:t>EMAIL SERVICES</a:t>
            </a:r>
          </a:p>
          <a:p>
            <a:r>
              <a:rPr lang="en-AU" sz="1200" u="sng" dirty="0"/>
              <a:t>Shared server</a:t>
            </a:r>
            <a:r>
              <a:rPr lang="en-AU" sz="1200" dirty="0"/>
              <a:t> –if you pay their plan, it will typically give access to cPanel email services or even dedicated email hosting.</a:t>
            </a:r>
          </a:p>
          <a:p>
            <a:r>
              <a:rPr lang="en-AU" sz="1200" u="sng" dirty="0"/>
              <a:t>Cloud server</a:t>
            </a:r>
            <a:r>
              <a:rPr lang="en-AU" sz="1200" dirty="0"/>
              <a:t> – these typically do not offer embedded email services, largely as there are several very popular cloud/external email hosting providers such as Microsoft 365, Google Workspace, </a:t>
            </a:r>
            <a:r>
              <a:rPr lang="en-AU" sz="1200" dirty="0" err="1"/>
              <a:t>Zoho</a:t>
            </a:r>
            <a:r>
              <a:rPr lang="en-AU" sz="1200" dirty="0"/>
              <a:t> Mail, </a:t>
            </a:r>
            <a:r>
              <a:rPr lang="en-AU" sz="1200" dirty="0" err="1"/>
              <a:t>Dreamhost</a:t>
            </a:r>
            <a:r>
              <a:rPr lang="en-AU" sz="1200" dirty="0"/>
              <a:t> &amp; so on.  These are paid services, but provide a lot of flexibility</a:t>
            </a:r>
          </a:p>
          <a:p>
            <a:pPr marL="0" indent="0">
              <a:buNone/>
            </a:pPr>
            <a:r>
              <a:rPr lang="en-AU" sz="1200" b="1" dirty="0">
                <a:solidFill>
                  <a:schemeClr val="accent1"/>
                </a:solidFill>
              </a:rPr>
              <a:t>SERVER SPECIALISATIONS</a:t>
            </a:r>
          </a:p>
          <a:p>
            <a:r>
              <a:rPr lang="en-AU" sz="1200" i="1" dirty="0"/>
              <a:t>Note there are host options beyond </a:t>
            </a:r>
            <a:r>
              <a:rPr lang="en-AU" sz="1200" i="1" dirty="0">
                <a:solidFill>
                  <a:schemeClr val="accent6">
                    <a:lumMod val="75000"/>
                  </a:schemeClr>
                </a:solidFill>
              </a:rPr>
              <a:t>shared</a:t>
            </a:r>
            <a:r>
              <a:rPr lang="en-AU" sz="1200" i="1" dirty="0"/>
              <a:t> &amp; </a:t>
            </a:r>
            <a:r>
              <a:rPr lang="en-AU" sz="1200" i="1" dirty="0">
                <a:solidFill>
                  <a:schemeClr val="accent6">
                    <a:lumMod val="75000"/>
                  </a:schemeClr>
                </a:solidFill>
              </a:rPr>
              <a:t>cloud</a:t>
            </a:r>
            <a:r>
              <a:rPr lang="en-AU" sz="1200" i="1" dirty="0"/>
              <a:t> (although these are typically lowest cost &amp; easiest to understand).</a:t>
            </a:r>
          </a:p>
          <a:p>
            <a:r>
              <a:rPr lang="en-AU" sz="1200" b="1" dirty="0"/>
              <a:t>Virtual Private Server / Dedicated Server </a:t>
            </a:r>
            <a:r>
              <a:rPr lang="en-AU" sz="1200" dirty="0"/>
              <a:t>– both are similar, each one you have basically your own hosting space to yourself.  VPS is a virtual machine created from a physical server.  DS is a physical machine without this virtualisation layer.  VPS is more flexible!</a:t>
            </a:r>
          </a:p>
          <a:p>
            <a:r>
              <a:rPr lang="en-AU" sz="1200" b="1" dirty="0"/>
              <a:t>Managed Hosting </a:t>
            </a:r>
            <a:r>
              <a:rPr lang="en-AU" sz="1200" dirty="0"/>
              <a:t>– Hosting where “control services” are enabled.  You still have a hosting space, but you basically pay a premium for the web host to manage those hosting systems on your behalf, including maintenance and updates (</a:t>
            </a:r>
            <a:r>
              <a:rPr lang="en-AU" sz="1200" i="1" dirty="0"/>
              <a:t>think WordPress hosts like Bluehost</a:t>
            </a:r>
            <a:r>
              <a:rPr lang="en-AU" sz="1200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7F4D61-686B-9D7C-E933-BD01EBA340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47" r="7980"/>
          <a:stretch/>
        </p:blipFill>
        <p:spPr>
          <a:xfrm>
            <a:off x="8333667" y="0"/>
            <a:ext cx="3858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71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FB068-B21F-95E3-5D82-712A18A180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4523" b="5974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E746A4-DFF3-A6F8-F2F0-390A5A243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758628" cy="2696866"/>
          </a:xfrm>
        </p:spPr>
        <p:txBody>
          <a:bodyPr anchor="t">
            <a:normAutofit/>
          </a:bodyPr>
          <a:lstStyle/>
          <a:p>
            <a:r>
              <a:rPr lang="en-AU" sz="5000" b="1" dirty="0">
                <a:solidFill>
                  <a:srgbClr val="FFFFFF"/>
                </a:solidFill>
              </a:rPr>
              <a:t>Deployment Workshop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94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7E8DC-697B-A8F3-0002-165FB5B0E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4297680" cy="1789608"/>
          </a:xfrm>
        </p:spPr>
        <p:txBody>
          <a:bodyPr anchor="t">
            <a:normAutofit/>
          </a:bodyPr>
          <a:lstStyle/>
          <a:p>
            <a:r>
              <a:rPr lang="en-AU" b="1" dirty="0"/>
              <a:t>Shared Server </a:t>
            </a:r>
            <a:r>
              <a:rPr lang="en-AU" dirty="0"/>
              <a:t>(</a:t>
            </a:r>
            <a:r>
              <a:rPr lang="en-AU" i="1" dirty="0"/>
              <a:t>GoDaddy</a:t>
            </a:r>
            <a:r>
              <a:rPr lang="en-AU" dirty="0"/>
              <a:t>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GoDaddy logo and symbol, meaning, history, PNG">
            <a:extLst>
              <a:ext uri="{FF2B5EF4-FFF2-40B4-BE49-F238E27FC236}">
                <a16:creationId xmlns:a16="http://schemas.microsoft.com/office/drawing/2014/main" id="{55A68343-558C-82E1-C306-7E9C7BEC7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3067805"/>
            <a:ext cx="4224528" cy="264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60D8F-AA8C-FDD5-D07E-14E5BF33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0512" y="1031001"/>
            <a:ext cx="5888736" cy="5257798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AU" sz="1600" b="1" dirty="0"/>
              <a:t>SUMMARY: Shared servers, like </a:t>
            </a:r>
            <a:r>
              <a:rPr lang="en-AU" sz="1600" b="1" u="sng" dirty="0"/>
              <a:t>GoDaddy</a:t>
            </a:r>
            <a:r>
              <a:rPr lang="en-AU" sz="1600" b="1" dirty="0"/>
              <a:t>, </a:t>
            </a:r>
            <a:r>
              <a:rPr lang="en-AU" sz="1600" b="1" u="sng" dirty="0"/>
              <a:t>HostPapa</a:t>
            </a:r>
            <a:r>
              <a:rPr lang="en-AU" sz="1600" b="1" dirty="0"/>
              <a:t> or </a:t>
            </a:r>
            <a:r>
              <a:rPr lang="en-AU" sz="1600" b="1" u="sng" dirty="0"/>
              <a:t>VentraIP</a:t>
            </a:r>
            <a:r>
              <a:rPr lang="en-AU" sz="1600" b="1" dirty="0"/>
              <a:t>, offer a more traditional but equally as acceptable solution for hosting</a:t>
            </a:r>
          </a:p>
          <a:p>
            <a:pPr marL="0" indent="0">
              <a:lnSpc>
                <a:spcPct val="110000"/>
              </a:lnSpc>
              <a:buNone/>
            </a:pPr>
            <a:endParaRPr lang="en-AU" sz="14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AU" sz="1600" b="1" dirty="0"/>
              <a:t>ADVANTAGES</a:t>
            </a:r>
          </a:p>
          <a:p>
            <a:pPr>
              <a:lnSpc>
                <a:spcPct val="110000"/>
              </a:lnSpc>
            </a:pPr>
            <a:r>
              <a:rPr lang="en-AU" sz="1400" b="1" dirty="0"/>
              <a:t>Good scaling &amp; customisation </a:t>
            </a:r>
            <a:r>
              <a:rPr lang="en-AU" sz="1400" dirty="0"/>
              <a:t>for small to medium level applications</a:t>
            </a:r>
          </a:p>
          <a:p>
            <a:pPr>
              <a:lnSpc>
                <a:spcPct val="110000"/>
              </a:lnSpc>
            </a:pPr>
            <a:r>
              <a:rPr lang="en-AU" sz="1400" b="1" dirty="0"/>
              <a:t>Wide and flexible services </a:t>
            </a:r>
            <a:r>
              <a:rPr lang="en-AU" sz="1400" dirty="0"/>
              <a:t>offered for the lowest plans, including email, database, server language &amp; multi-language support</a:t>
            </a:r>
          </a:p>
          <a:p>
            <a:pPr>
              <a:lnSpc>
                <a:spcPct val="110000"/>
              </a:lnSpc>
            </a:pPr>
            <a:r>
              <a:rPr lang="en-AU" sz="1400" b="1" dirty="0"/>
              <a:t>Good bundle deals </a:t>
            </a:r>
            <a:r>
              <a:rPr lang="en-AU" sz="1400" dirty="0"/>
              <a:t>can include hosting space + domain + SSL in one deal for less the $100 p.a. (although can “ratchet-up” per year)</a:t>
            </a:r>
          </a:p>
          <a:p>
            <a:pPr marL="0" indent="0">
              <a:lnSpc>
                <a:spcPct val="110000"/>
              </a:lnSpc>
              <a:buNone/>
            </a:pPr>
            <a:endParaRPr lang="en-AU" sz="14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AU" sz="1600" b="1" dirty="0"/>
              <a:t>DISADVANTAGES</a:t>
            </a:r>
          </a:p>
          <a:p>
            <a:pPr>
              <a:lnSpc>
                <a:spcPct val="110000"/>
              </a:lnSpc>
            </a:pPr>
            <a:r>
              <a:rPr lang="en-AU" sz="1400" b="1" u="sng" dirty="0"/>
              <a:t>No free plans 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Can be vulnerable to traffic spikes on the server, by other shared apps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Updating deployed builds is </a:t>
            </a:r>
            <a:r>
              <a:rPr lang="en-AU" sz="1400" b="1" dirty="0"/>
              <a:t>manually conducted </a:t>
            </a:r>
            <a:r>
              <a:rPr lang="en-AU" sz="1400" dirty="0"/>
              <a:t>for each update, via FTP (no Git integration)</a:t>
            </a:r>
          </a:p>
        </p:txBody>
      </p:sp>
    </p:spTree>
    <p:extLst>
      <p:ext uri="{BB962C8B-B14F-4D97-AF65-F5344CB8AC3E}">
        <p14:creationId xmlns:p14="http://schemas.microsoft.com/office/powerpoint/2010/main" val="1739852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7E8DC-697B-A8F3-0002-165FB5B0E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4297680" cy="1789608"/>
          </a:xfrm>
        </p:spPr>
        <p:txBody>
          <a:bodyPr anchor="t">
            <a:normAutofit/>
          </a:bodyPr>
          <a:lstStyle/>
          <a:p>
            <a:r>
              <a:rPr lang="en-AU" b="1" dirty="0"/>
              <a:t>Cloud Host 1 </a:t>
            </a:r>
            <a:r>
              <a:rPr lang="en-AU" dirty="0"/>
              <a:t>(</a:t>
            </a:r>
            <a:r>
              <a:rPr lang="en-AU" i="1" dirty="0"/>
              <a:t>GitHub Pages</a:t>
            </a:r>
            <a:r>
              <a:rPr lang="en-AU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60D8F-AA8C-FDD5-D07E-14E5BF33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9881" y="1031181"/>
            <a:ext cx="5888736" cy="5082539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AU" sz="1600" b="1" dirty="0"/>
              <a:t>SUMMARY: Github Pages allows hosting of </a:t>
            </a:r>
            <a:r>
              <a:rPr lang="en-AU" sz="1600" b="1" u="sng" dirty="0"/>
              <a:t>ONE</a:t>
            </a:r>
            <a:r>
              <a:rPr lang="en-AU" sz="1600" b="1" dirty="0"/>
              <a:t> static website from a “main” Github repository</a:t>
            </a:r>
          </a:p>
          <a:p>
            <a:pPr marL="0" indent="0">
              <a:lnSpc>
                <a:spcPct val="110000"/>
              </a:lnSpc>
              <a:buNone/>
            </a:pPr>
            <a:endParaRPr lang="en-AU" sz="14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AU" sz="1600" b="1" dirty="0"/>
              <a:t>ADVANTAGES</a:t>
            </a:r>
          </a:p>
          <a:p>
            <a:pPr>
              <a:lnSpc>
                <a:spcPct val="110000"/>
              </a:lnSpc>
            </a:pPr>
            <a:r>
              <a:rPr lang="en-AU" sz="1400" b="1" dirty="0"/>
              <a:t>Popular &amp; </a:t>
            </a:r>
            <a:r>
              <a:rPr lang="en-AU" sz="1400" b="1" u="sng" dirty="0"/>
              <a:t>free</a:t>
            </a:r>
            <a:r>
              <a:rPr lang="en-AU" sz="1400" b="1" dirty="0"/>
              <a:t> hosting service</a:t>
            </a:r>
            <a:r>
              <a:rPr lang="en-AU" sz="1400" dirty="0"/>
              <a:t>, used by a range of developers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Being built out of a central repository, means if you understand .git &amp; GitHub – it is an easy leap 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Allows for </a:t>
            </a:r>
            <a:r>
              <a:rPr lang="en-AU" sz="1400" b="1" dirty="0"/>
              <a:t>seamless updating </a:t>
            </a:r>
            <a:r>
              <a:rPr lang="en-AU" sz="1400" dirty="0"/>
              <a:t>via repo pushes</a:t>
            </a:r>
          </a:p>
          <a:p>
            <a:pPr>
              <a:lnSpc>
                <a:spcPct val="110000"/>
              </a:lnSpc>
            </a:pPr>
            <a:endParaRPr lang="en-AU" sz="14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AU" sz="1600" b="1" dirty="0"/>
              <a:t>DISADVANTAGES</a:t>
            </a:r>
          </a:p>
          <a:p>
            <a:pPr>
              <a:lnSpc>
                <a:spcPct val="110000"/>
              </a:lnSpc>
            </a:pPr>
            <a:r>
              <a:rPr lang="en-AU" sz="1400" b="1" dirty="0"/>
              <a:t>Limited to </a:t>
            </a:r>
            <a:r>
              <a:rPr lang="en-AU" sz="1400" b="1" u="sng" dirty="0"/>
              <a:t>ONE</a:t>
            </a:r>
            <a:r>
              <a:rPr lang="en-AU" sz="1400" b="1" dirty="0"/>
              <a:t> domain, </a:t>
            </a:r>
            <a:r>
              <a:rPr lang="en-AU" sz="1400" dirty="0"/>
              <a:t>unless you use “GitHub Actions”, which are tricky to use &amp; clunky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Seen by some as “semi-professional”, as more of a hobby site</a:t>
            </a:r>
          </a:p>
          <a:p>
            <a:pPr>
              <a:lnSpc>
                <a:spcPct val="110000"/>
              </a:lnSpc>
            </a:pPr>
            <a:r>
              <a:rPr lang="en-AU" sz="1400" b="1" u="sng" dirty="0"/>
              <a:t>.git &amp; GitHub is not intuitive to beginners </a:t>
            </a:r>
            <a:r>
              <a:rPr lang="en-AU" sz="1400" dirty="0"/>
              <a:t>– so can be a significant barrier to using the service</a:t>
            </a:r>
          </a:p>
        </p:txBody>
      </p:sp>
      <p:pic>
        <p:nvPicPr>
          <p:cNvPr id="4" name="Picture 2" descr="GitHub Logo, symbol, meaning, history, PNG, brand">
            <a:extLst>
              <a:ext uri="{FF2B5EF4-FFF2-40B4-BE49-F238E27FC236}">
                <a16:creationId xmlns:a16="http://schemas.microsoft.com/office/drawing/2014/main" id="{DE1B608F-0E48-7326-9C57-41874E8D7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0080" y="3161209"/>
            <a:ext cx="4297680" cy="2417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587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7E8DC-697B-A8F3-0002-165FB5B0E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4297680" cy="1789608"/>
          </a:xfrm>
        </p:spPr>
        <p:txBody>
          <a:bodyPr anchor="t">
            <a:normAutofit/>
          </a:bodyPr>
          <a:lstStyle/>
          <a:p>
            <a:r>
              <a:rPr lang="en-AU" b="1" dirty="0"/>
              <a:t>Cloud Host 2 </a:t>
            </a:r>
            <a:r>
              <a:rPr lang="en-AU" dirty="0"/>
              <a:t>(</a:t>
            </a:r>
            <a:r>
              <a:rPr lang="en-AU" i="1" dirty="0"/>
              <a:t>Render</a:t>
            </a:r>
            <a:r>
              <a:rPr lang="en-AU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60D8F-AA8C-FDD5-D07E-14E5BF33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0512" y="1031001"/>
            <a:ext cx="5888736" cy="4880701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AU" sz="1600" b="1" dirty="0"/>
              <a:t>SUMMARY: Render allows for the cloud hosting of static </a:t>
            </a:r>
            <a:r>
              <a:rPr lang="en-AU" sz="1600" b="1" u="sng" dirty="0"/>
              <a:t>AND</a:t>
            </a:r>
            <a:r>
              <a:rPr lang="en-AU" sz="1600" b="1" dirty="0"/>
              <a:t> full stack applications, including all the services in between.  </a:t>
            </a:r>
          </a:p>
          <a:p>
            <a:pPr marL="0" indent="0">
              <a:lnSpc>
                <a:spcPct val="110000"/>
              </a:lnSpc>
              <a:buNone/>
            </a:pPr>
            <a:endParaRPr lang="en-AU" sz="14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AU" sz="1600" b="1" dirty="0"/>
              <a:t>ADVANTAGES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Similar to Cloudflare Pages, its </a:t>
            </a:r>
            <a:r>
              <a:rPr lang="en-AU" sz="1400" b="1" dirty="0"/>
              <a:t>Dashboard is clear and organised </a:t>
            </a:r>
            <a:r>
              <a:rPr lang="en-AU" sz="1400" dirty="0"/>
              <a:t>in a project-by-project approach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The </a:t>
            </a:r>
            <a:r>
              <a:rPr lang="en-AU" sz="1400" b="1" dirty="0"/>
              <a:t>services offering is extremely flexible </a:t>
            </a:r>
            <a:r>
              <a:rPr lang="en-AU" sz="1400" dirty="0"/>
              <a:t>- you can host a static front-end SPA, RESTful APIs, databases like PostgreSQL, custom </a:t>
            </a:r>
            <a:r>
              <a:rPr lang="en-AU" sz="1400" dirty="0" err="1"/>
              <a:t>Dockerfiles</a:t>
            </a:r>
            <a:r>
              <a:rPr lang="en-AU" sz="1400" dirty="0"/>
              <a:t>, and many different frameworks/languages = </a:t>
            </a:r>
            <a:r>
              <a:rPr lang="en-AU" sz="1400" b="1" u="sng" dirty="0"/>
              <a:t>most free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Offers </a:t>
            </a:r>
            <a:r>
              <a:rPr lang="en-AU" sz="1400" b="1" dirty="0"/>
              <a:t>GitHub syncing </a:t>
            </a:r>
            <a:r>
              <a:rPr lang="en-AU" sz="1400" dirty="0"/>
              <a:t>- allowing seamless updating &amp; uploading</a:t>
            </a:r>
          </a:p>
          <a:p>
            <a:pPr marL="0" indent="0">
              <a:lnSpc>
                <a:spcPct val="110000"/>
              </a:lnSpc>
              <a:buNone/>
            </a:pPr>
            <a:endParaRPr lang="en-AU" sz="14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AU" sz="1600" b="1" dirty="0"/>
              <a:t>DISADVANTAGES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Has expensive plans, if your </a:t>
            </a:r>
            <a:r>
              <a:rPr lang="en-AU" sz="1400" b="1" dirty="0"/>
              <a:t>usage goes beyond free limits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Can be tricky to setup a full stack, requiring a “mix” of their dashboard services</a:t>
            </a:r>
          </a:p>
        </p:txBody>
      </p:sp>
      <p:pic>
        <p:nvPicPr>
          <p:cNvPr id="4" name="Picture 4" descr="Render: Shooting for a cloud-native app hosting platform you never outgrow  – Intellyx – The Digital Transformation Experts – Analysts">
            <a:extLst>
              <a:ext uri="{FF2B5EF4-FFF2-40B4-BE49-F238E27FC236}">
                <a16:creationId xmlns:a16="http://schemas.microsoft.com/office/drawing/2014/main" id="{58345970-5352-6D2C-8A5D-F2007202B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0080" y="3161209"/>
            <a:ext cx="4297680" cy="2245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4653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7E8DC-697B-A8F3-0002-165FB5B0E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4297680" cy="1789608"/>
          </a:xfrm>
        </p:spPr>
        <p:txBody>
          <a:bodyPr anchor="t">
            <a:normAutofit/>
          </a:bodyPr>
          <a:lstStyle/>
          <a:p>
            <a:r>
              <a:rPr lang="en-AU" b="1" dirty="0"/>
              <a:t>Cloud Host 3 </a:t>
            </a:r>
            <a:r>
              <a:rPr lang="en-AU" dirty="0"/>
              <a:t>(</a:t>
            </a:r>
            <a:r>
              <a:rPr lang="en-AU" i="1" dirty="0"/>
              <a:t>Cloudflare Pages</a:t>
            </a:r>
            <a:r>
              <a:rPr lang="en-AU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60D8F-AA8C-FDD5-D07E-14E5BF33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0512" y="1031001"/>
            <a:ext cx="5888736" cy="506145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AU" sz="1600" b="1" dirty="0"/>
              <a:t>SUMMARY: Deploys front-end applications (basically “static”) via published GitHub repos</a:t>
            </a:r>
          </a:p>
          <a:p>
            <a:pPr marL="0" indent="0">
              <a:lnSpc>
                <a:spcPct val="110000"/>
              </a:lnSpc>
              <a:buNone/>
            </a:pPr>
            <a:endParaRPr lang="en-AU" sz="14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AU" sz="1600" b="1" dirty="0"/>
              <a:t>ADVANTAGES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Allows for use of </a:t>
            </a:r>
            <a:r>
              <a:rPr lang="en-AU" sz="1400" b="1" dirty="0"/>
              <a:t>personal domain</a:t>
            </a:r>
            <a:r>
              <a:rPr lang="en-AU" sz="1400" dirty="0"/>
              <a:t> with </a:t>
            </a:r>
            <a:r>
              <a:rPr lang="en-AU" sz="1400" u="sng" dirty="0"/>
              <a:t>domain purchasing</a:t>
            </a:r>
            <a:r>
              <a:rPr lang="en-AU" sz="1400" dirty="0"/>
              <a:t> available</a:t>
            </a:r>
            <a:endParaRPr lang="en-AU" sz="1400" b="1" dirty="0"/>
          </a:p>
          <a:p>
            <a:pPr>
              <a:lnSpc>
                <a:spcPct val="110000"/>
              </a:lnSpc>
            </a:pPr>
            <a:r>
              <a:rPr lang="en-AU" sz="1400" b="1" dirty="0"/>
              <a:t>Competitive </a:t>
            </a:r>
            <a:r>
              <a:rPr lang="en-AU" sz="1400" b="1" u="sng" dirty="0"/>
              <a:t>free</a:t>
            </a:r>
            <a:r>
              <a:rPr lang="en-AU" sz="1400" b="1" dirty="0"/>
              <a:t> tier </a:t>
            </a:r>
            <a:r>
              <a:rPr lang="en-AU" sz="1400" dirty="0"/>
              <a:t>vs. Netlify &amp; Render (including free analytics)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Can either do </a:t>
            </a:r>
            <a:r>
              <a:rPr lang="en-AU" sz="1400" b="1" dirty="0"/>
              <a:t>direct upload </a:t>
            </a:r>
            <a:r>
              <a:rPr lang="en-AU" sz="1400" b="1" u="sng" dirty="0"/>
              <a:t>OR</a:t>
            </a:r>
            <a:r>
              <a:rPr lang="en-AU" sz="1400" b="1" dirty="0"/>
              <a:t> via GitHub syncing </a:t>
            </a:r>
            <a:r>
              <a:rPr lang="en-AU" sz="1400" dirty="0"/>
              <a:t>= flexible!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Backed by strong global infrastructure network</a:t>
            </a:r>
          </a:p>
          <a:p>
            <a:pPr marL="0" indent="0">
              <a:lnSpc>
                <a:spcPct val="110000"/>
              </a:lnSpc>
              <a:buNone/>
            </a:pPr>
            <a:endParaRPr lang="en-AU" sz="14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AU" sz="1600" b="1" dirty="0"/>
              <a:t>DISADVANTAGES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The websites typically have a lag when first uploading/updating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Whilst excellent, the dev dashboard to manage the hosted applications </a:t>
            </a:r>
            <a:r>
              <a:rPr lang="en-AU" sz="1400" b="1" dirty="0"/>
              <a:t>can be confusing at first</a:t>
            </a:r>
          </a:p>
          <a:p>
            <a:pPr>
              <a:lnSpc>
                <a:spcPct val="110000"/>
              </a:lnSpc>
            </a:pPr>
            <a:r>
              <a:rPr lang="en-AU" sz="1400" dirty="0"/>
              <a:t>Like Netlify/Render – if usage exceeds limits, </a:t>
            </a:r>
            <a:r>
              <a:rPr lang="en-AU" sz="1400" b="1" dirty="0"/>
              <a:t>can become expensive</a:t>
            </a:r>
          </a:p>
          <a:p>
            <a:pPr>
              <a:lnSpc>
                <a:spcPct val="110000"/>
              </a:lnSpc>
            </a:pPr>
            <a:endParaRPr lang="en-AU" sz="1400" dirty="0"/>
          </a:p>
        </p:txBody>
      </p:sp>
      <p:pic>
        <p:nvPicPr>
          <p:cNvPr id="5" name="Picture 2" descr="Cloudflare announces JAMstack platform 'Cloudflare Pages' that allows you  to instantly build a website from source code - GIGAZINE">
            <a:extLst>
              <a:ext uri="{FF2B5EF4-FFF2-40B4-BE49-F238E27FC236}">
                <a16:creationId xmlns:a16="http://schemas.microsoft.com/office/drawing/2014/main" id="{F363276F-01E5-E5DF-6F69-08F5FC5D0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0080" y="2964315"/>
            <a:ext cx="4297679" cy="241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719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7ED1-6FD7-6DAF-0072-78037705B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371601"/>
            <a:ext cx="7102549" cy="1187570"/>
          </a:xfrm>
        </p:spPr>
        <p:txBody>
          <a:bodyPr>
            <a:normAutofit/>
          </a:bodyPr>
          <a:lstStyle/>
          <a:p>
            <a:r>
              <a:rPr lang="en-AU" sz="3800" dirty="0"/>
              <a:t>Which webhost for my portfolio?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D19C4-27D1-C220-0B10-2C0A8D6BE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357144"/>
            <a:ext cx="6943062" cy="39798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400" b="1" dirty="0"/>
              <a:t>This stage will be up to </a:t>
            </a:r>
            <a:r>
              <a:rPr lang="en-AU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YOU</a:t>
            </a:r>
            <a:r>
              <a:rPr lang="en-AU" sz="1400" b="1" dirty="0"/>
              <a:t>!</a:t>
            </a:r>
          </a:p>
          <a:p>
            <a:r>
              <a:rPr lang="en-AU" sz="1300" dirty="0"/>
              <a:t>The examples shown have been to “de-mystify” the process of deployment options </a:t>
            </a:r>
          </a:p>
          <a:p>
            <a:r>
              <a:rPr lang="en-AU" sz="1300" b="1" u="sng" dirty="0">
                <a:solidFill>
                  <a:schemeClr val="accent5">
                    <a:lumMod val="75000"/>
                  </a:schemeClr>
                </a:solidFill>
              </a:rPr>
              <a:t>Assessment 2, Part 5 (</a:t>
            </a:r>
            <a:r>
              <a:rPr lang="en-AU" sz="1300" b="1" i="1" u="sng" dirty="0">
                <a:solidFill>
                  <a:schemeClr val="accent5">
                    <a:lumMod val="75000"/>
                  </a:schemeClr>
                </a:solidFill>
              </a:rPr>
              <a:t>Milestone 3</a:t>
            </a:r>
            <a:r>
              <a:rPr lang="en-AU" sz="1300" b="1" u="sng" dirty="0">
                <a:solidFill>
                  <a:schemeClr val="accent5">
                    <a:lumMod val="75000"/>
                  </a:schemeClr>
                </a:solidFill>
              </a:rPr>
              <a:t>)</a:t>
            </a:r>
            <a:r>
              <a:rPr lang="en-AU" sz="13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AU" sz="1300" dirty="0"/>
              <a:t>– requires you to analyse &amp; </a:t>
            </a:r>
            <a:r>
              <a:rPr lang="en-AU" sz="1300" b="1" dirty="0"/>
              <a:t>evaluate at least three web hosts in detail</a:t>
            </a:r>
            <a:r>
              <a:rPr lang="en-AU" sz="1300" dirty="0"/>
              <a:t>.  You now could complete parts of this analysis &amp; use any combination of the webhosts shown</a:t>
            </a:r>
          </a:p>
          <a:p>
            <a:r>
              <a:rPr lang="en-AU" sz="1300" dirty="0"/>
              <a:t>On analysis, </a:t>
            </a:r>
            <a:r>
              <a:rPr lang="en-AU" sz="1300" b="1" dirty="0"/>
              <a:t>pick ONE of the options </a:t>
            </a:r>
            <a:r>
              <a:rPr lang="en-AU" sz="1300" dirty="0"/>
              <a:t>– that works best for your “developer style” and what you think will offer your portfolio the best services</a:t>
            </a:r>
          </a:p>
          <a:p>
            <a:pPr marL="0" indent="0">
              <a:buNone/>
            </a:pPr>
            <a:endParaRPr lang="en-AU" sz="1300" dirty="0"/>
          </a:p>
          <a:p>
            <a:pPr marL="0" indent="0">
              <a:buNone/>
            </a:pPr>
            <a:r>
              <a:rPr lang="en-AU" sz="1400" b="1" dirty="0"/>
              <a:t>You COULD also go off the path altogether and look to other hosts.  Recommended other static hosts could include:</a:t>
            </a:r>
          </a:p>
          <a:p>
            <a:r>
              <a:rPr lang="en-AU" sz="1300" u="sng" dirty="0"/>
              <a:t>Other Shared Servers</a:t>
            </a:r>
            <a:r>
              <a:rPr lang="en-AU" sz="1300" dirty="0"/>
              <a:t>: HostPapa &amp; VentraIP are both good local webhosts</a:t>
            </a:r>
          </a:p>
          <a:p>
            <a:r>
              <a:rPr lang="en-AU" sz="1300" u="sng" dirty="0"/>
              <a:t>Other Static Cloud Hosts</a:t>
            </a:r>
            <a:r>
              <a:rPr lang="en-AU" sz="1300" dirty="0"/>
              <a:t>: Netlify &amp; Vercel are extremely popular &amp; easy to use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07AE66-7434-DF06-8FCA-5B46BEE579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93" r="15895"/>
          <a:stretch/>
        </p:blipFill>
        <p:spPr>
          <a:xfrm>
            <a:off x="8323034" y="0"/>
            <a:ext cx="3879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48307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1727</Words>
  <Application>Microsoft Macintosh PowerPoint</Application>
  <PresentationFormat>Widescreen</PresentationFormat>
  <Paragraphs>159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Microsoft GothicNeo</vt:lpstr>
      <vt:lpstr>Aptos</vt:lpstr>
      <vt:lpstr>Arial</vt:lpstr>
      <vt:lpstr>Grandview Display</vt:lpstr>
      <vt:lpstr>Open Sans Regular</vt:lpstr>
      <vt:lpstr>DashVTI</vt:lpstr>
      <vt:lpstr>Web Hosting</vt:lpstr>
      <vt:lpstr>Recap – The Wider Web</vt:lpstr>
      <vt:lpstr>Recap – How the Web Works</vt:lpstr>
      <vt:lpstr>Recap - Domain Name System (DNS)</vt:lpstr>
      <vt:lpstr>Recap – Public Website Process</vt:lpstr>
      <vt:lpstr>Evaluating a Web Host</vt:lpstr>
      <vt:lpstr>Live Website – Core Requirements</vt:lpstr>
      <vt:lpstr>Hosting Step 1: The Website Build</vt:lpstr>
      <vt:lpstr>Hosting Step 2: Services Offered</vt:lpstr>
      <vt:lpstr>Hosting Step 3: Plans Offered</vt:lpstr>
      <vt:lpstr>Final Hosting Considerations</vt:lpstr>
      <vt:lpstr>Deployment Workshop</vt:lpstr>
      <vt:lpstr>Shared Server (GoDaddy)</vt:lpstr>
      <vt:lpstr>Cloud Host 1 (GitHub Pages)</vt:lpstr>
      <vt:lpstr>Cloud Host 2 (Render)</vt:lpstr>
      <vt:lpstr>Cloud Host 3 (Cloudflare Pages)</vt:lpstr>
      <vt:lpstr>Which webhost for my portfolio?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Hosting</dc:title>
  <dc:creator>Alex Bicknell</dc:creator>
  <cp:lastModifiedBy>Alex Bicknell</cp:lastModifiedBy>
  <cp:revision>124</cp:revision>
  <dcterms:created xsi:type="dcterms:W3CDTF">2024-04-29T07:14:14Z</dcterms:created>
  <dcterms:modified xsi:type="dcterms:W3CDTF">2024-04-29T12:07:42Z</dcterms:modified>
</cp:coreProperties>
</file>