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23"/>
  </p:notesMasterIdLst>
  <p:sldIdLst>
    <p:sldId id="256" r:id="rId2"/>
    <p:sldId id="257" r:id="rId3"/>
    <p:sldId id="260" r:id="rId4"/>
    <p:sldId id="258" r:id="rId5"/>
    <p:sldId id="314" r:id="rId6"/>
    <p:sldId id="259" r:id="rId7"/>
    <p:sldId id="312" r:id="rId8"/>
    <p:sldId id="313" r:id="rId9"/>
    <p:sldId id="315" r:id="rId10"/>
    <p:sldId id="316" r:id="rId11"/>
    <p:sldId id="319" r:id="rId12"/>
    <p:sldId id="318" r:id="rId13"/>
    <p:sldId id="320" r:id="rId14"/>
    <p:sldId id="321" r:id="rId15"/>
    <p:sldId id="327" r:id="rId16"/>
    <p:sldId id="329" r:id="rId17"/>
    <p:sldId id="328" r:id="rId18"/>
    <p:sldId id="330" r:id="rId19"/>
    <p:sldId id="331" r:id="rId20"/>
    <p:sldId id="333" r:id="rId21"/>
    <p:sldId id="33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10F2"/>
    <a:srgbClr val="27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6291"/>
  </p:normalViewPr>
  <p:slideViewPr>
    <p:cSldViewPr snapToGrid="0">
      <p:cViewPr varScale="1">
        <p:scale>
          <a:sx n="122" d="100"/>
          <a:sy n="122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5CA82F-20AB-4C32-98FC-7D735919291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880C4E-68DC-4DEE-9C7A-558890667655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/>
            <a:t>Pre-made Components </a:t>
          </a:r>
          <a:endParaRPr lang="en-US" dirty="0"/>
        </a:p>
      </dgm:t>
    </dgm:pt>
    <dgm:pt modelId="{5D8AC17A-0080-47EF-B59B-77D5E0268079}" type="parTrans" cxnId="{56087B2F-888C-48E5-BEB1-8A10A3752965}">
      <dgm:prSet/>
      <dgm:spPr/>
      <dgm:t>
        <a:bodyPr/>
        <a:lstStyle/>
        <a:p>
          <a:endParaRPr lang="en-US"/>
        </a:p>
      </dgm:t>
    </dgm:pt>
    <dgm:pt modelId="{45EDBB2A-9717-4D83-9093-B822954B2AD7}" type="sibTrans" cxnId="{56087B2F-888C-48E5-BEB1-8A10A3752965}">
      <dgm:prSet/>
      <dgm:spPr/>
      <dgm:t>
        <a:bodyPr/>
        <a:lstStyle/>
        <a:p>
          <a:endParaRPr lang="en-US"/>
        </a:p>
      </dgm:t>
    </dgm:pt>
    <dgm:pt modelId="{82137532-271B-4C93-8AE1-578CF0DC2A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300" b="1" dirty="0"/>
            <a:t>Quick &amp; easy import </a:t>
          </a:r>
          <a:r>
            <a:rPr lang="en-AU" sz="1300" dirty="0"/>
            <a:t>of ready-made UI components </a:t>
          </a:r>
          <a:endParaRPr lang="en-US" sz="1300" dirty="0"/>
        </a:p>
      </dgm:t>
    </dgm:pt>
    <dgm:pt modelId="{3A02E06F-7F74-4E9C-AA7F-8EC48D0C7374}" type="parTrans" cxnId="{5BEE2CFF-61AB-491A-88AC-4CEFAAD3F8B4}">
      <dgm:prSet/>
      <dgm:spPr/>
      <dgm:t>
        <a:bodyPr/>
        <a:lstStyle/>
        <a:p>
          <a:endParaRPr lang="en-US"/>
        </a:p>
      </dgm:t>
    </dgm:pt>
    <dgm:pt modelId="{7C3C2B8B-622A-4F1B-9E49-06A48168C545}" type="sibTrans" cxnId="{5BEE2CFF-61AB-491A-88AC-4CEFAAD3F8B4}">
      <dgm:prSet/>
      <dgm:spPr/>
      <dgm:t>
        <a:bodyPr/>
        <a:lstStyle/>
        <a:p>
          <a:endParaRPr lang="en-US"/>
        </a:p>
      </dgm:t>
    </dgm:pt>
    <dgm:pt modelId="{AC6EAC6E-DE0A-46C7-822A-F9578CC4A9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300" dirty="0"/>
            <a:t>The UI components have a consistent, clean design with all necessary functionality</a:t>
          </a:r>
          <a:endParaRPr lang="en-US" sz="1300" dirty="0"/>
        </a:p>
      </dgm:t>
    </dgm:pt>
    <dgm:pt modelId="{B52B4FE1-BE52-42B5-A48B-623B89863FBB}" type="parTrans" cxnId="{62E86CA8-31E8-4BBA-AD24-05525483EAC3}">
      <dgm:prSet/>
      <dgm:spPr/>
      <dgm:t>
        <a:bodyPr/>
        <a:lstStyle/>
        <a:p>
          <a:endParaRPr lang="en-US"/>
        </a:p>
      </dgm:t>
    </dgm:pt>
    <dgm:pt modelId="{74641A2A-454E-48CE-A0CF-A4C13FCA9F12}" type="sibTrans" cxnId="{62E86CA8-31E8-4BBA-AD24-05525483EAC3}">
      <dgm:prSet/>
      <dgm:spPr/>
      <dgm:t>
        <a:bodyPr/>
        <a:lstStyle/>
        <a:p>
          <a:endParaRPr lang="en-US"/>
        </a:p>
      </dgm:t>
    </dgm:pt>
    <dgm:pt modelId="{73983BEA-4EEA-4563-BF33-4815A4E449E0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/>
            <a:t>Responsive UI</a:t>
          </a:r>
          <a:endParaRPr lang="en-US" dirty="0"/>
        </a:p>
      </dgm:t>
    </dgm:pt>
    <dgm:pt modelId="{629A77A9-E7BF-461C-9DAE-E5542DB714D9}" type="parTrans" cxnId="{383F35F2-57FF-499D-ABD4-921F7FE10FD2}">
      <dgm:prSet/>
      <dgm:spPr/>
      <dgm:t>
        <a:bodyPr/>
        <a:lstStyle/>
        <a:p>
          <a:endParaRPr lang="en-US"/>
        </a:p>
      </dgm:t>
    </dgm:pt>
    <dgm:pt modelId="{19A22CD7-B5C8-4F12-8316-D8B49DE92A5E}" type="sibTrans" cxnId="{383F35F2-57FF-499D-ABD4-921F7FE10FD2}">
      <dgm:prSet/>
      <dgm:spPr/>
      <dgm:t>
        <a:bodyPr/>
        <a:lstStyle/>
        <a:p>
          <a:endParaRPr lang="en-US"/>
        </a:p>
      </dgm:t>
    </dgm:pt>
    <dgm:pt modelId="{7BC116FB-3C9F-441B-A6C9-A1E82BE39C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300" dirty="0"/>
            <a:t>Use of Bootstrap components instantly makes webapp </a:t>
          </a:r>
          <a:r>
            <a:rPr lang="en-AU" sz="1300" b="1" dirty="0"/>
            <a:t>responsive to multiple common device breakpoints </a:t>
          </a:r>
          <a:r>
            <a:rPr lang="en-AU" sz="1300" b="0" dirty="0"/>
            <a:t>&amp; browsers</a:t>
          </a:r>
          <a:endParaRPr lang="en-US" sz="1300" b="1" dirty="0"/>
        </a:p>
      </dgm:t>
    </dgm:pt>
    <dgm:pt modelId="{C7F8EA5E-6755-4F82-B98B-856D9502E46A}" type="parTrans" cxnId="{871F4A19-8264-40CE-A708-FD0441DB1316}">
      <dgm:prSet/>
      <dgm:spPr/>
      <dgm:t>
        <a:bodyPr/>
        <a:lstStyle/>
        <a:p>
          <a:endParaRPr lang="en-US"/>
        </a:p>
      </dgm:t>
    </dgm:pt>
    <dgm:pt modelId="{9389AAB7-E3D2-476D-9107-0D3075750CD7}" type="sibTrans" cxnId="{871F4A19-8264-40CE-A708-FD0441DB1316}">
      <dgm:prSet/>
      <dgm:spPr/>
      <dgm:t>
        <a:bodyPr/>
        <a:lstStyle/>
        <a:p>
          <a:endParaRPr lang="en-US"/>
        </a:p>
      </dgm:t>
    </dgm:pt>
    <dgm:pt modelId="{9E455BA4-CBF6-4846-B1FA-BBE899AD61FF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/>
            <a:t>Class-based Utilities</a:t>
          </a:r>
          <a:endParaRPr lang="en-US" dirty="0"/>
        </a:p>
      </dgm:t>
    </dgm:pt>
    <dgm:pt modelId="{7E1D0ED3-9592-42BE-A406-4FE5ACF54D4D}" type="parTrans" cxnId="{9E916100-099B-40D8-B120-41F6202A5223}">
      <dgm:prSet/>
      <dgm:spPr/>
      <dgm:t>
        <a:bodyPr/>
        <a:lstStyle/>
        <a:p>
          <a:endParaRPr lang="en-US"/>
        </a:p>
      </dgm:t>
    </dgm:pt>
    <dgm:pt modelId="{73CFBB7F-7598-47AC-908D-56FE870BFDE3}" type="sibTrans" cxnId="{9E916100-099B-40D8-B120-41F6202A5223}">
      <dgm:prSet/>
      <dgm:spPr/>
      <dgm:t>
        <a:bodyPr/>
        <a:lstStyle/>
        <a:p>
          <a:endParaRPr lang="en-US"/>
        </a:p>
      </dgm:t>
    </dgm:pt>
    <dgm:pt modelId="{E4C5C525-919B-4452-97F3-61B136A361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300" dirty="0"/>
            <a:t>Bootstrap can be minimally-used, by using its utilities which allow for </a:t>
          </a:r>
          <a:r>
            <a:rPr lang="en-AU" sz="1300" b="1" dirty="0"/>
            <a:t>easy additions of box model properties </a:t>
          </a:r>
          <a:r>
            <a:rPr lang="en-AU" sz="1300" dirty="0"/>
            <a:t>like padding, margins, flexbox &amp; grid</a:t>
          </a:r>
          <a:endParaRPr lang="en-US" sz="1300" dirty="0"/>
        </a:p>
      </dgm:t>
    </dgm:pt>
    <dgm:pt modelId="{D0DEF5C7-8B76-4D55-B264-CCEBBCEC8878}" type="parTrans" cxnId="{E70D183E-E385-427E-8ADA-A013858E7066}">
      <dgm:prSet/>
      <dgm:spPr/>
      <dgm:t>
        <a:bodyPr/>
        <a:lstStyle/>
        <a:p>
          <a:endParaRPr lang="en-US"/>
        </a:p>
      </dgm:t>
    </dgm:pt>
    <dgm:pt modelId="{E576C761-E421-4DDB-A5D9-1AF5BCEADC07}" type="sibTrans" cxnId="{E70D183E-E385-427E-8ADA-A013858E7066}">
      <dgm:prSet/>
      <dgm:spPr/>
      <dgm:t>
        <a:bodyPr/>
        <a:lstStyle/>
        <a:p>
          <a:endParaRPr lang="en-US"/>
        </a:p>
      </dgm:t>
    </dgm:pt>
    <dgm:pt modelId="{C3ECBBB9-98EB-4D7C-9A7B-655BB3C31C4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/>
            <a:t>Interactive UI</a:t>
          </a:r>
          <a:endParaRPr lang="en-US" dirty="0"/>
        </a:p>
      </dgm:t>
    </dgm:pt>
    <dgm:pt modelId="{663047D0-98EF-4102-B4C1-3129F4F66EAA}" type="parTrans" cxnId="{6C29703E-7FB1-48CF-9FEE-247701BD642B}">
      <dgm:prSet/>
      <dgm:spPr/>
      <dgm:t>
        <a:bodyPr/>
        <a:lstStyle/>
        <a:p>
          <a:endParaRPr lang="en-US"/>
        </a:p>
      </dgm:t>
    </dgm:pt>
    <dgm:pt modelId="{7CDB5A05-8059-4CDE-8560-689B0A0B2921}" type="sibTrans" cxnId="{6C29703E-7FB1-48CF-9FEE-247701BD642B}">
      <dgm:prSet/>
      <dgm:spPr/>
      <dgm:t>
        <a:bodyPr/>
        <a:lstStyle/>
        <a:p>
          <a:endParaRPr lang="en-US"/>
        </a:p>
      </dgm:t>
    </dgm:pt>
    <dgm:pt modelId="{EC526ED7-072D-4F7D-91B6-B7C2676F9A9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300" dirty="0"/>
            <a:t>Many components </a:t>
          </a:r>
          <a:r>
            <a:rPr lang="en-AU" sz="1300" b="1" dirty="0"/>
            <a:t>are highly interactive / dynamic</a:t>
          </a:r>
          <a:endParaRPr lang="en-US" sz="1300" b="1" dirty="0"/>
        </a:p>
      </dgm:t>
    </dgm:pt>
    <dgm:pt modelId="{AB5B59BC-17FF-41A5-AB71-E3BB2AD59003}" type="parTrans" cxnId="{29853FA9-C9B6-4F94-83AB-FA94E6114610}">
      <dgm:prSet/>
      <dgm:spPr/>
      <dgm:t>
        <a:bodyPr/>
        <a:lstStyle/>
        <a:p>
          <a:endParaRPr lang="en-US"/>
        </a:p>
      </dgm:t>
    </dgm:pt>
    <dgm:pt modelId="{4F5C27E1-1AAB-4A0D-88C4-EEC40EA7EFF6}" type="sibTrans" cxnId="{29853FA9-C9B6-4F94-83AB-FA94E6114610}">
      <dgm:prSet/>
      <dgm:spPr/>
      <dgm:t>
        <a:bodyPr/>
        <a:lstStyle/>
        <a:p>
          <a:endParaRPr lang="en-US"/>
        </a:p>
      </dgm:t>
    </dgm:pt>
    <dgm:pt modelId="{E9D29F89-E807-464C-9D2C-3E77DEEA238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300" dirty="0"/>
            <a:t>Typically – these require HTML, CSS &amp; JavaScript work to build on your own = covers knowledge gaps!</a:t>
          </a:r>
          <a:endParaRPr lang="en-US" sz="1300" dirty="0"/>
        </a:p>
      </dgm:t>
    </dgm:pt>
    <dgm:pt modelId="{A726D426-9190-48ED-9E0F-001542448CAC}" type="parTrans" cxnId="{2F426A9E-8AC8-4140-AADC-060F597D880A}">
      <dgm:prSet/>
      <dgm:spPr/>
      <dgm:t>
        <a:bodyPr/>
        <a:lstStyle/>
        <a:p>
          <a:endParaRPr lang="en-US"/>
        </a:p>
      </dgm:t>
    </dgm:pt>
    <dgm:pt modelId="{BD52873B-94BA-450A-B495-33BE6692262A}" type="sibTrans" cxnId="{2F426A9E-8AC8-4140-AADC-060F597D880A}">
      <dgm:prSet/>
      <dgm:spPr/>
      <dgm:t>
        <a:bodyPr/>
        <a:lstStyle/>
        <a:p>
          <a:endParaRPr lang="en-US"/>
        </a:p>
      </dgm:t>
    </dgm:pt>
    <dgm:pt modelId="{7CFC3BF3-6D7F-42A6-B9BD-815F90C2CD46}" type="pres">
      <dgm:prSet presAssocID="{175CA82F-20AB-4C32-98FC-7D7359192917}" presName="root" presStyleCnt="0">
        <dgm:presLayoutVars>
          <dgm:dir/>
          <dgm:resizeHandles val="exact"/>
        </dgm:presLayoutVars>
      </dgm:prSet>
      <dgm:spPr/>
    </dgm:pt>
    <dgm:pt modelId="{7E414D79-8D83-408B-A139-242C1BCAE975}" type="pres">
      <dgm:prSet presAssocID="{16880C4E-68DC-4DEE-9C7A-558890667655}" presName="compNode" presStyleCnt="0"/>
      <dgm:spPr/>
    </dgm:pt>
    <dgm:pt modelId="{5EE3DEE6-A0D7-4696-9A4C-2D663859E122}" type="pres">
      <dgm:prSet presAssocID="{16880C4E-68DC-4DEE-9C7A-558890667655}" presName="bgRect" presStyleLbl="bgShp" presStyleIdx="0" presStyleCnt="4"/>
      <dgm:spPr/>
    </dgm:pt>
    <dgm:pt modelId="{4EAB45E1-0673-4A23-980F-7FDBDB6088D6}" type="pres">
      <dgm:prSet presAssocID="{16880C4E-68DC-4DEE-9C7A-5588906676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69B7053-7DD4-4196-87BF-8BAFFBD84953}" type="pres">
      <dgm:prSet presAssocID="{16880C4E-68DC-4DEE-9C7A-558890667655}" presName="spaceRect" presStyleCnt="0"/>
      <dgm:spPr/>
    </dgm:pt>
    <dgm:pt modelId="{BAF84A4D-F05C-4C9F-946F-31B734161B44}" type="pres">
      <dgm:prSet presAssocID="{16880C4E-68DC-4DEE-9C7A-558890667655}" presName="parTx" presStyleLbl="revTx" presStyleIdx="0" presStyleCnt="8">
        <dgm:presLayoutVars>
          <dgm:chMax val="0"/>
          <dgm:chPref val="0"/>
        </dgm:presLayoutVars>
      </dgm:prSet>
      <dgm:spPr/>
    </dgm:pt>
    <dgm:pt modelId="{92805051-DDCD-4C49-8C9D-15E96710D3F4}" type="pres">
      <dgm:prSet presAssocID="{16880C4E-68DC-4DEE-9C7A-558890667655}" presName="desTx" presStyleLbl="revTx" presStyleIdx="1" presStyleCnt="8">
        <dgm:presLayoutVars/>
      </dgm:prSet>
      <dgm:spPr/>
    </dgm:pt>
    <dgm:pt modelId="{36CCDCC2-105E-4B7D-B5B1-B17D4533A15E}" type="pres">
      <dgm:prSet presAssocID="{45EDBB2A-9717-4D83-9093-B822954B2AD7}" presName="sibTrans" presStyleCnt="0"/>
      <dgm:spPr/>
    </dgm:pt>
    <dgm:pt modelId="{D999230B-FF3F-4A3F-B63E-94A6B6249905}" type="pres">
      <dgm:prSet presAssocID="{73983BEA-4EEA-4563-BF33-4815A4E449E0}" presName="compNode" presStyleCnt="0"/>
      <dgm:spPr/>
    </dgm:pt>
    <dgm:pt modelId="{320B0A60-157C-436B-8E9D-CDCAA7138B1A}" type="pres">
      <dgm:prSet presAssocID="{73983BEA-4EEA-4563-BF33-4815A4E449E0}" presName="bgRect" presStyleLbl="bgShp" presStyleIdx="1" presStyleCnt="4"/>
      <dgm:spPr/>
    </dgm:pt>
    <dgm:pt modelId="{8F9075D8-BDEC-4910-9789-1ED425933B48}" type="pres">
      <dgm:prSet presAssocID="{73983BEA-4EEA-4563-BF33-4815A4E449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3233384-37E7-4CD9-AF6D-5436A72EC97C}" type="pres">
      <dgm:prSet presAssocID="{73983BEA-4EEA-4563-BF33-4815A4E449E0}" presName="spaceRect" presStyleCnt="0"/>
      <dgm:spPr/>
    </dgm:pt>
    <dgm:pt modelId="{87B39C08-FD2E-424B-8AC1-EEECE1743431}" type="pres">
      <dgm:prSet presAssocID="{73983BEA-4EEA-4563-BF33-4815A4E449E0}" presName="parTx" presStyleLbl="revTx" presStyleIdx="2" presStyleCnt="8">
        <dgm:presLayoutVars>
          <dgm:chMax val="0"/>
          <dgm:chPref val="0"/>
        </dgm:presLayoutVars>
      </dgm:prSet>
      <dgm:spPr/>
    </dgm:pt>
    <dgm:pt modelId="{CFB66777-491E-4E37-A194-8C4F54A13299}" type="pres">
      <dgm:prSet presAssocID="{73983BEA-4EEA-4563-BF33-4815A4E449E0}" presName="desTx" presStyleLbl="revTx" presStyleIdx="3" presStyleCnt="8">
        <dgm:presLayoutVars/>
      </dgm:prSet>
      <dgm:spPr/>
    </dgm:pt>
    <dgm:pt modelId="{30719327-3645-4506-B206-6C953D6D5E33}" type="pres">
      <dgm:prSet presAssocID="{19A22CD7-B5C8-4F12-8316-D8B49DE92A5E}" presName="sibTrans" presStyleCnt="0"/>
      <dgm:spPr/>
    </dgm:pt>
    <dgm:pt modelId="{6B8F3DF8-E89C-4389-9ABD-FF5682E081BD}" type="pres">
      <dgm:prSet presAssocID="{9E455BA4-CBF6-4846-B1FA-BBE899AD61FF}" presName="compNode" presStyleCnt="0"/>
      <dgm:spPr/>
    </dgm:pt>
    <dgm:pt modelId="{0B212F08-FC48-4900-AA76-623E9481A4A8}" type="pres">
      <dgm:prSet presAssocID="{9E455BA4-CBF6-4846-B1FA-BBE899AD61FF}" presName="bgRect" presStyleLbl="bgShp" presStyleIdx="2" presStyleCnt="4"/>
      <dgm:spPr/>
    </dgm:pt>
    <dgm:pt modelId="{D076C355-F1CE-4E06-ACF1-C37F9168E52C}" type="pres">
      <dgm:prSet presAssocID="{9E455BA4-CBF6-4846-B1FA-BBE899AD61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A12707E1-A23C-4171-9990-EE9FBF60AF93}" type="pres">
      <dgm:prSet presAssocID="{9E455BA4-CBF6-4846-B1FA-BBE899AD61FF}" presName="spaceRect" presStyleCnt="0"/>
      <dgm:spPr/>
    </dgm:pt>
    <dgm:pt modelId="{2FDCC0AA-4E0C-45DB-951D-B7AA9E218231}" type="pres">
      <dgm:prSet presAssocID="{9E455BA4-CBF6-4846-B1FA-BBE899AD61FF}" presName="parTx" presStyleLbl="revTx" presStyleIdx="4" presStyleCnt="8">
        <dgm:presLayoutVars>
          <dgm:chMax val="0"/>
          <dgm:chPref val="0"/>
        </dgm:presLayoutVars>
      </dgm:prSet>
      <dgm:spPr/>
    </dgm:pt>
    <dgm:pt modelId="{E571DF14-6F05-4E4C-831B-D294B78999D0}" type="pres">
      <dgm:prSet presAssocID="{9E455BA4-CBF6-4846-B1FA-BBE899AD61FF}" presName="desTx" presStyleLbl="revTx" presStyleIdx="5" presStyleCnt="8">
        <dgm:presLayoutVars/>
      </dgm:prSet>
      <dgm:spPr/>
    </dgm:pt>
    <dgm:pt modelId="{6C5576A7-537B-4B8F-ADFD-2EAD509F0DD7}" type="pres">
      <dgm:prSet presAssocID="{73CFBB7F-7598-47AC-908D-56FE870BFDE3}" presName="sibTrans" presStyleCnt="0"/>
      <dgm:spPr/>
    </dgm:pt>
    <dgm:pt modelId="{A4B0E17E-565B-4CB2-B469-8D074F8203E8}" type="pres">
      <dgm:prSet presAssocID="{C3ECBBB9-98EB-4D7C-9A7B-655BB3C31C42}" presName="compNode" presStyleCnt="0"/>
      <dgm:spPr/>
    </dgm:pt>
    <dgm:pt modelId="{FC7BC8C2-919E-4388-A1F8-4574ED37C90E}" type="pres">
      <dgm:prSet presAssocID="{C3ECBBB9-98EB-4D7C-9A7B-655BB3C31C42}" presName="bgRect" presStyleLbl="bgShp" presStyleIdx="3" presStyleCnt="4"/>
      <dgm:spPr/>
    </dgm:pt>
    <dgm:pt modelId="{34829EA2-5E70-4A92-BA44-CDC0A7B75888}" type="pres">
      <dgm:prSet presAssocID="{C3ECBBB9-98EB-4D7C-9A7B-655BB3C31C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473B61B8-5C0E-433E-9EFA-418D646E562D}" type="pres">
      <dgm:prSet presAssocID="{C3ECBBB9-98EB-4D7C-9A7B-655BB3C31C42}" presName="spaceRect" presStyleCnt="0"/>
      <dgm:spPr/>
    </dgm:pt>
    <dgm:pt modelId="{11A5AD02-0E1B-4D23-905D-F63E7C247706}" type="pres">
      <dgm:prSet presAssocID="{C3ECBBB9-98EB-4D7C-9A7B-655BB3C31C42}" presName="parTx" presStyleLbl="revTx" presStyleIdx="6" presStyleCnt="8">
        <dgm:presLayoutVars>
          <dgm:chMax val="0"/>
          <dgm:chPref val="0"/>
        </dgm:presLayoutVars>
      </dgm:prSet>
      <dgm:spPr/>
    </dgm:pt>
    <dgm:pt modelId="{0261671F-5219-409C-A88B-ED69002A30CA}" type="pres">
      <dgm:prSet presAssocID="{C3ECBBB9-98EB-4D7C-9A7B-655BB3C31C42}" presName="desTx" presStyleLbl="revTx" presStyleIdx="7" presStyleCnt="8">
        <dgm:presLayoutVars/>
      </dgm:prSet>
      <dgm:spPr/>
    </dgm:pt>
  </dgm:ptLst>
  <dgm:cxnLst>
    <dgm:cxn modelId="{9E916100-099B-40D8-B120-41F6202A5223}" srcId="{175CA82F-20AB-4C32-98FC-7D7359192917}" destId="{9E455BA4-CBF6-4846-B1FA-BBE899AD61FF}" srcOrd="2" destOrd="0" parTransId="{7E1D0ED3-9592-42BE-A406-4FE5ACF54D4D}" sibTransId="{73CFBB7F-7598-47AC-908D-56FE870BFDE3}"/>
    <dgm:cxn modelId="{29449613-F93C-423E-85B8-0AD0F972C4A4}" type="presOf" srcId="{7BC116FB-3C9F-441B-A6C9-A1E82BE39C0D}" destId="{CFB66777-491E-4E37-A194-8C4F54A13299}" srcOrd="0" destOrd="0" presId="urn:microsoft.com/office/officeart/2018/2/layout/IconVerticalSolidList"/>
    <dgm:cxn modelId="{8A3FA713-6C62-49F9-BFFE-2954BD09EE92}" type="presOf" srcId="{9E455BA4-CBF6-4846-B1FA-BBE899AD61FF}" destId="{2FDCC0AA-4E0C-45DB-951D-B7AA9E218231}" srcOrd="0" destOrd="0" presId="urn:microsoft.com/office/officeart/2018/2/layout/IconVerticalSolidList"/>
    <dgm:cxn modelId="{B0FB9514-9D74-4A9F-B041-37E4A1556EE9}" type="presOf" srcId="{AC6EAC6E-DE0A-46C7-822A-F9578CC4A944}" destId="{92805051-DDCD-4C49-8C9D-15E96710D3F4}" srcOrd="0" destOrd="1" presId="urn:microsoft.com/office/officeart/2018/2/layout/IconVerticalSolidList"/>
    <dgm:cxn modelId="{871F4A19-8264-40CE-A708-FD0441DB1316}" srcId="{73983BEA-4EEA-4563-BF33-4815A4E449E0}" destId="{7BC116FB-3C9F-441B-A6C9-A1E82BE39C0D}" srcOrd="0" destOrd="0" parTransId="{C7F8EA5E-6755-4F82-B98B-856D9502E46A}" sibTransId="{9389AAB7-E3D2-476D-9107-0D3075750CD7}"/>
    <dgm:cxn modelId="{56087B2F-888C-48E5-BEB1-8A10A3752965}" srcId="{175CA82F-20AB-4C32-98FC-7D7359192917}" destId="{16880C4E-68DC-4DEE-9C7A-558890667655}" srcOrd="0" destOrd="0" parTransId="{5D8AC17A-0080-47EF-B59B-77D5E0268079}" sibTransId="{45EDBB2A-9717-4D83-9093-B822954B2AD7}"/>
    <dgm:cxn modelId="{E937D530-C8B2-4FF5-BDEB-CEDF2B2583B3}" type="presOf" srcId="{E4C5C525-919B-4452-97F3-61B136A361FA}" destId="{E571DF14-6F05-4E4C-831B-D294B78999D0}" srcOrd="0" destOrd="0" presId="urn:microsoft.com/office/officeart/2018/2/layout/IconVerticalSolidList"/>
    <dgm:cxn modelId="{E70D183E-E385-427E-8ADA-A013858E7066}" srcId="{9E455BA4-CBF6-4846-B1FA-BBE899AD61FF}" destId="{E4C5C525-919B-4452-97F3-61B136A361FA}" srcOrd="0" destOrd="0" parTransId="{D0DEF5C7-8B76-4D55-B264-CCEBBCEC8878}" sibTransId="{E576C761-E421-4DDB-A5D9-1AF5BCEADC07}"/>
    <dgm:cxn modelId="{6C29703E-7FB1-48CF-9FEE-247701BD642B}" srcId="{175CA82F-20AB-4C32-98FC-7D7359192917}" destId="{C3ECBBB9-98EB-4D7C-9A7B-655BB3C31C42}" srcOrd="3" destOrd="0" parTransId="{663047D0-98EF-4102-B4C1-3129F4F66EAA}" sibTransId="{7CDB5A05-8059-4CDE-8560-689B0A0B2921}"/>
    <dgm:cxn modelId="{12BD0B4D-107E-441B-8CFB-A11D60C9451D}" type="presOf" srcId="{C3ECBBB9-98EB-4D7C-9A7B-655BB3C31C42}" destId="{11A5AD02-0E1B-4D23-905D-F63E7C247706}" srcOrd="0" destOrd="0" presId="urn:microsoft.com/office/officeart/2018/2/layout/IconVerticalSolidList"/>
    <dgm:cxn modelId="{145DCE66-BBF3-44C6-AA9B-8C9A8FA7E06B}" type="presOf" srcId="{175CA82F-20AB-4C32-98FC-7D7359192917}" destId="{7CFC3BF3-6D7F-42A6-B9BD-815F90C2CD46}" srcOrd="0" destOrd="0" presId="urn:microsoft.com/office/officeart/2018/2/layout/IconVerticalSolidList"/>
    <dgm:cxn modelId="{585FAC6C-4D5D-4985-84F5-257E3D830FE9}" type="presOf" srcId="{EC526ED7-072D-4F7D-91B6-B7C2676F9A9E}" destId="{0261671F-5219-409C-A88B-ED69002A30CA}" srcOrd="0" destOrd="0" presId="urn:microsoft.com/office/officeart/2018/2/layout/IconVerticalSolidList"/>
    <dgm:cxn modelId="{70071D8B-7312-4F97-899A-57F8252B9803}" type="presOf" srcId="{E9D29F89-E807-464C-9D2C-3E77DEEA238B}" destId="{0261671F-5219-409C-A88B-ED69002A30CA}" srcOrd="0" destOrd="1" presId="urn:microsoft.com/office/officeart/2018/2/layout/IconVerticalSolidList"/>
    <dgm:cxn modelId="{2F426A9E-8AC8-4140-AADC-060F597D880A}" srcId="{C3ECBBB9-98EB-4D7C-9A7B-655BB3C31C42}" destId="{E9D29F89-E807-464C-9D2C-3E77DEEA238B}" srcOrd="1" destOrd="0" parTransId="{A726D426-9190-48ED-9E0F-001542448CAC}" sibTransId="{BD52873B-94BA-450A-B495-33BE6692262A}"/>
    <dgm:cxn modelId="{D7BE11A8-628B-4E06-8BA3-E696BF60194C}" type="presOf" srcId="{16880C4E-68DC-4DEE-9C7A-558890667655}" destId="{BAF84A4D-F05C-4C9F-946F-31B734161B44}" srcOrd="0" destOrd="0" presId="urn:microsoft.com/office/officeart/2018/2/layout/IconVerticalSolidList"/>
    <dgm:cxn modelId="{62E86CA8-31E8-4BBA-AD24-05525483EAC3}" srcId="{16880C4E-68DC-4DEE-9C7A-558890667655}" destId="{AC6EAC6E-DE0A-46C7-822A-F9578CC4A944}" srcOrd="1" destOrd="0" parTransId="{B52B4FE1-BE52-42B5-A48B-623B89863FBB}" sibTransId="{74641A2A-454E-48CE-A0CF-A4C13FCA9F12}"/>
    <dgm:cxn modelId="{29853FA9-C9B6-4F94-83AB-FA94E6114610}" srcId="{C3ECBBB9-98EB-4D7C-9A7B-655BB3C31C42}" destId="{EC526ED7-072D-4F7D-91B6-B7C2676F9A9E}" srcOrd="0" destOrd="0" parTransId="{AB5B59BC-17FF-41A5-AB71-E3BB2AD59003}" sibTransId="{4F5C27E1-1AAB-4A0D-88C4-EEC40EA7EFF6}"/>
    <dgm:cxn modelId="{75E5E6B5-C150-4D78-A8F0-966CE720CB5E}" type="presOf" srcId="{82137532-271B-4C93-8AE1-578CF0DC2A6A}" destId="{92805051-DDCD-4C49-8C9D-15E96710D3F4}" srcOrd="0" destOrd="0" presId="urn:microsoft.com/office/officeart/2018/2/layout/IconVerticalSolidList"/>
    <dgm:cxn modelId="{4E7CFAC2-86F2-44D1-B6E8-069F2E42E31A}" type="presOf" srcId="{73983BEA-4EEA-4563-BF33-4815A4E449E0}" destId="{87B39C08-FD2E-424B-8AC1-EEECE1743431}" srcOrd="0" destOrd="0" presId="urn:microsoft.com/office/officeart/2018/2/layout/IconVerticalSolidList"/>
    <dgm:cxn modelId="{383F35F2-57FF-499D-ABD4-921F7FE10FD2}" srcId="{175CA82F-20AB-4C32-98FC-7D7359192917}" destId="{73983BEA-4EEA-4563-BF33-4815A4E449E0}" srcOrd="1" destOrd="0" parTransId="{629A77A9-E7BF-461C-9DAE-E5542DB714D9}" sibTransId="{19A22CD7-B5C8-4F12-8316-D8B49DE92A5E}"/>
    <dgm:cxn modelId="{5BEE2CFF-61AB-491A-88AC-4CEFAAD3F8B4}" srcId="{16880C4E-68DC-4DEE-9C7A-558890667655}" destId="{82137532-271B-4C93-8AE1-578CF0DC2A6A}" srcOrd="0" destOrd="0" parTransId="{3A02E06F-7F74-4E9C-AA7F-8EC48D0C7374}" sibTransId="{7C3C2B8B-622A-4F1B-9E49-06A48168C545}"/>
    <dgm:cxn modelId="{98FBFD17-3DED-4B42-B0B5-6420F6A9F26A}" type="presParOf" srcId="{7CFC3BF3-6D7F-42A6-B9BD-815F90C2CD46}" destId="{7E414D79-8D83-408B-A139-242C1BCAE975}" srcOrd="0" destOrd="0" presId="urn:microsoft.com/office/officeart/2018/2/layout/IconVerticalSolidList"/>
    <dgm:cxn modelId="{91381E9D-4B1B-4862-AE45-F471A19EB98A}" type="presParOf" srcId="{7E414D79-8D83-408B-A139-242C1BCAE975}" destId="{5EE3DEE6-A0D7-4696-9A4C-2D663859E122}" srcOrd="0" destOrd="0" presId="urn:microsoft.com/office/officeart/2018/2/layout/IconVerticalSolidList"/>
    <dgm:cxn modelId="{EF9D249F-E24D-40DF-A6FA-48D455383ED7}" type="presParOf" srcId="{7E414D79-8D83-408B-A139-242C1BCAE975}" destId="{4EAB45E1-0673-4A23-980F-7FDBDB6088D6}" srcOrd="1" destOrd="0" presId="urn:microsoft.com/office/officeart/2018/2/layout/IconVerticalSolidList"/>
    <dgm:cxn modelId="{2C4EE039-F424-4A32-9459-C39C93474158}" type="presParOf" srcId="{7E414D79-8D83-408B-A139-242C1BCAE975}" destId="{569B7053-7DD4-4196-87BF-8BAFFBD84953}" srcOrd="2" destOrd="0" presId="urn:microsoft.com/office/officeart/2018/2/layout/IconVerticalSolidList"/>
    <dgm:cxn modelId="{E57E9106-AAB4-48F2-BD39-5B3956216AB2}" type="presParOf" srcId="{7E414D79-8D83-408B-A139-242C1BCAE975}" destId="{BAF84A4D-F05C-4C9F-946F-31B734161B44}" srcOrd="3" destOrd="0" presId="urn:microsoft.com/office/officeart/2018/2/layout/IconVerticalSolidList"/>
    <dgm:cxn modelId="{4759D3C7-B26C-4F5A-9DFD-EB42E91AA3A1}" type="presParOf" srcId="{7E414D79-8D83-408B-A139-242C1BCAE975}" destId="{92805051-DDCD-4C49-8C9D-15E96710D3F4}" srcOrd="4" destOrd="0" presId="urn:microsoft.com/office/officeart/2018/2/layout/IconVerticalSolidList"/>
    <dgm:cxn modelId="{EF37136F-8BE8-44CE-89AC-BD873BE54D56}" type="presParOf" srcId="{7CFC3BF3-6D7F-42A6-B9BD-815F90C2CD46}" destId="{36CCDCC2-105E-4B7D-B5B1-B17D4533A15E}" srcOrd="1" destOrd="0" presId="urn:microsoft.com/office/officeart/2018/2/layout/IconVerticalSolidList"/>
    <dgm:cxn modelId="{BA6F3789-2795-4FB1-B2D6-838F5A651387}" type="presParOf" srcId="{7CFC3BF3-6D7F-42A6-B9BD-815F90C2CD46}" destId="{D999230B-FF3F-4A3F-B63E-94A6B6249905}" srcOrd="2" destOrd="0" presId="urn:microsoft.com/office/officeart/2018/2/layout/IconVerticalSolidList"/>
    <dgm:cxn modelId="{5793087F-8C82-4798-BEE3-9479DD90D2EA}" type="presParOf" srcId="{D999230B-FF3F-4A3F-B63E-94A6B6249905}" destId="{320B0A60-157C-436B-8E9D-CDCAA7138B1A}" srcOrd="0" destOrd="0" presId="urn:microsoft.com/office/officeart/2018/2/layout/IconVerticalSolidList"/>
    <dgm:cxn modelId="{B0553161-ECC6-4ECD-8B49-BB191F2D0558}" type="presParOf" srcId="{D999230B-FF3F-4A3F-B63E-94A6B6249905}" destId="{8F9075D8-BDEC-4910-9789-1ED425933B48}" srcOrd="1" destOrd="0" presId="urn:microsoft.com/office/officeart/2018/2/layout/IconVerticalSolidList"/>
    <dgm:cxn modelId="{B0E93761-C6F4-49BB-8251-F49691AE304E}" type="presParOf" srcId="{D999230B-FF3F-4A3F-B63E-94A6B6249905}" destId="{53233384-37E7-4CD9-AF6D-5436A72EC97C}" srcOrd="2" destOrd="0" presId="urn:microsoft.com/office/officeart/2018/2/layout/IconVerticalSolidList"/>
    <dgm:cxn modelId="{5E416AE5-CDB6-4C63-B5BF-B7A9095B76D8}" type="presParOf" srcId="{D999230B-FF3F-4A3F-B63E-94A6B6249905}" destId="{87B39C08-FD2E-424B-8AC1-EEECE1743431}" srcOrd="3" destOrd="0" presId="urn:microsoft.com/office/officeart/2018/2/layout/IconVerticalSolidList"/>
    <dgm:cxn modelId="{047BF8DF-605C-421E-8D36-9FC6BD24D59D}" type="presParOf" srcId="{D999230B-FF3F-4A3F-B63E-94A6B6249905}" destId="{CFB66777-491E-4E37-A194-8C4F54A13299}" srcOrd="4" destOrd="0" presId="urn:microsoft.com/office/officeart/2018/2/layout/IconVerticalSolidList"/>
    <dgm:cxn modelId="{1F40854B-5DD4-4D98-99F4-13E20228F1D2}" type="presParOf" srcId="{7CFC3BF3-6D7F-42A6-B9BD-815F90C2CD46}" destId="{30719327-3645-4506-B206-6C953D6D5E33}" srcOrd="3" destOrd="0" presId="urn:microsoft.com/office/officeart/2018/2/layout/IconVerticalSolidList"/>
    <dgm:cxn modelId="{5358C2C6-56D0-4DF7-91C1-C1A8926189A7}" type="presParOf" srcId="{7CFC3BF3-6D7F-42A6-B9BD-815F90C2CD46}" destId="{6B8F3DF8-E89C-4389-9ABD-FF5682E081BD}" srcOrd="4" destOrd="0" presId="urn:microsoft.com/office/officeart/2018/2/layout/IconVerticalSolidList"/>
    <dgm:cxn modelId="{340216AF-2153-464C-B2E5-454A6AF15952}" type="presParOf" srcId="{6B8F3DF8-E89C-4389-9ABD-FF5682E081BD}" destId="{0B212F08-FC48-4900-AA76-623E9481A4A8}" srcOrd="0" destOrd="0" presId="urn:microsoft.com/office/officeart/2018/2/layout/IconVerticalSolidList"/>
    <dgm:cxn modelId="{E192E065-44BD-45E1-9E73-885E23054A0C}" type="presParOf" srcId="{6B8F3DF8-E89C-4389-9ABD-FF5682E081BD}" destId="{D076C355-F1CE-4E06-ACF1-C37F9168E52C}" srcOrd="1" destOrd="0" presId="urn:microsoft.com/office/officeart/2018/2/layout/IconVerticalSolidList"/>
    <dgm:cxn modelId="{57A191F9-21ED-43F6-9238-C7045B6A4400}" type="presParOf" srcId="{6B8F3DF8-E89C-4389-9ABD-FF5682E081BD}" destId="{A12707E1-A23C-4171-9990-EE9FBF60AF93}" srcOrd="2" destOrd="0" presId="urn:microsoft.com/office/officeart/2018/2/layout/IconVerticalSolidList"/>
    <dgm:cxn modelId="{1CDBE6FA-5DF5-4652-9130-2CCC27365504}" type="presParOf" srcId="{6B8F3DF8-E89C-4389-9ABD-FF5682E081BD}" destId="{2FDCC0AA-4E0C-45DB-951D-B7AA9E218231}" srcOrd="3" destOrd="0" presId="urn:microsoft.com/office/officeart/2018/2/layout/IconVerticalSolidList"/>
    <dgm:cxn modelId="{DDAEFDD0-22B1-4387-AB93-8FAB7AA2A833}" type="presParOf" srcId="{6B8F3DF8-E89C-4389-9ABD-FF5682E081BD}" destId="{E571DF14-6F05-4E4C-831B-D294B78999D0}" srcOrd="4" destOrd="0" presId="urn:microsoft.com/office/officeart/2018/2/layout/IconVerticalSolidList"/>
    <dgm:cxn modelId="{39DBC377-13A3-4E67-806A-E59F10189990}" type="presParOf" srcId="{7CFC3BF3-6D7F-42A6-B9BD-815F90C2CD46}" destId="{6C5576A7-537B-4B8F-ADFD-2EAD509F0DD7}" srcOrd="5" destOrd="0" presId="urn:microsoft.com/office/officeart/2018/2/layout/IconVerticalSolidList"/>
    <dgm:cxn modelId="{6B1017A5-F0EC-4B65-80BF-6D90A1577038}" type="presParOf" srcId="{7CFC3BF3-6D7F-42A6-B9BD-815F90C2CD46}" destId="{A4B0E17E-565B-4CB2-B469-8D074F8203E8}" srcOrd="6" destOrd="0" presId="urn:microsoft.com/office/officeart/2018/2/layout/IconVerticalSolidList"/>
    <dgm:cxn modelId="{A996A6E1-CEB3-4CFE-AB34-2359F801DF0C}" type="presParOf" srcId="{A4B0E17E-565B-4CB2-B469-8D074F8203E8}" destId="{FC7BC8C2-919E-4388-A1F8-4574ED37C90E}" srcOrd="0" destOrd="0" presId="urn:microsoft.com/office/officeart/2018/2/layout/IconVerticalSolidList"/>
    <dgm:cxn modelId="{74799972-C20E-4FD0-BFAC-A344E3357D62}" type="presParOf" srcId="{A4B0E17E-565B-4CB2-B469-8D074F8203E8}" destId="{34829EA2-5E70-4A92-BA44-CDC0A7B75888}" srcOrd="1" destOrd="0" presId="urn:microsoft.com/office/officeart/2018/2/layout/IconVerticalSolidList"/>
    <dgm:cxn modelId="{34227527-2419-4152-B932-DAE7B8B36C60}" type="presParOf" srcId="{A4B0E17E-565B-4CB2-B469-8D074F8203E8}" destId="{473B61B8-5C0E-433E-9EFA-418D646E562D}" srcOrd="2" destOrd="0" presId="urn:microsoft.com/office/officeart/2018/2/layout/IconVerticalSolidList"/>
    <dgm:cxn modelId="{BED2715F-ED78-4531-932A-16EAAFD23CFC}" type="presParOf" srcId="{A4B0E17E-565B-4CB2-B469-8D074F8203E8}" destId="{11A5AD02-0E1B-4D23-905D-F63E7C247706}" srcOrd="3" destOrd="0" presId="urn:microsoft.com/office/officeart/2018/2/layout/IconVerticalSolidList"/>
    <dgm:cxn modelId="{A4FB83C7-37DD-4D7D-A1FD-B24FEE1A2C32}" type="presParOf" srcId="{A4B0E17E-565B-4CB2-B469-8D074F8203E8}" destId="{0261671F-5219-409C-A88B-ED69002A30C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3DEE6-A0D7-4696-9A4C-2D663859E122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B45E1-0673-4A23-980F-7FDBDB6088D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84A4D-F05C-4C9F-946F-31B734161B44}">
      <dsp:nvSpPr>
        <dsp:cNvPr id="0" name=""/>
        <dsp:cNvSpPr/>
      </dsp:nvSpPr>
      <dsp:spPr>
        <a:xfrm>
          <a:off x="1057183" y="1805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b="1" kern="1200" dirty="0"/>
            <a:t>Pre-made Components </a:t>
          </a:r>
          <a:endParaRPr lang="en-US" sz="2200" kern="1200" dirty="0"/>
        </a:p>
      </dsp:txBody>
      <dsp:txXfrm>
        <a:off x="1057183" y="1805"/>
        <a:ext cx="4732020" cy="915310"/>
      </dsp:txXfrm>
    </dsp:sp>
    <dsp:sp modelId="{92805051-DDCD-4C49-8C9D-15E96710D3F4}">
      <dsp:nvSpPr>
        <dsp:cNvPr id="0" name=""/>
        <dsp:cNvSpPr/>
      </dsp:nvSpPr>
      <dsp:spPr>
        <a:xfrm>
          <a:off x="5789203" y="1805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b="1" kern="1200" dirty="0"/>
            <a:t>Quick &amp; easy import </a:t>
          </a:r>
          <a:r>
            <a:rPr lang="en-AU" sz="1300" kern="1200" dirty="0"/>
            <a:t>of ready-made UI components 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The UI components have a consistent, clean design with all necessary functionality</a:t>
          </a:r>
          <a:endParaRPr lang="en-US" sz="1300" kern="1200" dirty="0"/>
        </a:p>
      </dsp:txBody>
      <dsp:txXfrm>
        <a:off x="5789203" y="1805"/>
        <a:ext cx="4726396" cy="915310"/>
      </dsp:txXfrm>
    </dsp:sp>
    <dsp:sp modelId="{320B0A60-157C-436B-8E9D-CDCAA7138B1A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075D8-BDEC-4910-9789-1ED425933B48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39C08-FD2E-424B-8AC1-EEECE1743431}">
      <dsp:nvSpPr>
        <dsp:cNvPr id="0" name=""/>
        <dsp:cNvSpPr/>
      </dsp:nvSpPr>
      <dsp:spPr>
        <a:xfrm>
          <a:off x="1057183" y="1145944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b="1" kern="1200" dirty="0"/>
            <a:t>Responsive UI</a:t>
          </a:r>
          <a:endParaRPr lang="en-US" sz="2200" kern="1200" dirty="0"/>
        </a:p>
      </dsp:txBody>
      <dsp:txXfrm>
        <a:off x="1057183" y="1145944"/>
        <a:ext cx="4732020" cy="915310"/>
      </dsp:txXfrm>
    </dsp:sp>
    <dsp:sp modelId="{CFB66777-491E-4E37-A194-8C4F54A13299}">
      <dsp:nvSpPr>
        <dsp:cNvPr id="0" name=""/>
        <dsp:cNvSpPr/>
      </dsp:nvSpPr>
      <dsp:spPr>
        <a:xfrm>
          <a:off x="5789203" y="1145944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Use of Bootstrap components instantly makes webapp </a:t>
          </a:r>
          <a:r>
            <a:rPr lang="en-AU" sz="1300" b="1" kern="1200" dirty="0"/>
            <a:t>responsive to multiple common device breakpoints </a:t>
          </a:r>
          <a:r>
            <a:rPr lang="en-AU" sz="1300" b="0" kern="1200" dirty="0"/>
            <a:t>&amp; browsers</a:t>
          </a:r>
          <a:endParaRPr lang="en-US" sz="1300" b="1" kern="1200" dirty="0"/>
        </a:p>
      </dsp:txBody>
      <dsp:txXfrm>
        <a:off x="5789203" y="1145944"/>
        <a:ext cx="4726396" cy="915310"/>
      </dsp:txXfrm>
    </dsp:sp>
    <dsp:sp modelId="{0B212F08-FC48-4900-AA76-623E9481A4A8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6C355-F1CE-4E06-ACF1-C37F9168E52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CC0AA-4E0C-45DB-951D-B7AA9E218231}">
      <dsp:nvSpPr>
        <dsp:cNvPr id="0" name=""/>
        <dsp:cNvSpPr/>
      </dsp:nvSpPr>
      <dsp:spPr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b="1" kern="1200" dirty="0"/>
            <a:t>Class-based Utilities</a:t>
          </a:r>
          <a:endParaRPr lang="en-US" sz="2200" kern="1200" dirty="0"/>
        </a:p>
      </dsp:txBody>
      <dsp:txXfrm>
        <a:off x="1057183" y="2290082"/>
        <a:ext cx="4732020" cy="915310"/>
      </dsp:txXfrm>
    </dsp:sp>
    <dsp:sp modelId="{E571DF14-6F05-4E4C-831B-D294B78999D0}">
      <dsp:nvSpPr>
        <dsp:cNvPr id="0" name=""/>
        <dsp:cNvSpPr/>
      </dsp:nvSpPr>
      <dsp:spPr>
        <a:xfrm>
          <a:off x="5789203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Bootstrap can be minimally-used, by using its utilities which allow for </a:t>
          </a:r>
          <a:r>
            <a:rPr lang="en-AU" sz="1300" b="1" kern="1200" dirty="0"/>
            <a:t>easy additions of box model properties </a:t>
          </a:r>
          <a:r>
            <a:rPr lang="en-AU" sz="1300" kern="1200" dirty="0"/>
            <a:t>like padding, margins, flexbox &amp; grid</a:t>
          </a:r>
          <a:endParaRPr lang="en-US" sz="1300" kern="1200" dirty="0"/>
        </a:p>
      </dsp:txBody>
      <dsp:txXfrm>
        <a:off x="5789203" y="2290082"/>
        <a:ext cx="4726396" cy="915310"/>
      </dsp:txXfrm>
    </dsp:sp>
    <dsp:sp modelId="{FC7BC8C2-919E-4388-A1F8-4574ED37C90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29EA2-5E70-4A92-BA44-CDC0A7B75888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5AD02-0E1B-4D23-905D-F63E7C247706}">
      <dsp:nvSpPr>
        <dsp:cNvPr id="0" name=""/>
        <dsp:cNvSpPr/>
      </dsp:nvSpPr>
      <dsp:spPr>
        <a:xfrm>
          <a:off x="1057183" y="3434221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b="1" kern="1200" dirty="0"/>
            <a:t>Interactive UI</a:t>
          </a:r>
          <a:endParaRPr lang="en-US" sz="2200" kern="1200" dirty="0"/>
        </a:p>
      </dsp:txBody>
      <dsp:txXfrm>
        <a:off x="1057183" y="3434221"/>
        <a:ext cx="4732020" cy="915310"/>
      </dsp:txXfrm>
    </dsp:sp>
    <dsp:sp modelId="{0261671F-5219-409C-A88B-ED69002A30CA}">
      <dsp:nvSpPr>
        <dsp:cNvPr id="0" name=""/>
        <dsp:cNvSpPr/>
      </dsp:nvSpPr>
      <dsp:spPr>
        <a:xfrm>
          <a:off x="5789203" y="3434221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Many components </a:t>
          </a:r>
          <a:r>
            <a:rPr lang="en-AU" sz="1300" b="1" kern="1200" dirty="0"/>
            <a:t>are highly interactive / dynamic</a:t>
          </a:r>
          <a:endParaRPr lang="en-US" sz="1300" b="1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Typically – these require HTML, CSS &amp; JavaScript work to build on your own = covers knowledge gaps!</a:t>
          </a:r>
          <a:endParaRPr lang="en-US" sz="1300" kern="1200" dirty="0"/>
        </a:p>
      </dsp:txBody>
      <dsp:txXfrm>
        <a:off x="5789203" y="3434221"/>
        <a:ext cx="472639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678FC-DE36-3A4C-B67A-B18330738FA9}" type="datetimeFigureOut">
              <a:rPr lang="en-AU" smtClean="0"/>
              <a:t>29/4/2024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BCBF6-868D-304A-BC55-6CB13410CA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374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BCBF6-868D-304A-BC55-6CB13410CA1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64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BCBF6-868D-304A-BC55-6CB13410CA1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2968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7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8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1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2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8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79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9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0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0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4/29/24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1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getbootstrap.com/docs/5.3/getting-started/introduc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getbootstrap.com/docs/5.2/layout/gri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components/navs-tabs/" TargetMode="External"/><Relationship Id="rId2" Type="http://schemas.openxmlformats.org/officeDocument/2006/relationships/hyperlink" Target="https://getbootstrap.com/docs/5.2/components/navba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tiff"/><Relationship Id="rId4" Type="http://schemas.openxmlformats.org/officeDocument/2006/relationships/hyperlink" Target="https://getbootstrap.com/docs/5.2/layout/container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components/badge/" TargetMode="External"/><Relationship Id="rId2" Type="http://schemas.openxmlformats.org/officeDocument/2006/relationships/hyperlink" Target="https://getbootstrap.com/docs/5.2/components/alert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9.tiff"/><Relationship Id="rId4" Type="http://schemas.openxmlformats.org/officeDocument/2006/relationships/hyperlink" Target="https://getbootstrap.com/docs/5.2/components/button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forms/form-control/" TargetMode="External"/><Relationship Id="rId7" Type="http://schemas.openxmlformats.org/officeDocument/2006/relationships/image" Target="../media/image42.png"/><Relationship Id="rId2" Type="http://schemas.openxmlformats.org/officeDocument/2006/relationships/hyperlink" Target="https://getbootstrap.com/docs/5.2/forms/overview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tiff"/><Relationship Id="rId5" Type="http://schemas.openxmlformats.org/officeDocument/2006/relationships/hyperlink" Target="https://getbootstrap.com/docs/5.2/content/tables/" TargetMode="External"/><Relationship Id="rId4" Type="http://schemas.openxmlformats.org/officeDocument/2006/relationships/hyperlink" Target="https://getbootstrap.com/docs/5.2/forms/input-grou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4.0/components/jumbotron/" TargetMode="External"/><Relationship Id="rId2" Type="http://schemas.openxmlformats.org/officeDocument/2006/relationships/hyperlink" Target="https://getbootstrap.com/docs/5.2/components/carousel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9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hyperlink" Target="https://getbootstrap.com/docs/5.2/components/car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hyperlink" Target="https://getbootstrap.com/docs/5.2/components/accord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C8FC4-866B-70C3-0AA2-AD34B18DD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810623"/>
            <a:ext cx="5265182" cy="3570162"/>
          </a:xfrm>
        </p:spPr>
        <p:txBody>
          <a:bodyPr anchor="b">
            <a:normAutofit/>
          </a:bodyPr>
          <a:lstStyle/>
          <a:p>
            <a:pPr algn="l"/>
            <a:r>
              <a:rPr lang="en-AU" sz="4200" dirty="0">
                <a:solidFill>
                  <a:srgbClr val="6610F2"/>
                </a:solidFill>
              </a:rPr>
              <a:t>Bootstrap</a:t>
            </a:r>
            <a:endParaRPr lang="en-AU" sz="4000" dirty="0">
              <a:solidFill>
                <a:srgbClr val="6610F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1DB20-8C7F-6863-CE17-FFFC5608A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119" y="4547167"/>
            <a:ext cx="4894428" cy="128848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THE RESPONSIVE </a:t>
            </a:r>
          </a:p>
          <a:p>
            <a:pPr algn="l"/>
            <a:r>
              <a:rPr lang="en-AU" sz="2000" dirty="0"/>
              <a:t>UI LIBRARY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5617C9D-E6B1-4DD7-C7CE-82495453C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629" y="1153613"/>
            <a:ext cx="3899155" cy="2125039"/>
          </a:xfrm>
          <a:prstGeom prst="rect">
            <a:avLst/>
          </a:prstGeom>
        </p:spPr>
      </p:pic>
      <p:sp>
        <p:nvSpPr>
          <p:cNvPr id="21" name="Graphic 212">
            <a:extLst>
              <a:ext uri="{FF2B5EF4-FFF2-40B4-BE49-F238E27FC236}">
                <a16:creationId xmlns:a16="http://schemas.microsoft.com/office/drawing/2014/main" id="{A0569933-2A1F-487D-A657-990AFAC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41A44955-0622-4C9F-BFD2-55277314E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BF5730-CE16-498B-B11C-000E7F587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3284B67-6F50-4C2E-904F-005438145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CA160EE-0935-DC29-F1A3-6D01B87C7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629" y="3628523"/>
            <a:ext cx="3899155" cy="2125039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93506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932E9-0D12-409D-F3F2-53663538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713" y="3704750"/>
            <a:ext cx="3634674" cy="2017243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C131F-4D72-ACD6-0876-8CE40C1A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AU" dirty="0"/>
              <a:t>The Origins of </a:t>
            </a:r>
            <a:r>
              <a:rPr lang="en-AU" b="1" dirty="0">
                <a:solidFill>
                  <a:srgbClr val="6610F2"/>
                </a:solidFill>
              </a:rPr>
              <a:t>Bootstrap</a:t>
            </a:r>
          </a:p>
        </p:txBody>
      </p:sp>
      <p:grpSp>
        <p:nvGrpSpPr>
          <p:cNvPr id="61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62" name="Freeform: Shape 18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19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21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22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23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25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26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27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28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29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30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3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74" name="Freeform: Shape 33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4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5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36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7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8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40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41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42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43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44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45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71425-32AB-3352-E839-7C597CF9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AU" sz="2000" dirty="0"/>
              <a:t>Built in 2011 as </a:t>
            </a:r>
            <a:r>
              <a:rPr lang="en-AU" sz="2000" b="1" dirty="0"/>
              <a:t>“Twitter Blueprint” </a:t>
            </a:r>
            <a:r>
              <a:rPr lang="en-AU" sz="2000" dirty="0"/>
              <a:t>by Twitter devs, to serve as an </a:t>
            </a:r>
            <a:r>
              <a:rPr lang="en-AU" sz="2000" u="sng" dirty="0"/>
              <a:t>internal development tool to enforce design consistency</a:t>
            </a:r>
            <a:r>
              <a:rPr lang="en-AU" sz="2000" dirty="0"/>
              <a:t> for future UI of the platform</a:t>
            </a:r>
          </a:p>
          <a:p>
            <a:pPr>
              <a:lnSpc>
                <a:spcPct val="100000"/>
              </a:lnSpc>
            </a:pPr>
            <a:endParaRPr lang="en-AU" sz="2000" dirty="0"/>
          </a:p>
          <a:p>
            <a:pPr>
              <a:lnSpc>
                <a:spcPct val="100000"/>
              </a:lnSpc>
            </a:pPr>
            <a:r>
              <a:rPr lang="en-AU" sz="2000" dirty="0"/>
              <a:t>Launched officially as an </a:t>
            </a:r>
            <a:r>
              <a:rPr lang="en-AU" sz="2000" b="1" dirty="0"/>
              <a:t>open-source project later that year as “Twitter Bootstrap” </a:t>
            </a:r>
            <a:r>
              <a:rPr lang="en-AU" sz="2000" dirty="0"/>
              <a:t>- after a series of Hackathons developed it to Version 1.0</a:t>
            </a:r>
          </a:p>
          <a:p>
            <a:pPr>
              <a:lnSpc>
                <a:spcPct val="100000"/>
              </a:lnSpc>
            </a:pPr>
            <a:endParaRPr lang="en-AU" sz="2000" dirty="0"/>
          </a:p>
          <a:p>
            <a:pPr>
              <a:lnSpc>
                <a:spcPct val="100000"/>
              </a:lnSpc>
            </a:pPr>
            <a:r>
              <a:rPr lang="en-AU" sz="2000" b="1" dirty="0"/>
              <a:t>Now up to Version 5.0+</a:t>
            </a:r>
            <a:r>
              <a:rPr lang="en-AU" sz="2000" dirty="0"/>
              <a:t>,</a:t>
            </a:r>
            <a:r>
              <a:rPr lang="en-AU" sz="2000" b="1" dirty="0"/>
              <a:t> </a:t>
            </a:r>
            <a:r>
              <a:rPr lang="en-AU" sz="2000" dirty="0"/>
              <a:t>this version &amp; prior Version 4.0 saw the biggest leaps, where its internal code was significantly altered to modernise the UI framework into the future</a:t>
            </a:r>
          </a:p>
        </p:txBody>
      </p:sp>
    </p:spTree>
    <p:extLst>
      <p:ext uri="{BB962C8B-B14F-4D97-AF65-F5344CB8AC3E}">
        <p14:creationId xmlns:p14="http://schemas.microsoft.com/office/powerpoint/2010/main" val="405664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63EE-6CB0-AC5E-760C-2D01F73B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39579" cy="1325563"/>
          </a:xfrm>
        </p:spPr>
        <p:txBody>
          <a:bodyPr>
            <a:normAutofit/>
          </a:bodyPr>
          <a:lstStyle/>
          <a:p>
            <a:r>
              <a:rPr lang="en-AU" sz="4000" dirty="0"/>
              <a:t>The </a:t>
            </a:r>
            <a:r>
              <a:rPr lang="en-AU" sz="4000" b="1" dirty="0"/>
              <a:t>“</a:t>
            </a:r>
            <a:r>
              <a:rPr lang="en-AU" sz="4000" b="1" dirty="0" err="1"/>
              <a:t>Whats</a:t>
            </a:r>
            <a:r>
              <a:rPr lang="en-AU" sz="4000" b="1" dirty="0"/>
              <a:t>”</a:t>
            </a:r>
            <a:r>
              <a:rPr lang="en-AU" sz="4000" dirty="0"/>
              <a:t> of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6B5B2-AA86-7293-903D-96F05B893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9579" cy="4351338"/>
          </a:xfrm>
        </p:spPr>
        <p:txBody>
          <a:bodyPr>
            <a:normAutofit fontScale="62500" lnSpcReduction="20000"/>
          </a:bodyPr>
          <a:lstStyle/>
          <a:p>
            <a:r>
              <a:rPr lang="en-AU" b="1" dirty="0"/>
              <a:t>What is a “Component Library/UI Kit”?</a:t>
            </a:r>
          </a:p>
          <a:p>
            <a:pPr lvl="1"/>
            <a:r>
              <a:rPr lang="en-AU" dirty="0"/>
              <a:t>A collection of </a:t>
            </a:r>
            <a:r>
              <a:rPr lang="en-AU" u="sng" dirty="0"/>
              <a:t>pre-designed &amp; pre-built UI elements</a:t>
            </a:r>
            <a:r>
              <a:rPr lang="en-AU" dirty="0"/>
              <a:t>, such as designed buttons, content-boxes, navigational features and other visual elements</a:t>
            </a:r>
          </a:p>
          <a:p>
            <a:endParaRPr lang="en-AU" b="1" dirty="0"/>
          </a:p>
          <a:p>
            <a:r>
              <a:rPr lang="en-AU" b="1" dirty="0"/>
              <a:t>What is a “responsive framework”?</a:t>
            </a:r>
          </a:p>
          <a:p>
            <a:pPr lvl="1"/>
            <a:r>
              <a:rPr lang="en-AU" dirty="0"/>
              <a:t>A CSS framework built with a </a:t>
            </a:r>
            <a:r>
              <a:rPr lang="en-AU" u="sng" dirty="0"/>
              <a:t>mobile-first &amp; accessibility approach</a:t>
            </a:r>
            <a:r>
              <a:rPr lang="en-AU" dirty="0"/>
              <a:t> to enable building websites that works well across all browsers &amp; devices</a:t>
            </a:r>
          </a:p>
          <a:p>
            <a:endParaRPr lang="en-AU" b="1" dirty="0"/>
          </a:p>
          <a:p>
            <a:r>
              <a:rPr lang="en-AU" b="1" dirty="0"/>
              <a:t>How is Bootstrap </a:t>
            </a:r>
            <a:r>
              <a:rPr lang="en-AU" b="1" u="sng" dirty="0"/>
              <a:t>both</a:t>
            </a:r>
            <a:r>
              <a:rPr lang="en-AU" b="1" dirty="0"/>
              <a:t> of these things?</a:t>
            </a:r>
          </a:p>
          <a:p>
            <a:pPr lvl="1"/>
            <a:r>
              <a:rPr lang="en-AU" dirty="0"/>
              <a:t>Bootstrap has </a:t>
            </a:r>
            <a:r>
              <a:rPr lang="en-AU" u="sng" dirty="0"/>
              <a:t>embedded at its core</a:t>
            </a:r>
            <a:r>
              <a:rPr lang="en-AU" dirty="0"/>
              <a:t>, a philosophy of mobile-first for each component through use of grid, media queries &amp; utilities</a:t>
            </a:r>
          </a:p>
          <a:p>
            <a:pPr lvl="1"/>
            <a:r>
              <a:rPr lang="en-AU" i="1" dirty="0"/>
              <a:t>Makes sense, as its first-use platform was Twitter – which is typically consumed via mobile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25FC2C9-7E77-BB93-6BCF-D63AF09008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17" r="9870"/>
          <a:stretch/>
        </p:blipFill>
        <p:spPr>
          <a:xfrm>
            <a:off x="8312400" y="0"/>
            <a:ext cx="3879599" cy="6858000"/>
          </a:xfrm>
          <a:prstGeom prst="rect">
            <a:avLst/>
          </a:prstGeom>
        </p:spPr>
      </p:pic>
      <p:sp>
        <p:nvSpPr>
          <p:cNvPr id="51" name="Rectangle">
            <a:extLst>
              <a:ext uri="{FF2B5EF4-FFF2-40B4-BE49-F238E27FC236}">
                <a16:creationId xmlns:a16="http://schemas.microsoft.com/office/drawing/2014/main" id="{A8AB443B-78A5-0FEE-3FF1-E9142CF270F2}"/>
              </a:ext>
            </a:extLst>
          </p:cNvPr>
          <p:cNvSpPr/>
          <p:nvPr/>
        </p:nvSpPr>
        <p:spPr>
          <a:xfrm>
            <a:off x="8312400" y="-8568"/>
            <a:ext cx="3879600" cy="686656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FB79B90-9724-E37C-8C68-D4650FFE2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7499" y="2629614"/>
            <a:ext cx="2006301" cy="15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7FCB-FDEC-402D-0A4E-A99322CD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Core Uses of </a:t>
            </a:r>
            <a:r>
              <a:rPr lang="en-AU" b="1" dirty="0">
                <a:solidFill>
                  <a:srgbClr val="6610F2"/>
                </a:solidFill>
              </a:rPr>
              <a:t>Bootstrap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ADEA84-779A-7AE7-31DD-485E5C8CF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0988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566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CF2D-065D-D2EE-46A8-E52D8BBF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799729" cy="1325563"/>
          </a:xfrm>
        </p:spPr>
        <p:txBody>
          <a:bodyPr>
            <a:normAutofit/>
          </a:bodyPr>
          <a:lstStyle/>
          <a:p>
            <a:r>
              <a:rPr lang="en-AU" sz="4000" dirty="0"/>
              <a:t>The Main Draw of </a:t>
            </a:r>
            <a:r>
              <a:rPr lang="en-AU" sz="4000" b="1" dirty="0">
                <a:solidFill>
                  <a:srgbClr val="6610F2"/>
                </a:solidFill>
              </a:rPr>
              <a:t>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409E-672D-4456-3BCE-3E492678A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9972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2400" b="1" dirty="0"/>
              <a:t>Bootstrap is still </a:t>
            </a:r>
            <a:r>
              <a:rPr lang="en-AU" sz="2400" b="1" u="sng" dirty="0">
                <a:solidFill>
                  <a:srgbClr val="6610F2"/>
                </a:solidFill>
              </a:rPr>
              <a:t>KING</a:t>
            </a:r>
            <a:r>
              <a:rPr lang="en-AU" sz="2400" b="1" dirty="0"/>
              <a:t> due to </a:t>
            </a:r>
            <a:r>
              <a:rPr lang="en-AU" sz="2400" b="1" u="sng" dirty="0"/>
              <a:t>ease of use</a:t>
            </a:r>
          </a:p>
          <a:p>
            <a:endParaRPr lang="en-AU" sz="2000" dirty="0"/>
          </a:p>
          <a:p>
            <a:r>
              <a:rPr lang="en-AU" sz="2000" u="sng" dirty="0"/>
              <a:t>Low barriers</a:t>
            </a:r>
            <a:r>
              <a:rPr lang="en-AU" sz="2000" dirty="0"/>
              <a:t> to using – for those learning HTML &amp; CSS</a:t>
            </a:r>
          </a:p>
          <a:p>
            <a:endParaRPr lang="en-AU" sz="2000" u="sng" dirty="0"/>
          </a:p>
          <a:p>
            <a:r>
              <a:rPr lang="en-AU" sz="2000" u="sng" dirty="0"/>
              <a:t>Small but steep</a:t>
            </a:r>
            <a:r>
              <a:rPr lang="en-AU" sz="2000" dirty="0"/>
              <a:t> initial learning curve – which are often dealt with after completing 1 or 2 Bootstrap projects</a:t>
            </a:r>
          </a:p>
          <a:p>
            <a:endParaRPr lang="en-AU" sz="2000" dirty="0"/>
          </a:p>
          <a:p>
            <a:r>
              <a:rPr lang="en-AU" sz="2000" dirty="0"/>
              <a:t>It has excellent &amp; clear documentation – especially the “components” section</a:t>
            </a:r>
          </a:p>
          <a:p>
            <a:endParaRPr lang="en-AU" sz="2000" dirty="0"/>
          </a:p>
          <a:p>
            <a:r>
              <a:rPr lang="en-AU" sz="2000" dirty="0"/>
              <a:t>Components come in-built with accessible/mobile-rich markup &amp; styling = can ignore these aspects until ready</a:t>
            </a:r>
          </a:p>
        </p:txBody>
      </p:sp>
      <p:pic>
        <p:nvPicPr>
          <p:cNvPr id="5" name="Picture Placeholder 11">
            <a:extLst>
              <a:ext uri="{FF2B5EF4-FFF2-40B4-BE49-F238E27FC236}">
                <a16:creationId xmlns:a16="http://schemas.microsoft.com/office/drawing/2014/main" id="{F2E53CE0-5AB7-815C-7696-A66A376B03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0" r="16733"/>
          <a:stretch/>
        </p:blipFill>
        <p:spPr>
          <a:xfrm>
            <a:off x="8312399" y="0"/>
            <a:ext cx="3879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F4CE9-B943-FB18-BD76-C31BCAF8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199"/>
            <a:ext cx="10515600" cy="863748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/>
              <a:t>CSS Framework Landscape in ‘24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4EDD9-F226-8F39-5D1F-5F9F1094D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276" y="1112923"/>
            <a:ext cx="1067927" cy="1067927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179B6E1B-6A1F-870D-FA11-E3D88C577AB5}"/>
              </a:ext>
            </a:extLst>
          </p:cNvPr>
          <p:cNvSpPr txBox="1"/>
          <p:nvPr/>
        </p:nvSpPr>
        <p:spPr>
          <a:xfrm>
            <a:off x="6039193" y="2190097"/>
            <a:ext cx="47609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b="1" dirty="0"/>
              <a:t>CSS3</a:t>
            </a:r>
            <a:endParaRPr b="1" dirty="0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4C661CF1-AFD9-9F4A-15EA-2D9A001B6FDE}"/>
              </a:ext>
            </a:extLst>
          </p:cNvPr>
          <p:cNvSpPr txBox="1"/>
          <p:nvPr/>
        </p:nvSpPr>
        <p:spPr>
          <a:xfrm>
            <a:off x="5772139" y="2453861"/>
            <a:ext cx="1010199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Native Standard</a:t>
            </a:r>
            <a:endParaRPr dirty="0"/>
          </a:p>
        </p:txBody>
      </p:sp>
      <p:pic>
        <p:nvPicPr>
          <p:cNvPr id="8" name="bootstrap-stack.png" descr="bootstrap-stack.png">
            <a:extLst>
              <a:ext uri="{FF2B5EF4-FFF2-40B4-BE49-F238E27FC236}">
                <a16:creationId xmlns:a16="http://schemas.microsoft.com/office/drawing/2014/main" id="{1C6A0325-A955-6D7D-7A1E-C1E7CE421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67" y="3837357"/>
            <a:ext cx="1144975" cy="9616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88183C46-9224-5D38-FAA7-A091A0B37872}"/>
              </a:ext>
            </a:extLst>
          </p:cNvPr>
          <p:cNvSpPr/>
          <p:nvPr/>
        </p:nvSpPr>
        <p:spPr>
          <a:xfrm rot="5400000">
            <a:off x="5926084" y="-481988"/>
            <a:ext cx="656216" cy="7074735"/>
          </a:xfrm>
          <a:prstGeom prst="leftBrace">
            <a:avLst/>
          </a:prstGeom>
          <a:ln>
            <a:solidFill>
              <a:srgbClr val="0070C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24B1D-C360-A82C-745B-8563448E3676}"/>
              </a:ext>
            </a:extLst>
          </p:cNvPr>
          <p:cNvSpPr txBox="1"/>
          <p:nvPr/>
        </p:nvSpPr>
        <p:spPr>
          <a:xfrm>
            <a:off x="5954232" y="3455618"/>
            <a:ext cx="64601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b="1" dirty="0"/>
              <a:t>CSS ++</a:t>
            </a:r>
            <a:endParaRPr b="1"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E621DAD-59E3-8C1B-6D0D-1323D11EBF77}"/>
              </a:ext>
            </a:extLst>
          </p:cNvPr>
          <p:cNvSpPr txBox="1"/>
          <p:nvPr/>
        </p:nvSpPr>
        <p:spPr>
          <a:xfrm>
            <a:off x="1992837" y="3468126"/>
            <a:ext cx="1407437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b="1" dirty="0"/>
              <a:t>Style Systems</a:t>
            </a:r>
            <a:endParaRPr b="1" dirty="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947BC4D-B406-0860-A2C2-3220924F5424}"/>
              </a:ext>
            </a:extLst>
          </p:cNvPr>
          <p:cNvSpPr txBox="1"/>
          <p:nvPr/>
        </p:nvSpPr>
        <p:spPr>
          <a:xfrm>
            <a:off x="8603712" y="3451440"/>
            <a:ext cx="2008563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b="1" dirty="0"/>
              <a:t>Behaviour Libraries</a:t>
            </a:r>
            <a:endParaRPr b="1" dirty="0"/>
          </a:p>
        </p:txBody>
      </p:sp>
      <p:pic>
        <p:nvPicPr>
          <p:cNvPr id="13" name="Picture 12" descr="GitHub - styled-components/styled-components: Visual primitives for the  component age. Use the best bits of ES6 and CSS to style your apps without  stress 💅">
            <a:extLst>
              <a:ext uri="{FF2B5EF4-FFF2-40B4-BE49-F238E27FC236}">
                <a16:creationId xmlns:a16="http://schemas.microsoft.com/office/drawing/2014/main" id="{17E6BA7F-5CD9-B592-70ED-8C6BE12E1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338" y="3817047"/>
            <a:ext cx="735085" cy="73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MUI Logo PNG Vector (PDF) Free Download">
            <a:extLst>
              <a:ext uri="{FF2B5EF4-FFF2-40B4-BE49-F238E27FC236}">
                <a16:creationId xmlns:a16="http://schemas.microsoft.com/office/drawing/2014/main" id="{FA8D09A9-3040-1193-4FC9-AD13B484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672" y="4877096"/>
            <a:ext cx="742744" cy="64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Markdownify">
            <a:extLst>
              <a:ext uri="{FF2B5EF4-FFF2-40B4-BE49-F238E27FC236}">
                <a16:creationId xmlns:a16="http://schemas.microsoft.com/office/drawing/2014/main" id="{7321C59B-4081-7893-13DB-C00672EFA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568" y="5690691"/>
            <a:ext cx="742744" cy="74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Ant Design Logo PNG Vector (SVG) Free Download">
            <a:extLst>
              <a:ext uri="{FF2B5EF4-FFF2-40B4-BE49-F238E27FC236}">
                <a16:creationId xmlns:a16="http://schemas.microsoft.com/office/drawing/2014/main" id="{A62D4199-5DEC-A72C-7AD8-EB0F55EC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676" y="4798957"/>
            <a:ext cx="746865" cy="74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Mantine Logo PNG Vectors Free Download">
            <a:extLst>
              <a:ext uri="{FF2B5EF4-FFF2-40B4-BE49-F238E27FC236}">
                <a16:creationId xmlns:a16="http://schemas.microsoft.com/office/drawing/2014/main" id="{1A47C607-7855-4A27-8368-18F228160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793" y="5690691"/>
            <a:ext cx="744375" cy="74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" descr="Free Sass Logo Icon - Download in Gradient Style">
            <a:extLst>
              <a:ext uri="{FF2B5EF4-FFF2-40B4-BE49-F238E27FC236}">
                <a16:creationId xmlns:a16="http://schemas.microsoft.com/office/drawing/2014/main" id="{56F3DDA4-8D3B-4DB5-9D88-C56A29679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468" y="3805178"/>
            <a:ext cx="853420" cy="85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527C50-A343-52C6-7071-856D57BBF9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162" y="3919111"/>
            <a:ext cx="997447" cy="598136"/>
          </a:xfrm>
          <a:prstGeom prst="rect">
            <a:avLst/>
          </a:prstGeom>
        </p:spPr>
      </p:pic>
      <p:pic>
        <p:nvPicPr>
          <p:cNvPr id="20" name="Picture 18" descr="vanilla-extract-css · GitHub">
            <a:extLst>
              <a:ext uri="{FF2B5EF4-FFF2-40B4-BE49-F238E27FC236}">
                <a16:creationId xmlns:a16="http://schemas.microsoft.com/office/drawing/2014/main" id="{1FB8125A-335A-6C8B-5C76-7C79E36D4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78" y="5569688"/>
            <a:ext cx="863747" cy="86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CSS in JS | Best of JS">
            <a:extLst>
              <a:ext uri="{FF2B5EF4-FFF2-40B4-BE49-F238E27FC236}">
                <a16:creationId xmlns:a16="http://schemas.microsoft.com/office/drawing/2014/main" id="{FF3F6C13-0555-81AF-B276-E61F5AAF0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896" y="4717418"/>
            <a:ext cx="723423" cy="72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2" descr="GitHub - emotion-js/emotion: 👩‍🎤 CSS-in-JS library designed for high  performance style composition">
            <a:extLst>
              <a:ext uri="{FF2B5EF4-FFF2-40B4-BE49-F238E27FC236}">
                <a16:creationId xmlns:a16="http://schemas.microsoft.com/office/drawing/2014/main" id="{D068D632-4E1F-D60D-EEA7-24B25158D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642" y="4717418"/>
            <a:ext cx="742744" cy="74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4" descr="Linaria | Best of JS">
            <a:extLst>
              <a:ext uri="{FF2B5EF4-FFF2-40B4-BE49-F238E27FC236}">
                <a16:creationId xmlns:a16="http://schemas.microsoft.com/office/drawing/2014/main" id="{8AF5776A-637F-63C3-5202-082DA64D7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10" y="5641012"/>
            <a:ext cx="837994" cy="73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6" descr="Radix (@radix_ui) / Twitter">
            <a:extLst>
              <a:ext uri="{FF2B5EF4-FFF2-40B4-BE49-F238E27FC236}">
                <a16:creationId xmlns:a16="http://schemas.microsoft.com/office/drawing/2014/main" id="{15076464-5774-2CC7-91C6-02A96666E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511" y="3966570"/>
            <a:ext cx="863748" cy="86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13B5F30-5BDB-A515-A2CF-0C53BD247A9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48527" y="3963805"/>
            <a:ext cx="863748" cy="86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1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8B6129B-1882-D352-A8A8-276DC33F43DE}"/>
              </a:ext>
            </a:extLst>
          </p:cNvPr>
          <p:cNvSpPr txBox="1">
            <a:spLocks/>
          </p:cNvSpPr>
          <p:nvPr/>
        </p:nvSpPr>
        <p:spPr>
          <a:xfrm>
            <a:off x="758652" y="823755"/>
            <a:ext cx="3133581" cy="2489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hangingPunct="1"/>
            <a:r>
              <a:rPr lang="en-US" sz="3800" dirty="0">
                <a:solidFill>
                  <a:srgbClr val="FFF6E6"/>
                </a:solidFill>
                <a:latin typeface="Montserrat" pitchFamily="2" charset="77"/>
              </a:rPr>
              <a:t>Responsive Frameworks &amp; </a:t>
            </a:r>
          </a:p>
          <a:p>
            <a:pPr hangingPunct="1"/>
            <a:r>
              <a:rPr lang="en-US" sz="3800" dirty="0">
                <a:solidFill>
                  <a:srgbClr val="FFF6E6"/>
                </a:solidFill>
                <a:latin typeface="Montserrat" pitchFamily="2" charset="77"/>
              </a:rPr>
              <a:t>UI Libraries:</a:t>
            </a:r>
          </a:p>
          <a:p>
            <a:pPr hangingPunct="1"/>
            <a:endParaRPr lang="en-US" sz="3800" dirty="0">
              <a:solidFill>
                <a:srgbClr val="FFF6E6"/>
              </a:solidFill>
              <a:latin typeface="Montserrat" pitchFamily="2" charset="77"/>
            </a:endParaRPr>
          </a:p>
          <a:p>
            <a:pPr hangingPunct="1"/>
            <a:r>
              <a:rPr lang="en-US" sz="3800" dirty="0">
                <a:solidFill>
                  <a:srgbClr val="FFF6E6"/>
                </a:solidFill>
                <a:latin typeface="Montserrat" pitchFamily="2" charset="77"/>
              </a:rPr>
              <a:t>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0C37F6-AEB8-2223-2019-2BEFF03A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733" y="592045"/>
            <a:ext cx="7466111" cy="54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6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37FF-67D2-4E81-E1F6-2BD28ED6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28821" cy="1325563"/>
          </a:xfrm>
        </p:spPr>
        <p:txBody>
          <a:bodyPr>
            <a:normAutofit/>
          </a:bodyPr>
          <a:lstStyle/>
          <a:p>
            <a:r>
              <a:rPr lang="en-AU" sz="4000" dirty="0"/>
              <a:t>Dev Struggles with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9992-1A33-FBD7-A773-FBEF0E03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8821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b="1" dirty="0"/>
              <a:t>1.  Customised Styling rigidity</a:t>
            </a:r>
          </a:p>
          <a:p>
            <a:pPr lvl="1"/>
            <a:r>
              <a:rPr lang="en-AU" dirty="0"/>
              <a:t>Bootstrap is known as an </a:t>
            </a:r>
            <a:r>
              <a:rPr lang="en-AU" i="1" u="sng" dirty="0"/>
              <a:t>opinionated</a:t>
            </a:r>
            <a:r>
              <a:rPr lang="en-AU" dirty="0"/>
              <a:t> </a:t>
            </a:r>
            <a:r>
              <a:rPr lang="en-AU" i="1" dirty="0"/>
              <a:t>framework</a:t>
            </a:r>
          </a:p>
          <a:p>
            <a:pPr lvl="1"/>
            <a:r>
              <a:rPr lang="en-AU" dirty="0"/>
              <a:t>“Opinionation” typically means the chosen framework has made more decisions for you, and is stubborn in those choices</a:t>
            </a:r>
          </a:p>
          <a:p>
            <a:pPr lvl="1"/>
            <a:r>
              <a:rPr lang="en-AU" dirty="0"/>
              <a:t>Developers have been dissatisfied with Bootstrap, with difficulties in overwriting its default styling</a:t>
            </a:r>
          </a:p>
          <a:p>
            <a:pPr lvl="1"/>
            <a:r>
              <a:rPr lang="en-AU" b="1" dirty="0"/>
              <a:t>Example:</a:t>
            </a:r>
            <a:r>
              <a:rPr lang="en-AU" dirty="0"/>
              <a:t> Most of Bootstrap classes are declared at class level, but often, has </a:t>
            </a:r>
            <a:r>
              <a:rPr lang="en-AU" u="sng" dirty="0"/>
              <a:t>layered “!important” values in parts of its stylesheet </a:t>
            </a:r>
            <a:r>
              <a:rPr lang="en-AU" dirty="0"/>
              <a:t>which prevents higher specificity declarations replacing these styles</a:t>
            </a:r>
          </a:p>
          <a:p>
            <a:pPr lvl="1"/>
            <a:endParaRPr lang="en-AU" b="1" dirty="0"/>
          </a:p>
          <a:p>
            <a:pPr marL="0" indent="0">
              <a:buNone/>
            </a:pPr>
            <a:r>
              <a:rPr lang="en-AU" b="1" dirty="0"/>
              <a:t>2.  UI Monotony </a:t>
            </a:r>
          </a:p>
          <a:p>
            <a:pPr lvl="1"/>
            <a:r>
              <a:rPr lang="en-AU" dirty="0"/>
              <a:t>Bootstrap is one of the </a:t>
            </a:r>
            <a:r>
              <a:rPr lang="en-AU" u="sng" dirty="0"/>
              <a:t>most common UI frameworks</a:t>
            </a:r>
            <a:r>
              <a:rPr lang="en-AU" dirty="0"/>
              <a:t> between new devs &amp; industry</a:t>
            </a:r>
          </a:p>
          <a:p>
            <a:pPr lvl="1"/>
            <a:r>
              <a:rPr lang="en-AU" dirty="0"/>
              <a:t>Owing to this success + opinionation – websites built with default Bootstrap have become quite common</a:t>
            </a:r>
          </a:p>
          <a:p>
            <a:pPr lvl="1"/>
            <a:r>
              <a:rPr lang="en-AU" dirty="0"/>
              <a:t>Led to a phenomenon where Bootstrap—designed often look very similar to each other = feels quite bland (</a:t>
            </a:r>
            <a:r>
              <a:rPr lang="en-AU" i="1" dirty="0"/>
              <a:t>aka “</a:t>
            </a:r>
            <a:r>
              <a:rPr lang="en-AU" i="1" dirty="0" err="1"/>
              <a:t>Bootstrappy</a:t>
            </a:r>
            <a:r>
              <a:rPr lang="en-AU" i="1" dirty="0"/>
              <a:t> websites”)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58814476-4494-A621-A14E-4AB45AB45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0" r="9994"/>
          <a:stretch/>
        </p:blipFill>
        <p:spPr bwMode="auto">
          <a:xfrm>
            <a:off x="8312398" y="0"/>
            <a:ext cx="38796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21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3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CFAD09-F0C4-FEA7-971B-2EDD2714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147" y="810503"/>
            <a:ext cx="2059854" cy="149961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F6E6"/>
                </a:solidFill>
                <a:latin typeface="Montserrat" pitchFamily="2" charset="77"/>
              </a:rPr>
              <a:t>CSS </a:t>
            </a:r>
            <a:br>
              <a:rPr lang="en-US" sz="4000" b="1" dirty="0">
                <a:solidFill>
                  <a:srgbClr val="FFF6E6"/>
                </a:solidFill>
                <a:latin typeface="Montserrat" pitchFamily="2" charset="77"/>
              </a:rPr>
            </a:br>
            <a:r>
              <a:rPr lang="en-US" sz="4000" b="1" dirty="0">
                <a:solidFill>
                  <a:srgbClr val="FFF6E6"/>
                </a:solidFill>
                <a:latin typeface="Montserrat" pitchFamily="2" charset="77"/>
              </a:rPr>
              <a:t>General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D3BCAA-F74D-8D01-EFD7-E7488ADD1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600" y="223091"/>
            <a:ext cx="8116096" cy="6634909"/>
          </a:xfrm>
          <a:prstGeom prst="rect">
            <a:avLst/>
          </a:prstGeom>
        </p:spPr>
      </p:pic>
      <p:pic>
        <p:nvPicPr>
          <p:cNvPr id="7" name="Oval" descr="Oval">
            <a:extLst>
              <a:ext uri="{FF2B5EF4-FFF2-40B4-BE49-F238E27FC236}">
                <a16:creationId xmlns:a16="http://schemas.microsoft.com/office/drawing/2014/main" id="{39F8BA43-4317-E470-ACF9-99D373583E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09639" y="3846503"/>
            <a:ext cx="915274" cy="83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5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7494-2EDF-6B8F-DC9A-5B8019E4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6610F2"/>
                </a:solidFill>
              </a:rPr>
              <a:t>Bootstrap</a:t>
            </a:r>
            <a:r>
              <a:rPr lang="en-AU" dirty="0"/>
              <a:t>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06388-1C71-2481-EFE3-0957222B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400" dirty="0"/>
              <a:t>Open </a:t>
            </a:r>
            <a:r>
              <a:rPr lang="en-AU" sz="2400" b="1" dirty="0">
                <a:hlinkClick r:id="rId2"/>
              </a:rPr>
              <a:t>“Get Started”</a:t>
            </a:r>
            <a:r>
              <a:rPr lang="en-AU" sz="2400" b="1" dirty="0"/>
              <a:t> </a:t>
            </a:r>
            <a:r>
              <a:rPr lang="en-AU" sz="2400" dirty="0"/>
              <a:t>documentation in Browser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Ensure you are using the latest version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Insert the </a:t>
            </a:r>
            <a:r>
              <a:rPr lang="en-AU" sz="2400" b="1" dirty="0"/>
              <a:t>stylesheet link </a:t>
            </a:r>
            <a:r>
              <a:rPr lang="en-AU" sz="2400" dirty="0"/>
              <a:t>(via CDN) into the &lt;head&gt;</a:t>
            </a:r>
          </a:p>
          <a:p>
            <a:pPr marL="514350" indent="-514350">
              <a:buFont typeface="+mj-lt"/>
              <a:buAutoNum type="arabicPeriod"/>
            </a:pPr>
            <a:endParaRPr lang="en-AU" sz="2400" dirty="0"/>
          </a:p>
          <a:p>
            <a:pPr marL="514350" indent="-514350">
              <a:buFont typeface="+mj-lt"/>
              <a:buAutoNum type="arabicPeriod"/>
            </a:pPr>
            <a:endParaRPr lang="en-AU" sz="2400" dirty="0"/>
          </a:p>
          <a:p>
            <a:pPr marL="514350" indent="-514350">
              <a:buFont typeface="+mj-lt"/>
              <a:buAutoNum type="arabicPeriod"/>
            </a:pPr>
            <a:endParaRPr lang="en-AU" sz="2400" dirty="0"/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Insert the </a:t>
            </a:r>
            <a:r>
              <a:rPr lang="en-AU" sz="2400" b="1" dirty="0"/>
              <a:t>script</a:t>
            </a:r>
            <a:r>
              <a:rPr lang="en-AU" sz="2400" dirty="0"/>
              <a:t> (for interactive UI) at bottom of the &lt;body&gt;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AAACC-9A25-DF00-6FA5-E2377ED7C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764" y="3493544"/>
            <a:ext cx="7772400" cy="1376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730D5-FA2E-BA27-E888-E007E8AE6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764" y="5658466"/>
            <a:ext cx="7772400" cy="47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2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867F-6D48-C71D-9899-01FDD728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6610F2"/>
                </a:solidFill>
              </a:rPr>
              <a:t>Bootstrap</a:t>
            </a:r>
            <a:r>
              <a:rPr lang="en-AU" dirty="0"/>
              <a:t> Components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C084-FD0C-1C4B-1117-010BBDA37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r>
              <a:rPr lang="en-AU" dirty="0"/>
              <a:t>Accordion</a:t>
            </a:r>
          </a:p>
          <a:p>
            <a:r>
              <a:rPr lang="en-AU" dirty="0"/>
              <a:t>Alerts</a:t>
            </a:r>
          </a:p>
          <a:p>
            <a:r>
              <a:rPr lang="en-AU" dirty="0"/>
              <a:t>Badge</a:t>
            </a:r>
          </a:p>
          <a:p>
            <a:r>
              <a:rPr lang="en-AU" dirty="0"/>
              <a:t>Breadcrumb</a:t>
            </a:r>
          </a:p>
          <a:p>
            <a:r>
              <a:rPr lang="en-AU" dirty="0"/>
              <a:t>Buttons</a:t>
            </a:r>
          </a:p>
          <a:p>
            <a:r>
              <a:rPr lang="en-AU" dirty="0"/>
              <a:t>Card</a:t>
            </a:r>
          </a:p>
          <a:p>
            <a:r>
              <a:rPr lang="en-AU" dirty="0"/>
              <a:t>Carousel</a:t>
            </a:r>
          </a:p>
          <a:p>
            <a:r>
              <a:rPr lang="en-AU" dirty="0"/>
              <a:t>Collapse</a:t>
            </a:r>
          </a:p>
          <a:p>
            <a:r>
              <a:rPr lang="en-AU" dirty="0"/>
              <a:t>Form elements</a:t>
            </a:r>
          </a:p>
          <a:p>
            <a:r>
              <a:rPr lang="en-AU" dirty="0"/>
              <a:t>List groups</a:t>
            </a:r>
          </a:p>
          <a:p>
            <a:r>
              <a:rPr lang="en-AU" dirty="0"/>
              <a:t>Modal</a:t>
            </a:r>
          </a:p>
          <a:p>
            <a:r>
              <a:rPr lang="en-AU" dirty="0"/>
              <a:t>Navbar</a:t>
            </a:r>
          </a:p>
          <a:p>
            <a:r>
              <a:rPr lang="en-AU" dirty="0"/>
              <a:t>Offcanvas</a:t>
            </a:r>
          </a:p>
          <a:p>
            <a:r>
              <a:rPr lang="en-AU" dirty="0"/>
              <a:t>Pagination</a:t>
            </a:r>
          </a:p>
          <a:p>
            <a:r>
              <a:rPr lang="en-AU" dirty="0"/>
              <a:t>Placeholders</a:t>
            </a:r>
          </a:p>
          <a:p>
            <a:r>
              <a:rPr lang="en-AU" dirty="0"/>
              <a:t>Popovers</a:t>
            </a:r>
          </a:p>
          <a:p>
            <a:r>
              <a:rPr lang="en-AU" dirty="0"/>
              <a:t>Progress / Spinners</a:t>
            </a:r>
          </a:p>
          <a:p>
            <a:r>
              <a:rPr lang="en-AU" dirty="0" err="1"/>
              <a:t>Scrollspy</a:t>
            </a:r>
            <a:endParaRPr lang="en-AU" dirty="0"/>
          </a:p>
          <a:p>
            <a:r>
              <a:rPr lang="en-AU" dirty="0"/>
              <a:t>Tables</a:t>
            </a:r>
          </a:p>
          <a:p>
            <a:r>
              <a:rPr lang="en-AU" dirty="0"/>
              <a:t>Toasts</a:t>
            </a:r>
          </a:p>
          <a:p>
            <a:r>
              <a:rPr lang="en-AU" dirty="0"/>
              <a:t>Tooltips</a:t>
            </a:r>
          </a:p>
        </p:txBody>
      </p:sp>
    </p:spTree>
    <p:extLst>
      <p:ext uri="{BB962C8B-B14F-4D97-AF65-F5344CB8AC3E}">
        <p14:creationId xmlns:p14="http://schemas.microsoft.com/office/powerpoint/2010/main" val="98044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875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875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875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D7E1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D7E1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354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3511-5A63-474F-6F4B-58119BAB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6610F2"/>
                </a:solidFill>
              </a:rPr>
              <a:t>Bootstrap</a:t>
            </a:r>
            <a:r>
              <a:rPr lang="en-AU" dirty="0"/>
              <a:t> Class Utilities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0700B-439A-8F7E-A452-9CB94AEA9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en-AU" sz="1900" dirty="0"/>
              <a:t>Background colours (</a:t>
            </a:r>
            <a:r>
              <a:rPr lang="en-AU" sz="1900" b="1" dirty="0" err="1"/>
              <a:t>bg</a:t>
            </a:r>
            <a:r>
              <a:rPr lang="en-AU" sz="1900" b="1" dirty="0"/>
              <a:t>-#</a:t>
            </a:r>
            <a:r>
              <a:rPr lang="en-AU" sz="1900" dirty="0"/>
              <a:t>)</a:t>
            </a:r>
          </a:p>
          <a:p>
            <a:r>
              <a:rPr lang="en-AU" sz="1900" dirty="0"/>
              <a:t>Borders (</a:t>
            </a:r>
            <a:r>
              <a:rPr lang="en-AU" sz="1900" b="1" dirty="0"/>
              <a:t>border-#</a:t>
            </a:r>
            <a:r>
              <a:rPr lang="en-AU" sz="1900" dirty="0"/>
              <a:t>)</a:t>
            </a:r>
          </a:p>
          <a:p>
            <a:r>
              <a:rPr lang="en-AU" sz="1900" dirty="0"/>
              <a:t>Colours (</a:t>
            </a:r>
            <a:r>
              <a:rPr lang="en-AU" sz="1900" b="1" dirty="0"/>
              <a:t>text-#</a:t>
            </a:r>
            <a:r>
              <a:rPr lang="en-AU" sz="1900" dirty="0"/>
              <a:t>)</a:t>
            </a:r>
          </a:p>
          <a:p>
            <a:r>
              <a:rPr lang="en-AU" sz="1900" dirty="0"/>
              <a:t>Display (</a:t>
            </a:r>
            <a:r>
              <a:rPr lang="en-AU" sz="1900" b="1" dirty="0"/>
              <a:t>d-#</a:t>
            </a:r>
            <a:r>
              <a:rPr lang="en-AU" sz="1900" dirty="0"/>
              <a:t>)</a:t>
            </a:r>
          </a:p>
          <a:p>
            <a:r>
              <a:rPr lang="en-AU" sz="1900" dirty="0"/>
              <a:t>Flex (</a:t>
            </a:r>
            <a:r>
              <a:rPr lang="en-AU" sz="1900" b="1" dirty="0"/>
              <a:t>flex-#</a:t>
            </a:r>
            <a:r>
              <a:rPr lang="en-AU" sz="1900" dirty="0"/>
              <a:t>)</a:t>
            </a:r>
          </a:p>
          <a:p>
            <a:r>
              <a:rPr lang="en-AU" sz="1900" dirty="0"/>
              <a:t>Interactions (</a:t>
            </a:r>
            <a:r>
              <a:rPr lang="en-AU" sz="1900" b="1" dirty="0"/>
              <a:t>pe-#</a:t>
            </a:r>
            <a:r>
              <a:rPr lang="en-AU" sz="1900" dirty="0"/>
              <a:t>)</a:t>
            </a:r>
          </a:p>
          <a:p>
            <a:r>
              <a:rPr lang="en-AU" sz="1900" dirty="0"/>
              <a:t>Margin (</a:t>
            </a:r>
            <a:r>
              <a:rPr lang="en-AU" sz="1900" b="1" dirty="0"/>
              <a:t>m#-#</a:t>
            </a:r>
            <a:r>
              <a:rPr lang="en-AU" sz="1900" dirty="0"/>
              <a:t>)</a:t>
            </a:r>
          </a:p>
          <a:p>
            <a:r>
              <a:rPr lang="en-AU" sz="1900" dirty="0"/>
              <a:t>Padding (</a:t>
            </a:r>
            <a:r>
              <a:rPr lang="en-AU" sz="1900" b="1" dirty="0"/>
              <a:t>p#-#</a:t>
            </a:r>
            <a:r>
              <a:rPr lang="en-AU" sz="1900" dirty="0"/>
              <a:t>)</a:t>
            </a:r>
          </a:p>
          <a:p>
            <a:r>
              <a:rPr lang="en-AU" sz="1900" dirty="0"/>
              <a:t>Object fit (</a:t>
            </a:r>
            <a:r>
              <a:rPr lang="en-AU" sz="1900" b="1" dirty="0"/>
              <a:t>object-fit-#</a:t>
            </a:r>
            <a:r>
              <a:rPr lang="en-AU" sz="1900" dirty="0"/>
              <a:t>)</a:t>
            </a:r>
          </a:p>
          <a:p>
            <a:r>
              <a:rPr lang="en-AU" sz="1900" dirty="0"/>
              <a:t>Opacity (</a:t>
            </a:r>
            <a:r>
              <a:rPr lang="en-AU" sz="1900" b="1" dirty="0"/>
              <a:t>opacity-#</a:t>
            </a:r>
            <a:r>
              <a:rPr lang="en-AU" sz="1900" dirty="0"/>
              <a:t>)</a:t>
            </a:r>
          </a:p>
          <a:p>
            <a:r>
              <a:rPr lang="en-AU" sz="1900" dirty="0"/>
              <a:t>Overflow (</a:t>
            </a:r>
            <a:r>
              <a:rPr lang="en-AU" sz="1900" b="1" dirty="0"/>
              <a:t>overflow-#</a:t>
            </a:r>
            <a:r>
              <a:rPr lang="en-AU" sz="1900" dirty="0"/>
              <a:t>)</a:t>
            </a:r>
          </a:p>
          <a:p>
            <a:r>
              <a:rPr lang="en-AU" sz="1900" dirty="0"/>
              <a:t>Position (</a:t>
            </a:r>
            <a:r>
              <a:rPr lang="en-AU" sz="1900" b="1" dirty="0"/>
              <a:t>position-#</a:t>
            </a:r>
            <a:r>
              <a:rPr lang="en-AU" sz="1900" dirty="0"/>
              <a:t>)</a:t>
            </a:r>
          </a:p>
          <a:p>
            <a:r>
              <a:rPr lang="en-AU" sz="1900" dirty="0"/>
              <a:t>Shadows (</a:t>
            </a:r>
            <a:r>
              <a:rPr lang="en-AU" sz="1900" b="1" dirty="0"/>
              <a:t>shadow-#</a:t>
            </a:r>
            <a:r>
              <a:rPr lang="en-AU" sz="1900" dirty="0"/>
              <a:t>)</a:t>
            </a:r>
          </a:p>
          <a:p>
            <a:r>
              <a:rPr lang="en-AU" sz="1900" dirty="0"/>
              <a:t>Sizing (</a:t>
            </a:r>
            <a:r>
              <a:rPr lang="en-AU" sz="1900" b="1" dirty="0"/>
              <a:t>w-#</a:t>
            </a:r>
            <a:r>
              <a:rPr lang="en-AU" sz="1900" dirty="0"/>
              <a:t> / </a:t>
            </a:r>
            <a:r>
              <a:rPr lang="en-AU" sz="1900" b="1" dirty="0"/>
              <a:t>h-#</a:t>
            </a:r>
            <a:r>
              <a:rPr lang="en-AU" sz="1900" dirty="0"/>
              <a:t>)</a:t>
            </a:r>
          </a:p>
          <a:p>
            <a:r>
              <a:rPr lang="en-AU" sz="1900" dirty="0"/>
              <a:t>Text align (</a:t>
            </a:r>
            <a:r>
              <a:rPr lang="en-AU" sz="1900" b="1" dirty="0"/>
              <a:t>text-#</a:t>
            </a:r>
            <a:r>
              <a:rPr lang="en-AU" sz="1900" dirty="0"/>
              <a:t>)</a:t>
            </a:r>
          </a:p>
          <a:p>
            <a:r>
              <a:rPr lang="en-AU" sz="1900" dirty="0"/>
              <a:t>Vertical align (</a:t>
            </a:r>
            <a:r>
              <a:rPr lang="en-AU" sz="1900" b="1" dirty="0"/>
              <a:t>align-#</a:t>
            </a:r>
            <a:r>
              <a:rPr lang="en-AU" sz="1900" dirty="0"/>
              <a:t>)</a:t>
            </a:r>
          </a:p>
          <a:p>
            <a:r>
              <a:rPr lang="en-AU" sz="1900" dirty="0"/>
              <a:t>Visibility (</a:t>
            </a:r>
            <a:r>
              <a:rPr lang="en-AU" sz="1900" b="1" dirty="0"/>
              <a:t>visible</a:t>
            </a:r>
            <a:r>
              <a:rPr lang="en-AU" sz="1900" dirty="0"/>
              <a:t> / </a:t>
            </a:r>
            <a:r>
              <a:rPr lang="en-AU" sz="1900" b="1" dirty="0"/>
              <a:t>invisible</a:t>
            </a:r>
            <a:r>
              <a:rPr lang="en-AU" sz="1900" dirty="0"/>
              <a:t>)</a:t>
            </a:r>
          </a:p>
          <a:p>
            <a:r>
              <a:rPr lang="en-AU" sz="1900" dirty="0"/>
              <a:t>Z-index (</a:t>
            </a:r>
            <a:r>
              <a:rPr lang="en-AU" sz="1900" b="1" dirty="0"/>
              <a:t>z-#</a:t>
            </a:r>
            <a:r>
              <a:rPr lang="en-AU" sz="19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60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10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354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354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354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reeform: Shape 1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6" name="Freeform: Shape 19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7" name="Freeform: Shape 2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23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25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60" name="Freeform: Shape 27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61" name="Freeform: Shape 29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Freeform: Shape 31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9AA4A-12E7-B3EF-3DE6-258B1640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65" y="1159934"/>
            <a:ext cx="6418471" cy="3028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cap="all" spc="1500" baseline="0" dirty="0">
                <a:solidFill>
                  <a:srgbClr val="6610F2"/>
                </a:solidFill>
                <a:latin typeface="+mj-lt"/>
                <a:ea typeface="Source Sans Pro SemiBold" panose="020B0603030403020204" pitchFamily="34" charset="0"/>
                <a:cs typeface="+mj-cs"/>
              </a:rPr>
              <a:t>Bootstrap</a:t>
            </a:r>
            <a:r>
              <a:rPr lang="en-US" sz="5600" b="1" kern="1200" cap="all" spc="1500" baseline="0" dirty="0">
                <a:solidFill>
                  <a:schemeClr val="tx1"/>
                </a:solidFill>
                <a:latin typeface="+mj-lt"/>
                <a:ea typeface="Source Sans Pro SemiBold" panose="020B0603030403020204" pitchFamily="34" charset="0"/>
                <a:cs typeface="+mj-cs"/>
              </a:rPr>
              <a:t> Workshop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Recap – Grid System &amp;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1147"/>
          </a:xfrm>
        </p:spPr>
        <p:txBody>
          <a:bodyPr>
            <a:normAutofit/>
          </a:bodyPr>
          <a:lstStyle/>
          <a:p>
            <a:r>
              <a:rPr lang="en-AU" sz="2000" b="1" dirty="0">
                <a:hlinkClick r:id="rId2"/>
              </a:rPr>
              <a:t>Bootstrap Grid System</a:t>
            </a:r>
            <a:r>
              <a:rPr lang="en-AU" sz="2000" b="1" dirty="0"/>
              <a:t> </a:t>
            </a:r>
            <a:r>
              <a:rPr lang="en-AU" sz="2000" dirty="0"/>
              <a:t>allows users to create responsive layouts</a:t>
            </a:r>
          </a:p>
          <a:p>
            <a:r>
              <a:rPr lang="en-AU" sz="2000" dirty="0"/>
              <a:t>Use it to rearrange the layout of the website depending on its’ screen size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5257800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Example: </a:t>
            </a:r>
            <a:r>
              <a:rPr lang="en-AU" sz="2000" dirty="0"/>
              <a:t>Using Bootstrap Grid, we can create a page which will have different layouts on a desktop and a mobile.</a:t>
            </a:r>
          </a:p>
          <a:p>
            <a:r>
              <a:rPr lang="en-AU" sz="2000" dirty="0"/>
              <a:t>The key to this are the classes: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AU" sz="2000" b="1" dirty="0"/>
              <a:t>.container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AU" sz="2000" b="1" dirty="0"/>
              <a:t>.row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AU" sz="2000" b="1" dirty="0"/>
              <a:t>.col</a:t>
            </a:r>
          </a:p>
          <a:p>
            <a:endParaRPr lang="en-A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BB13DA-6772-7126-CC22-4ABCAD37A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160" y="3051411"/>
            <a:ext cx="5370640" cy="3102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8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200" dirty="0"/>
              <a:t>Component 1: navbar &amp; nav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/>
          </a:bodyPr>
          <a:lstStyle/>
          <a:p>
            <a:r>
              <a:rPr lang="en-AU" sz="2000" b="1" dirty="0"/>
              <a:t>Purpose: </a:t>
            </a:r>
            <a:r>
              <a:rPr lang="en-AU" sz="2000" dirty="0"/>
              <a:t>To create our main, powerful and responsive navigation header (as well as footers)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5257800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Documentation: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2"/>
              </a:rPr>
              <a:t>Navbar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3"/>
              </a:rPr>
              <a:t>Nav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i="1" dirty="0"/>
              <a:t>Also useful </a:t>
            </a:r>
            <a:r>
              <a:rPr lang="en-AU" sz="2000" dirty="0"/>
              <a:t>- </a:t>
            </a:r>
            <a:r>
              <a:rPr lang="en-AU" sz="2000" dirty="0">
                <a:hlinkClick r:id="rId4"/>
              </a:rPr>
              <a:t>container</a:t>
            </a:r>
            <a:r>
              <a:rPr lang="en-AU" sz="20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363400-4870-245B-55DA-EEAF4C5B0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4495" y="2732690"/>
            <a:ext cx="5474247" cy="366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0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200" dirty="0"/>
              <a:t>Component 2: alert, badge &amp;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/>
          </a:bodyPr>
          <a:lstStyle/>
          <a:p>
            <a:r>
              <a:rPr lang="en-AU" sz="2000" b="1" dirty="0"/>
              <a:t>Purpose: </a:t>
            </a:r>
            <a:r>
              <a:rPr lang="en-AU" sz="2000" dirty="0"/>
              <a:t>Features which are integral to user interaction, request initiation &amp; feedback systems in the event of success or failure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5257800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Documentation: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2"/>
              </a:rPr>
              <a:t>Alerts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3"/>
              </a:rPr>
              <a:t>Badges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4"/>
              </a:rPr>
              <a:t>Buttons</a:t>
            </a:r>
            <a:endParaRPr lang="en-AU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79C80-FF38-9A45-02C6-F4E4C349A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997" y="2732690"/>
            <a:ext cx="6260538" cy="35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03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200" dirty="0"/>
              <a:t>Component 3: form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/>
          </a:bodyPr>
          <a:lstStyle/>
          <a:p>
            <a:r>
              <a:rPr lang="en-AU" sz="2000" b="1" dirty="0"/>
              <a:t>Purpose: </a:t>
            </a:r>
            <a:r>
              <a:rPr lang="en-AU" sz="2000" dirty="0"/>
              <a:t>To allow for the easy creation of responsive forms (</a:t>
            </a:r>
            <a:r>
              <a:rPr lang="en-AU" sz="2000" i="1" dirty="0"/>
              <a:t>and tables</a:t>
            </a:r>
            <a:r>
              <a:rPr lang="en-AU" sz="2000" dirty="0"/>
              <a:t>), with plenty of styling features, form inputs and display options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5257800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Documentation: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2"/>
              </a:rPr>
              <a:t>Form element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3"/>
              </a:rPr>
              <a:t>Form inputs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4"/>
              </a:rPr>
              <a:t>Input groups</a:t>
            </a:r>
            <a:r>
              <a:rPr lang="en-AU" sz="2000" u="sng" dirty="0">
                <a:hlinkClick r:id="rId4"/>
              </a:rPr>
              <a:t> </a:t>
            </a:r>
            <a:r>
              <a:rPr lang="en-AU" sz="2000" dirty="0"/>
              <a:t>(</a:t>
            </a:r>
            <a:r>
              <a:rPr lang="en-AU" sz="2000" i="1" dirty="0"/>
              <a:t>and plenty more</a:t>
            </a:r>
            <a:r>
              <a:rPr lang="en-AU" sz="2000" dirty="0"/>
              <a:t>)</a:t>
            </a:r>
          </a:p>
          <a:p>
            <a:pPr marL="800100" lvl="1" indent="-342900">
              <a:buFont typeface="+mj-lt"/>
              <a:buAutoNum type="alphaLcPeriod"/>
            </a:pPr>
            <a:endParaRPr lang="en-AU" sz="2000" i="1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i="1" dirty="0"/>
              <a:t>Also useful </a:t>
            </a:r>
            <a:r>
              <a:rPr lang="en-AU" sz="2000" dirty="0"/>
              <a:t>- </a:t>
            </a:r>
            <a:r>
              <a:rPr lang="en-AU" sz="2000" dirty="0">
                <a:hlinkClick r:id="rId5"/>
              </a:rPr>
              <a:t>tables</a:t>
            </a:r>
            <a:r>
              <a:rPr lang="en-AU" sz="20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9826F6-6AFC-E418-65B4-56E4F8C35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27" y="2730404"/>
            <a:ext cx="5979097" cy="366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70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200" dirty="0"/>
              <a:t>Component 4: carousel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/>
          </a:bodyPr>
          <a:lstStyle/>
          <a:p>
            <a:r>
              <a:rPr lang="en-AU" sz="2000" b="1" dirty="0"/>
              <a:t>Purpose: </a:t>
            </a:r>
            <a:r>
              <a:rPr lang="en-AU" sz="2000" dirty="0"/>
              <a:t>An element for cycling through images, or in the case of Jumbotron, an element for displaying static ”hero images” with floated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4227786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Documentation: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2"/>
              </a:rPr>
              <a:t>Carousel</a:t>
            </a: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endParaRPr lang="en-AU" sz="2000" dirty="0"/>
          </a:p>
          <a:p>
            <a:pPr marL="800100" lvl="1" indent="-342900">
              <a:buFont typeface="+mj-lt"/>
              <a:buAutoNum type="alphaLcPeriod"/>
            </a:pPr>
            <a:r>
              <a:rPr lang="en-AU" sz="2000" i="1" dirty="0"/>
              <a:t>Was useful – </a:t>
            </a:r>
            <a:r>
              <a:rPr lang="en-AU" sz="2000" i="1" dirty="0">
                <a:hlinkClick r:id="rId3"/>
              </a:rPr>
              <a:t>Jumbotron</a:t>
            </a:r>
            <a:r>
              <a:rPr lang="en-AU" sz="2000" i="1" dirty="0"/>
              <a:t> (deprecated)</a:t>
            </a:r>
            <a:endParaRPr lang="en-AU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D6A16F-EDD4-325C-C1ED-9C5F67AAC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488" y="2643074"/>
            <a:ext cx="6561364" cy="352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17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200" dirty="0"/>
              <a:t>Component 5: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/>
          </a:bodyPr>
          <a:lstStyle/>
          <a:p>
            <a:r>
              <a:rPr lang="en-AU" sz="2000" b="1" dirty="0"/>
              <a:t>Purpose: </a:t>
            </a:r>
            <a:r>
              <a:rPr lang="en-AU" sz="2000" dirty="0"/>
              <a:t>A clean and flexible content container with a large array of design options &amp; list display choices.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5257800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Documentation: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2"/>
              </a:rPr>
              <a:t>Card</a:t>
            </a:r>
            <a:endParaRPr lang="en-AU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620A75-8A80-DF9A-5E7F-85E2D4C46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71" y="2732689"/>
            <a:ext cx="5908193" cy="373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87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30B-AC0F-6491-C91A-B51890E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200" dirty="0"/>
              <a:t>Component 6: accordion (</a:t>
            </a:r>
            <a:r>
              <a:rPr lang="en-AU" sz="4200" i="1" dirty="0"/>
              <a:t>not used</a:t>
            </a:r>
            <a:r>
              <a:rPr lang="en-AU" sz="4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D285-89AE-F577-3280-14AB532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>
            <a:normAutofit/>
          </a:bodyPr>
          <a:lstStyle/>
          <a:p>
            <a:r>
              <a:rPr lang="en-AU" sz="2000" b="1" dirty="0"/>
              <a:t>Purpose: </a:t>
            </a:r>
            <a:r>
              <a:rPr lang="en-AU" sz="2000" dirty="0"/>
              <a:t>Vertical collapsing containers for content – which uses a </a:t>
            </a:r>
            <a:r>
              <a:rPr lang="en-AU" sz="2000" dirty="0" err="1"/>
              <a:t>Javascript</a:t>
            </a:r>
            <a:r>
              <a:rPr lang="en-AU" sz="2000" dirty="0"/>
              <a:t> plugin to function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3E23E2-F16E-55F0-3948-ED9BF1BC8053}"/>
              </a:ext>
            </a:extLst>
          </p:cNvPr>
          <p:cNvSpPr txBox="1">
            <a:spLocks/>
          </p:cNvSpPr>
          <p:nvPr/>
        </p:nvSpPr>
        <p:spPr>
          <a:xfrm>
            <a:off x="838200" y="3195144"/>
            <a:ext cx="5257800" cy="2995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dirty="0"/>
              <a:t>Documentation: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sz="2000" dirty="0">
                <a:hlinkClick r:id="rId2"/>
              </a:rPr>
              <a:t>Accordion</a:t>
            </a:r>
            <a:endParaRPr lang="en-AU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136B3-0A88-C0BA-1FC7-CB9F61439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489" y="523675"/>
            <a:ext cx="1067311" cy="10673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0E3FDB-3C91-A03B-591B-742DE2840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195" y="2727996"/>
            <a:ext cx="5892219" cy="376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57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3F9D-B4C7-CD8C-7B6C-F42254DF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81497" cy="1325563"/>
          </a:xfrm>
        </p:spPr>
        <p:txBody>
          <a:bodyPr>
            <a:normAutofit/>
          </a:bodyPr>
          <a:lstStyle/>
          <a:p>
            <a:r>
              <a:rPr lang="en-AU" sz="3800" dirty="0"/>
              <a:t>Practical </a:t>
            </a:r>
            <a:r>
              <a:rPr lang="en-AU" sz="3800" b="1" dirty="0">
                <a:solidFill>
                  <a:srgbClr val="6610F2"/>
                </a:solidFill>
              </a:rPr>
              <a:t>Bootstrap</a:t>
            </a:r>
            <a:r>
              <a:rPr lang="en-AU" sz="3800" dirty="0"/>
              <a:t>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1E10-2EB4-281C-9628-9FC233A6B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149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Main purpose of the slides is to provide a </a:t>
            </a:r>
            <a:r>
              <a:rPr lang="en-AU" b="1" dirty="0"/>
              <a:t>HELPFUL REFERENCE GUIDE </a:t>
            </a:r>
          </a:p>
          <a:p>
            <a:endParaRPr lang="en-AU" dirty="0"/>
          </a:p>
          <a:p>
            <a:r>
              <a:rPr lang="en-AU" sz="1900" dirty="0"/>
              <a:t>May help if you are looking for some go to Bootstrap Components for your project</a:t>
            </a:r>
          </a:p>
          <a:p>
            <a:endParaRPr lang="en-AU" sz="1900" b="1" u="sng" dirty="0"/>
          </a:p>
          <a:p>
            <a:r>
              <a:rPr lang="en-AU" sz="1900" b="1" u="sng" dirty="0"/>
              <a:t>HOWEVER</a:t>
            </a:r>
            <a:r>
              <a:rPr lang="en-AU" sz="1900" dirty="0"/>
              <a:t> - the best way to learn Bootstrap, is to use it!</a:t>
            </a:r>
          </a:p>
          <a:p>
            <a:endParaRPr lang="en-AU" sz="1900" dirty="0"/>
          </a:p>
          <a:p>
            <a:r>
              <a:rPr lang="en-AU" sz="1900" dirty="0"/>
              <a:t>We will do a quick demonstration and then </a:t>
            </a:r>
            <a:r>
              <a:rPr lang="en-AU" sz="1900" b="1" dirty="0"/>
              <a:t>into the  “</a:t>
            </a:r>
            <a:r>
              <a:rPr lang="en-AU" sz="1900" b="1" dirty="0" err="1">
                <a:solidFill>
                  <a:srgbClr val="6610F2"/>
                </a:solidFill>
              </a:rPr>
              <a:t>BurgerLab</a:t>
            </a:r>
            <a:r>
              <a:rPr lang="en-AU" sz="1900" b="1" dirty="0"/>
              <a:t>” challenges!</a:t>
            </a: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DD4BE03A-72DF-8F11-0CAC-D9538C6D73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9" r="27676"/>
          <a:stretch/>
        </p:blipFill>
        <p:spPr>
          <a:xfrm>
            <a:off x="8312400" y="0"/>
            <a:ext cx="38796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45E511D-E832-2BED-55D9-216465573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7499" y="2629614"/>
            <a:ext cx="2006301" cy="15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31343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1052</Words>
  <Application>Microsoft Macintosh PowerPoint</Application>
  <PresentationFormat>Widescreen</PresentationFormat>
  <Paragraphs>165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Avenir Next LT Pro</vt:lpstr>
      <vt:lpstr>Montserrat</vt:lpstr>
      <vt:lpstr>FunkyShapesVTI</vt:lpstr>
      <vt:lpstr>Bootstrap</vt:lpstr>
      <vt:lpstr>The Origins of Bootstrap</vt:lpstr>
      <vt:lpstr>The “Whats” of Bootstrap</vt:lpstr>
      <vt:lpstr>Core Uses of Bootstrap</vt:lpstr>
      <vt:lpstr>The Main Draw of Bootstrap</vt:lpstr>
      <vt:lpstr>CSS Framework Landscape in ‘24</vt:lpstr>
      <vt:lpstr>PowerPoint Presentation</vt:lpstr>
      <vt:lpstr>Dev Struggles with Bootstrap</vt:lpstr>
      <vt:lpstr>CSS  General Trends</vt:lpstr>
      <vt:lpstr>Bootstrap Integration</vt:lpstr>
      <vt:lpstr>Bootstrap Components List</vt:lpstr>
      <vt:lpstr>Bootstrap Class Utilities List</vt:lpstr>
      <vt:lpstr>Bootstrap Workshop</vt:lpstr>
      <vt:lpstr>Recap – Grid System &amp; Bootstrap</vt:lpstr>
      <vt:lpstr>Component 1: navbar &amp; nav</vt:lpstr>
      <vt:lpstr>Component 2: alert, badge &amp; button</vt:lpstr>
      <vt:lpstr>Component 3: form elements</vt:lpstr>
      <vt:lpstr>Component 4: carousel</vt:lpstr>
      <vt:lpstr>Component 5: card</vt:lpstr>
      <vt:lpstr>Component 6: accordion (not used)</vt:lpstr>
      <vt:lpstr>Practical Bootstrap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Alex Bicknell</dc:creator>
  <cp:lastModifiedBy>Alex Bicknell</cp:lastModifiedBy>
  <cp:revision>108</cp:revision>
  <dcterms:created xsi:type="dcterms:W3CDTF">2024-04-29T00:31:37Z</dcterms:created>
  <dcterms:modified xsi:type="dcterms:W3CDTF">2024-04-29T04:59:26Z</dcterms:modified>
</cp:coreProperties>
</file>