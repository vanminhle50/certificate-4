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80" r:id="rId10"/>
    <p:sldId id="283" r:id="rId11"/>
    <p:sldId id="284" r:id="rId12"/>
    <p:sldId id="281" r:id="rId13"/>
    <p:sldId id="282" r:id="rId14"/>
    <p:sldId id="285" r:id="rId15"/>
    <p:sldId id="286" r:id="rId16"/>
    <p:sldId id="287" r:id="rId17"/>
    <p:sldId id="263" r:id="rId18"/>
    <p:sldId id="266" r:id="rId19"/>
    <p:sldId id="277" r:id="rId20"/>
    <p:sldId id="278" r:id="rId21"/>
    <p:sldId id="279" r:id="rId22"/>
    <p:sldId id="288" r:id="rId23"/>
    <p:sldId id="289" r:id="rId24"/>
    <p:sldId id="29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43"/>
  </p:normalViewPr>
  <p:slideViewPr>
    <p:cSldViewPr snapToGrid="0">
      <p:cViewPr varScale="1">
        <p:scale>
          <a:sx n="120" d="100"/>
          <a:sy n="120" d="100"/>
        </p:scale>
        <p:origin x="4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756115-BF3F-4638-9C31-B8F7877185AD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2481477-44E4-4942-8F56-0A48B86EF3F3}">
      <dgm:prSet custT="1"/>
      <dgm:spPr/>
      <dgm:t>
        <a:bodyPr/>
        <a:lstStyle/>
        <a:p>
          <a:r>
            <a:rPr lang="en-US" sz="2000" b="1" dirty="0"/>
            <a:t>A. WEBSITE STRAGTY PHASE</a:t>
          </a:r>
          <a:endParaRPr lang="en-US" sz="2000" dirty="0"/>
        </a:p>
      </dgm:t>
    </dgm:pt>
    <dgm:pt modelId="{25F89F8A-A35D-4621-A939-75BFBC7CDD21}" type="parTrans" cxnId="{5227CFFB-DEFA-4FCF-A56F-6E8BA5043193}">
      <dgm:prSet/>
      <dgm:spPr/>
      <dgm:t>
        <a:bodyPr/>
        <a:lstStyle/>
        <a:p>
          <a:endParaRPr lang="en-US"/>
        </a:p>
      </dgm:t>
    </dgm:pt>
    <dgm:pt modelId="{E4A9309F-2938-44B0-8935-956974E29D87}" type="sibTrans" cxnId="{5227CFFB-DEFA-4FCF-A56F-6E8BA5043193}">
      <dgm:prSet/>
      <dgm:spPr/>
      <dgm:t>
        <a:bodyPr/>
        <a:lstStyle/>
        <a:p>
          <a:endParaRPr lang="en-US"/>
        </a:p>
      </dgm:t>
    </dgm:pt>
    <dgm:pt modelId="{82E6F3EA-DBE5-47DD-AD87-492C9A67D97D}">
      <dgm:prSet custT="1"/>
      <dgm:spPr/>
      <dgm:t>
        <a:bodyPr/>
        <a:lstStyle/>
        <a:p>
          <a:r>
            <a:rPr lang="en-US" sz="2000" dirty="0"/>
            <a:t>Website strategy</a:t>
          </a:r>
        </a:p>
      </dgm:t>
    </dgm:pt>
    <dgm:pt modelId="{50635D7A-F606-4695-AD82-3630DFDCFDE8}" type="parTrans" cxnId="{11AF1300-5465-46E4-BC42-1A6381337E39}">
      <dgm:prSet/>
      <dgm:spPr/>
      <dgm:t>
        <a:bodyPr/>
        <a:lstStyle/>
        <a:p>
          <a:endParaRPr lang="en-US"/>
        </a:p>
      </dgm:t>
    </dgm:pt>
    <dgm:pt modelId="{C1262F3B-9942-4C07-AE1C-5FE48385D3CE}" type="sibTrans" cxnId="{11AF1300-5465-46E4-BC42-1A6381337E39}">
      <dgm:prSet/>
      <dgm:spPr/>
      <dgm:t>
        <a:bodyPr/>
        <a:lstStyle/>
        <a:p>
          <a:endParaRPr lang="en-US"/>
        </a:p>
      </dgm:t>
    </dgm:pt>
    <dgm:pt modelId="{70AE8DAB-3FFC-4538-8702-4C0D26223FFD}">
      <dgm:prSet custT="1"/>
      <dgm:spPr/>
      <dgm:t>
        <a:bodyPr/>
        <a:lstStyle/>
        <a:p>
          <a:r>
            <a:rPr lang="en-US" sz="2000" dirty="0"/>
            <a:t>Content strategy</a:t>
          </a:r>
        </a:p>
      </dgm:t>
    </dgm:pt>
    <dgm:pt modelId="{9BA356F0-0D60-416D-ADAB-3B4E4A5E7907}" type="parTrans" cxnId="{09958234-99B5-4E54-8453-AF0F826F76FE}">
      <dgm:prSet/>
      <dgm:spPr/>
      <dgm:t>
        <a:bodyPr/>
        <a:lstStyle/>
        <a:p>
          <a:endParaRPr lang="en-US"/>
        </a:p>
      </dgm:t>
    </dgm:pt>
    <dgm:pt modelId="{78F3FDCF-A522-4D51-9F7C-84BB6DA08BAC}" type="sibTrans" cxnId="{09958234-99B5-4E54-8453-AF0F826F76FE}">
      <dgm:prSet/>
      <dgm:spPr/>
      <dgm:t>
        <a:bodyPr/>
        <a:lstStyle/>
        <a:p>
          <a:endParaRPr lang="en-US"/>
        </a:p>
      </dgm:t>
    </dgm:pt>
    <dgm:pt modelId="{47F42060-E824-413C-A425-04AE0F7C0871}">
      <dgm:prSet custT="1"/>
      <dgm:spPr/>
      <dgm:t>
        <a:bodyPr/>
        <a:lstStyle/>
        <a:p>
          <a:r>
            <a:rPr lang="en-US" sz="2000"/>
            <a:t>Information Architecture</a:t>
          </a:r>
        </a:p>
      </dgm:t>
    </dgm:pt>
    <dgm:pt modelId="{756A49B8-7B58-46F9-B245-47547735B82C}" type="parTrans" cxnId="{9F98457A-86A5-400B-A8CA-05564CBCA007}">
      <dgm:prSet/>
      <dgm:spPr/>
      <dgm:t>
        <a:bodyPr/>
        <a:lstStyle/>
        <a:p>
          <a:endParaRPr lang="en-US"/>
        </a:p>
      </dgm:t>
    </dgm:pt>
    <dgm:pt modelId="{8635F602-7461-490A-AE67-C973DD463289}" type="sibTrans" cxnId="{9F98457A-86A5-400B-A8CA-05564CBCA007}">
      <dgm:prSet/>
      <dgm:spPr/>
      <dgm:t>
        <a:bodyPr/>
        <a:lstStyle/>
        <a:p>
          <a:endParaRPr lang="en-US"/>
        </a:p>
      </dgm:t>
    </dgm:pt>
    <dgm:pt modelId="{51D5EC76-4304-4987-B8E8-E6FC7DE88CDB}">
      <dgm:prSet custT="1"/>
      <dgm:spPr/>
      <dgm:t>
        <a:bodyPr/>
        <a:lstStyle/>
        <a:p>
          <a:r>
            <a:rPr lang="en-US" sz="2000" b="1" dirty="0"/>
            <a:t>B. DESIGN PLANNING PHASE</a:t>
          </a:r>
          <a:endParaRPr lang="en-US" sz="2000" dirty="0"/>
        </a:p>
      </dgm:t>
    </dgm:pt>
    <dgm:pt modelId="{E9141AF8-97F5-43BD-9A00-DC70705477DA}" type="parTrans" cxnId="{BFE01781-9A05-4EED-8469-220F551623F7}">
      <dgm:prSet/>
      <dgm:spPr/>
      <dgm:t>
        <a:bodyPr/>
        <a:lstStyle/>
        <a:p>
          <a:endParaRPr lang="en-US"/>
        </a:p>
      </dgm:t>
    </dgm:pt>
    <dgm:pt modelId="{15BCBADA-B71C-4697-9672-244E6DF9030D}" type="sibTrans" cxnId="{BFE01781-9A05-4EED-8469-220F551623F7}">
      <dgm:prSet/>
      <dgm:spPr/>
      <dgm:t>
        <a:bodyPr/>
        <a:lstStyle/>
        <a:p>
          <a:endParaRPr lang="en-US"/>
        </a:p>
      </dgm:t>
    </dgm:pt>
    <dgm:pt modelId="{77CCD156-E183-47BE-B5C5-E6B0D168F043}">
      <dgm:prSet custT="1"/>
      <dgm:spPr/>
      <dgm:t>
        <a:bodyPr/>
        <a:lstStyle/>
        <a:p>
          <a:r>
            <a:rPr lang="en-US" sz="2000" dirty="0"/>
            <a:t>Wireframes</a:t>
          </a:r>
        </a:p>
      </dgm:t>
    </dgm:pt>
    <dgm:pt modelId="{0F52440D-A08D-4533-A542-B331D007BA3E}" type="parTrans" cxnId="{1142E6EB-B803-4A0C-8D50-E0F679C15B53}">
      <dgm:prSet/>
      <dgm:spPr/>
      <dgm:t>
        <a:bodyPr/>
        <a:lstStyle/>
        <a:p>
          <a:endParaRPr lang="en-US"/>
        </a:p>
      </dgm:t>
    </dgm:pt>
    <dgm:pt modelId="{1094C481-8289-403D-9F9F-2BA8C7803964}" type="sibTrans" cxnId="{1142E6EB-B803-4A0C-8D50-E0F679C15B53}">
      <dgm:prSet/>
      <dgm:spPr/>
      <dgm:t>
        <a:bodyPr/>
        <a:lstStyle/>
        <a:p>
          <a:endParaRPr lang="en-US"/>
        </a:p>
      </dgm:t>
    </dgm:pt>
    <dgm:pt modelId="{A8B2F95E-97D3-431B-BDC0-9E0BC8EE7843}">
      <dgm:prSet custT="1"/>
      <dgm:spPr/>
      <dgm:t>
        <a:bodyPr/>
        <a:lstStyle/>
        <a:p>
          <a:r>
            <a:rPr lang="en-US" sz="2000"/>
            <a:t>Style guide</a:t>
          </a:r>
        </a:p>
      </dgm:t>
    </dgm:pt>
    <dgm:pt modelId="{3FCDD341-F6E3-4710-8E46-322BF00BFA63}" type="parTrans" cxnId="{3943BCE0-EC42-4E23-9919-FE1D3D07719C}">
      <dgm:prSet/>
      <dgm:spPr/>
      <dgm:t>
        <a:bodyPr/>
        <a:lstStyle/>
        <a:p>
          <a:endParaRPr lang="en-US"/>
        </a:p>
      </dgm:t>
    </dgm:pt>
    <dgm:pt modelId="{030A7D55-8DE4-4FEC-A5E8-FD930F20EA9D}" type="sibTrans" cxnId="{3943BCE0-EC42-4E23-9919-FE1D3D07719C}">
      <dgm:prSet/>
      <dgm:spPr/>
      <dgm:t>
        <a:bodyPr/>
        <a:lstStyle/>
        <a:p>
          <a:endParaRPr lang="en-US"/>
        </a:p>
      </dgm:t>
    </dgm:pt>
    <dgm:pt modelId="{8EBE9DF6-614B-426D-B2CE-6E9B0F34EA2D}">
      <dgm:prSet custT="1"/>
      <dgm:spPr/>
      <dgm:t>
        <a:bodyPr/>
        <a:lstStyle/>
        <a:p>
          <a:r>
            <a:rPr lang="en-US" sz="2000" dirty="0"/>
            <a:t>Prototyping</a:t>
          </a:r>
        </a:p>
      </dgm:t>
    </dgm:pt>
    <dgm:pt modelId="{EE3877C8-0A19-47C3-8C63-8A38071BC70E}" type="parTrans" cxnId="{972D29A9-049F-4818-99AF-371604819A1B}">
      <dgm:prSet/>
      <dgm:spPr/>
      <dgm:t>
        <a:bodyPr/>
        <a:lstStyle/>
        <a:p>
          <a:endParaRPr lang="en-US"/>
        </a:p>
      </dgm:t>
    </dgm:pt>
    <dgm:pt modelId="{1336D4C0-DD16-40D4-977D-FC913059E5A3}" type="sibTrans" cxnId="{972D29A9-049F-4818-99AF-371604819A1B}">
      <dgm:prSet/>
      <dgm:spPr/>
      <dgm:t>
        <a:bodyPr/>
        <a:lstStyle/>
        <a:p>
          <a:endParaRPr lang="en-US"/>
        </a:p>
      </dgm:t>
    </dgm:pt>
    <dgm:pt modelId="{BE643ABF-7EEA-4E95-AAA9-0E94DF149A5F}">
      <dgm:prSet custT="1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sz="2000" b="1" dirty="0"/>
            <a:t>Sign Off &amp; Commence Build</a:t>
          </a:r>
        </a:p>
      </dgm:t>
    </dgm:pt>
    <dgm:pt modelId="{0FF6429F-DFE9-4191-99E8-85A5DF395FD5}" type="parTrans" cxnId="{853B914A-F037-4239-9C78-94C97F97ED90}">
      <dgm:prSet/>
      <dgm:spPr/>
      <dgm:t>
        <a:bodyPr/>
        <a:lstStyle/>
        <a:p>
          <a:endParaRPr lang="en-US"/>
        </a:p>
      </dgm:t>
    </dgm:pt>
    <dgm:pt modelId="{181211F2-E5CE-4213-9DA0-872710D1200A}" type="sibTrans" cxnId="{853B914A-F037-4239-9C78-94C97F97ED90}">
      <dgm:prSet/>
      <dgm:spPr/>
      <dgm:t>
        <a:bodyPr/>
        <a:lstStyle/>
        <a:p>
          <a:endParaRPr lang="en-US"/>
        </a:p>
      </dgm:t>
    </dgm:pt>
    <dgm:pt modelId="{581584EA-2BC9-FE4B-8891-5685ED417FD6}" type="pres">
      <dgm:prSet presAssocID="{44756115-BF3F-4638-9C31-B8F7877185AD}" presName="diagram" presStyleCnt="0">
        <dgm:presLayoutVars>
          <dgm:dir/>
          <dgm:resizeHandles val="exact"/>
        </dgm:presLayoutVars>
      </dgm:prSet>
      <dgm:spPr/>
    </dgm:pt>
    <dgm:pt modelId="{367CE7CF-FDDC-2049-9E84-54F49F5BC204}" type="pres">
      <dgm:prSet presAssocID="{E2481477-44E4-4942-8F56-0A48B86EF3F3}" presName="node" presStyleLbl="node1" presStyleIdx="0" presStyleCnt="9">
        <dgm:presLayoutVars>
          <dgm:bulletEnabled val="1"/>
        </dgm:presLayoutVars>
      </dgm:prSet>
      <dgm:spPr/>
    </dgm:pt>
    <dgm:pt modelId="{D48733B6-C51D-E84D-8F03-CFC6F86260E3}" type="pres">
      <dgm:prSet presAssocID="{E4A9309F-2938-44B0-8935-956974E29D87}" presName="sibTrans" presStyleCnt="0"/>
      <dgm:spPr/>
    </dgm:pt>
    <dgm:pt modelId="{F63B15D4-03F8-7147-A187-7F40ED116D63}" type="pres">
      <dgm:prSet presAssocID="{82E6F3EA-DBE5-47DD-AD87-492C9A67D97D}" presName="node" presStyleLbl="node1" presStyleIdx="1" presStyleCnt="9">
        <dgm:presLayoutVars>
          <dgm:bulletEnabled val="1"/>
        </dgm:presLayoutVars>
      </dgm:prSet>
      <dgm:spPr/>
    </dgm:pt>
    <dgm:pt modelId="{9B362287-80DF-3948-9A28-69708997B4F3}" type="pres">
      <dgm:prSet presAssocID="{C1262F3B-9942-4C07-AE1C-5FE48385D3CE}" presName="sibTrans" presStyleCnt="0"/>
      <dgm:spPr/>
    </dgm:pt>
    <dgm:pt modelId="{BB6FF92D-5355-F548-A76F-362A96CE0615}" type="pres">
      <dgm:prSet presAssocID="{70AE8DAB-3FFC-4538-8702-4C0D26223FFD}" presName="node" presStyleLbl="node1" presStyleIdx="2" presStyleCnt="9">
        <dgm:presLayoutVars>
          <dgm:bulletEnabled val="1"/>
        </dgm:presLayoutVars>
      </dgm:prSet>
      <dgm:spPr/>
    </dgm:pt>
    <dgm:pt modelId="{A13D4AF2-F044-CA4C-AF90-DC71F60F03CB}" type="pres">
      <dgm:prSet presAssocID="{78F3FDCF-A522-4D51-9F7C-84BB6DA08BAC}" presName="sibTrans" presStyleCnt="0"/>
      <dgm:spPr/>
    </dgm:pt>
    <dgm:pt modelId="{58F242BD-2B47-6246-843E-EEC39760C960}" type="pres">
      <dgm:prSet presAssocID="{47F42060-E824-413C-A425-04AE0F7C0871}" presName="node" presStyleLbl="node1" presStyleIdx="3" presStyleCnt="9">
        <dgm:presLayoutVars>
          <dgm:bulletEnabled val="1"/>
        </dgm:presLayoutVars>
      </dgm:prSet>
      <dgm:spPr/>
    </dgm:pt>
    <dgm:pt modelId="{F430DF59-EE2E-7447-94F6-E2E96A42DDCD}" type="pres">
      <dgm:prSet presAssocID="{8635F602-7461-490A-AE67-C973DD463289}" presName="sibTrans" presStyleCnt="0"/>
      <dgm:spPr/>
    </dgm:pt>
    <dgm:pt modelId="{F55E4E4A-A152-A24D-87F8-12DA4C7BDDDD}" type="pres">
      <dgm:prSet presAssocID="{51D5EC76-4304-4987-B8E8-E6FC7DE88CDB}" presName="node" presStyleLbl="node1" presStyleIdx="4" presStyleCnt="9">
        <dgm:presLayoutVars>
          <dgm:bulletEnabled val="1"/>
        </dgm:presLayoutVars>
      </dgm:prSet>
      <dgm:spPr/>
    </dgm:pt>
    <dgm:pt modelId="{33A95753-9054-4D43-AF1F-8D121A7D05D3}" type="pres">
      <dgm:prSet presAssocID="{15BCBADA-B71C-4697-9672-244E6DF9030D}" presName="sibTrans" presStyleCnt="0"/>
      <dgm:spPr/>
    </dgm:pt>
    <dgm:pt modelId="{B9D47866-7EBC-484D-A161-1A776D36D398}" type="pres">
      <dgm:prSet presAssocID="{77CCD156-E183-47BE-B5C5-E6B0D168F043}" presName="node" presStyleLbl="node1" presStyleIdx="5" presStyleCnt="9">
        <dgm:presLayoutVars>
          <dgm:bulletEnabled val="1"/>
        </dgm:presLayoutVars>
      </dgm:prSet>
      <dgm:spPr/>
    </dgm:pt>
    <dgm:pt modelId="{E430D7EC-60B8-9C40-8527-0306C72BBB57}" type="pres">
      <dgm:prSet presAssocID="{1094C481-8289-403D-9F9F-2BA8C7803964}" presName="sibTrans" presStyleCnt="0"/>
      <dgm:spPr/>
    </dgm:pt>
    <dgm:pt modelId="{331D881C-9426-AB4E-BB2D-9378419D313B}" type="pres">
      <dgm:prSet presAssocID="{A8B2F95E-97D3-431B-BDC0-9E0BC8EE7843}" presName="node" presStyleLbl="node1" presStyleIdx="6" presStyleCnt="9">
        <dgm:presLayoutVars>
          <dgm:bulletEnabled val="1"/>
        </dgm:presLayoutVars>
      </dgm:prSet>
      <dgm:spPr/>
    </dgm:pt>
    <dgm:pt modelId="{0FB68424-B9CB-A249-891A-CFED32A22A79}" type="pres">
      <dgm:prSet presAssocID="{030A7D55-8DE4-4FEC-A5E8-FD930F20EA9D}" presName="sibTrans" presStyleCnt="0"/>
      <dgm:spPr/>
    </dgm:pt>
    <dgm:pt modelId="{0C243399-3FD0-1344-9084-2ECCCB7EF768}" type="pres">
      <dgm:prSet presAssocID="{8EBE9DF6-614B-426D-B2CE-6E9B0F34EA2D}" presName="node" presStyleLbl="node1" presStyleIdx="7" presStyleCnt="9">
        <dgm:presLayoutVars>
          <dgm:bulletEnabled val="1"/>
        </dgm:presLayoutVars>
      </dgm:prSet>
      <dgm:spPr/>
    </dgm:pt>
    <dgm:pt modelId="{FA29F262-42F4-6C48-BE44-AAB52A194916}" type="pres">
      <dgm:prSet presAssocID="{1336D4C0-DD16-40D4-977D-FC913059E5A3}" presName="sibTrans" presStyleCnt="0"/>
      <dgm:spPr/>
    </dgm:pt>
    <dgm:pt modelId="{10D544E8-0813-4D49-A7A1-C93D9DB0EC21}" type="pres">
      <dgm:prSet presAssocID="{BE643ABF-7EEA-4E95-AAA9-0E94DF149A5F}" presName="node" presStyleLbl="node1" presStyleIdx="8" presStyleCnt="9">
        <dgm:presLayoutVars>
          <dgm:bulletEnabled val="1"/>
        </dgm:presLayoutVars>
      </dgm:prSet>
      <dgm:spPr/>
    </dgm:pt>
  </dgm:ptLst>
  <dgm:cxnLst>
    <dgm:cxn modelId="{11AF1300-5465-46E4-BC42-1A6381337E39}" srcId="{44756115-BF3F-4638-9C31-B8F7877185AD}" destId="{82E6F3EA-DBE5-47DD-AD87-492C9A67D97D}" srcOrd="1" destOrd="0" parTransId="{50635D7A-F606-4695-AD82-3630DFDCFDE8}" sibTransId="{C1262F3B-9942-4C07-AE1C-5FE48385D3CE}"/>
    <dgm:cxn modelId="{A2780310-D446-9A46-B83B-E0BEB7834045}" type="presOf" srcId="{51D5EC76-4304-4987-B8E8-E6FC7DE88CDB}" destId="{F55E4E4A-A152-A24D-87F8-12DA4C7BDDDD}" srcOrd="0" destOrd="0" presId="urn:microsoft.com/office/officeart/2005/8/layout/default"/>
    <dgm:cxn modelId="{09958234-99B5-4E54-8453-AF0F826F76FE}" srcId="{44756115-BF3F-4638-9C31-B8F7877185AD}" destId="{70AE8DAB-3FFC-4538-8702-4C0D26223FFD}" srcOrd="2" destOrd="0" parTransId="{9BA356F0-0D60-416D-ADAB-3B4E4A5E7907}" sibTransId="{78F3FDCF-A522-4D51-9F7C-84BB6DA08BAC}"/>
    <dgm:cxn modelId="{853B914A-F037-4239-9C78-94C97F97ED90}" srcId="{44756115-BF3F-4638-9C31-B8F7877185AD}" destId="{BE643ABF-7EEA-4E95-AAA9-0E94DF149A5F}" srcOrd="8" destOrd="0" parTransId="{0FF6429F-DFE9-4191-99E8-85A5DF395FD5}" sibTransId="{181211F2-E5CE-4213-9DA0-872710D1200A}"/>
    <dgm:cxn modelId="{A88A196A-24D4-FB47-BDE1-1516A47C2182}" type="presOf" srcId="{E2481477-44E4-4942-8F56-0A48B86EF3F3}" destId="{367CE7CF-FDDC-2049-9E84-54F49F5BC204}" srcOrd="0" destOrd="0" presId="urn:microsoft.com/office/officeart/2005/8/layout/default"/>
    <dgm:cxn modelId="{73982C7A-A107-E24F-8F7C-408178467AE0}" type="presOf" srcId="{8EBE9DF6-614B-426D-B2CE-6E9B0F34EA2D}" destId="{0C243399-3FD0-1344-9084-2ECCCB7EF768}" srcOrd="0" destOrd="0" presId="urn:microsoft.com/office/officeart/2005/8/layout/default"/>
    <dgm:cxn modelId="{9F98457A-86A5-400B-A8CA-05564CBCA007}" srcId="{44756115-BF3F-4638-9C31-B8F7877185AD}" destId="{47F42060-E824-413C-A425-04AE0F7C0871}" srcOrd="3" destOrd="0" parTransId="{756A49B8-7B58-46F9-B245-47547735B82C}" sibTransId="{8635F602-7461-490A-AE67-C973DD463289}"/>
    <dgm:cxn modelId="{BFE01781-9A05-4EED-8469-220F551623F7}" srcId="{44756115-BF3F-4638-9C31-B8F7877185AD}" destId="{51D5EC76-4304-4987-B8E8-E6FC7DE88CDB}" srcOrd="4" destOrd="0" parTransId="{E9141AF8-97F5-43BD-9A00-DC70705477DA}" sibTransId="{15BCBADA-B71C-4697-9672-244E6DF9030D}"/>
    <dgm:cxn modelId="{A82026A9-65EE-0641-B454-7866BD0EDADB}" type="presOf" srcId="{44756115-BF3F-4638-9C31-B8F7877185AD}" destId="{581584EA-2BC9-FE4B-8891-5685ED417FD6}" srcOrd="0" destOrd="0" presId="urn:microsoft.com/office/officeart/2005/8/layout/default"/>
    <dgm:cxn modelId="{972D29A9-049F-4818-99AF-371604819A1B}" srcId="{44756115-BF3F-4638-9C31-B8F7877185AD}" destId="{8EBE9DF6-614B-426D-B2CE-6E9B0F34EA2D}" srcOrd="7" destOrd="0" parTransId="{EE3877C8-0A19-47C3-8C63-8A38071BC70E}" sibTransId="{1336D4C0-DD16-40D4-977D-FC913059E5A3}"/>
    <dgm:cxn modelId="{9A0784B1-7933-E140-9B82-769A8DB35262}" type="presOf" srcId="{47F42060-E824-413C-A425-04AE0F7C0871}" destId="{58F242BD-2B47-6246-843E-EEC39760C960}" srcOrd="0" destOrd="0" presId="urn:microsoft.com/office/officeart/2005/8/layout/default"/>
    <dgm:cxn modelId="{354ABBCA-20C6-F242-8818-FBBD3555F4F1}" type="presOf" srcId="{A8B2F95E-97D3-431B-BDC0-9E0BC8EE7843}" destId="{331D881C-9426-AB4E-BB2D-9378419D313B}" srcOrd="0" destOrd="0" presId="urn:microsoft.com/office/officeart/2005/8/layout/default"/>
    <dgm:cxn modelId="{50A169CC-ED02-614A-96BB-04B07712ACB8}" type="presOf" srcId="{70AE8DAB-3FFC-4538-8702-4C0D26223FFD}" destId="{BB6FF92D-5355-F548-A76F-362A96CE0615}" srcOrd="0" destOrd="0" presId="urn:microsoft.com/office/officeart/2005/8/layout/default"/>
    <dgm:cxn modelId="{29CF84D7-AA0A-C644-BB0E-063C4F3A531F}" type="presOf" srcId="{82E6F3EA-DBE5-47DD-AD87-492C9A67D97D}" destId="{F63B15D4-03F8-7147-A187-7F40ED116D63}" srcOrd="0" destOrd="0" presId="urn:microsoft.com/office/officeart/2005/8/layout/default"/>
    <dgm:cxn modelId="{3943BCE0-EC42-4E23-9919-FE1D3D07719C}" srcId="{44756115-BF3F-4638-9C31-B8F7877185AD}" destId="{A8B2F95E-97D3-431B-BDC0-9E0BC8EE7843}" srcOrd="6" destOrd="0" parTransId="{3FCDD341-F6E3-4710-8E46-322BF00BFA63}" sibTransId="{030A7D55-8DE4-4FEC-A5E8-FD930F20EA9D}"/>
    <dgm:cxn modelId="{1142E6EB-B803-4A0C-8D50-E0F679C15B53}" srcId="{44756115-BF3F-4638-9C31-B8F7877185AD}" destId="{77CCD156-E183-47BE-B5C5-E6B0D168F043}" srcOrd="5" destOrd="0" parTransId="{0F52440D-A08D-4533-A542-B331D007BA3E}" sibTransId="{1094C481-8289-403D-9F9F-2BA8C7803964}"/>
    <dgm:cxn modelId="{634522FB-3E3F-ED4A-92D9-DECBFDBF89C1}" type="presOf" srcId="{BE643ABF-7EEA-4E95-AAA9-0E94DF149A5F}" destId="{10D544E8-0813-4D49-A7A1-C93D9DB0EC21}" srcOrd="0" destOrd="0" presId="urn:microsoft.com/office/officeart/2005/8/layout/default"/>
    <dgm:cxn modelId="{5227CFFB-DEFA-4FCF-A56F-6E8BA5043193}" srcId="{44756115-BF3F-4638-9C31-B8F7877185AD}" destId="{E2481477-44E4-4942-8F56-0A48B86EF3F3}" srcOrd="0" destOrd="0" parTransId="{25F89F8A-A35D-4621-A939-75BFBC7CDD21}" sibTransId="{E4A9309F-2938-44B0-8935-956974E29D87}"/>
    <dgm:cxn modelId="{345D9EFC-ED33-5740-8B77-9221C367209E}" type="presOf" srcId="{77CCD156-E183-47BE-B5C5-E6B0D168F043}" destId="{B9D47866-7EBC-484D-A161-1A776D36D398}" srcOrd="0" destOrd="0" presId="urn:microsoft.com/office/officeart/2005/8/layout/default"/>
    <dgm:cxn modelId="{4E0B786D-C7A2-1A4E-860D-3167BFFFEA23}" type="presParOf" srcId="{581584EA-2BC9-FE4B-8891-5685ED417FD6}" destId="{367CE7CF-FDDC-2049-9E84-54F49F5BC204}" srcOrd="0" destOrd="0" presId="urn:microsoft.com/office/officeart/2005/8/layout/default"/>
    <dgm:cxn modelId="{F82F9F30-511F-7442-98FD-E4456D069B27}" type="presParOf" srcId="{581584EA-2BC9-FE4B-8891-5685ED417FD6}" destId="{D48733B6-C51D-E84D-8F03-CFC6F86260E3}" srcOrd="1" destOrd="0" presId="urn:microsoft.com/office/officeart/2005/8/layout/default"/>
    <dgm:cxn modelId="{6D5490F8-F6A3-8C43-8D3A-C11C60BD9D3B}" type="presParOf" srcId="{581584EA-2BC9-FE4B-8891-5685ED417FD6}" destId="{F63B15D4-03F8-7147-A187-7F40ED116D63}" srcOrd="2" destOrd="0" presId="urn:microsoft.com/office/officeart/2005/8/layout/default"/>
    <dgm:cxn modelId="{AE9F6348-86DB-8D49-847E-07B6230D140D}" type="presParOf" srcId="{581584EA-2BC9-FE4B-8891-5685ED417FD6}" destId="{9B362287-80DF-3948-9A28-69708997B4F3}" srcOrd="3" destOrd="0" presId="urn:microsoft.com/office/officeart/2005/8/layout/default"/>
    <dgm:cxn modelId="{F54B695D-5E48-E742-AE8B-29CB63D6849B}" type="presParOf" srcId="{581584EA-2BC9-FE4B-8891-5685ED417FD6}" destId="{BB6FF92D-5355-F548-A76F-362A96CE0615}" srcOrd="4" destOrd="0" presId="urn:microsoft.com/office/officeart/2005/8/layout/default"/>
    <dgm:cxn modelId="{DF0E09A0-833D-DF40-86CE-EB7AD9C61210}" type="presParOf" srcId="{581584EA-2BC9-FE4B-8891-5685ED417FD6}" destId="{A13D4AF2-F044-CA4C-AF90-DC71F60F03CB}" srcOrd="5" destOrd="0" presId="urn:microsoft.com/office/officeart/2005/8/layout/default"/>
    <dgm:cxn modelId="{958D265F-43AE-AB41-889A-D3387D7466E9}" type="presParOf" srcId="{581584EA-2BC9-FE4B-8891-5685ED417FD6}" destId="{58F242BD-2B47-6246-843E-EEC39760C960}" srcOrd="6" destOrd="0" presId="urn:microsoft.com/office/officeart/2005/8/layout/default"/>
    <dgm:cxn modelId="{9BD43C94-D174-564D-99D6-FE0FF437922C}" type="presParOf" srcId="{581584EA-2BC9-FE4B-8891-5685ED417FD6}" destId="{F430DF59-EE2E-7447-94F6-E2E96A42DDCD}" srcOrd="7" destOrd="0" presId="urn:microsoft.com/office/officeart/2005/8/layout/default"/>
    <dgm:cxn modelId="{74FDF750-5D21-0D4B-901A-8C408A750A21}" type="presParOf" srcId="{581584EA-2BC9-FE4B-8891-5685ED417FD6}" destId="{F55E4E4A-A152-A24D-87F8-12DA4C7BDDDD}" srcOrd="8" destOrd="0" presId="urn:microsoft.com/office/officeart/2005/8/layout/default"/>
    <dgm:cxn modelId="{B2D6F45D-457E-B54F-A5AE-4D3FF7B6BFEF}" type="presParOf" srcId="{581584EA-2BC9-FE4B-8891-5685ED417FD6}" destId="{33A95753-9054-4D43-AF1F-8D121A7D05D3}" srcOrd="9" destOrd="0" presId="urn:microsoft.com/office/officeart/2005/8/layout/default"/>
    <dgm:cxn modelId="{76CC95F4-B49C-CA40-8C71-59EA22AD7161}" type="presParOf" srcId="{581584EA-2BC9-FE4B-8891-5685ED417FD6}" destId="{B9D47866-7EBC-484D-A161-1A776D36D398}" srcOrd="10" destOrd="0" presId="urn:microsoft.com/office/officeart/2005/8/layout/default"/>
    <dgm:cxn modelId="{D523D877-D223-2C45-92ED-3F9F1379CADE}" type="presParOf" srcId="{581584EA-2BC9-FE4B-8891-5685ED417FD6}" destId="{E430D7EC-60B8-9C40-8527-0306C72BBB57}" srcOrd="11" destOrd="0" presId="urn:microsoft.com/office/officeart/2005/8/layout/default"/>
    <dgm:cxn modelId="{DEF35D2E-7A61-1C4E-9F9A-7EE5DEB8C45A}" type="presParOf" srcId="{581584EA-2BC9-FE4B-8891-5685ED417FD6}" destId="{331D881C-9426-AB4E-BB2D-9378419D313B}" srcOrd="12" destOrd="0" presId="urn:microsoft.com/office/officeart/2005/8/layout/default"/>
    <dgm:cxn modelId="{60138C3A-56B5-3847-919D-225C20F9CD38}" type="presParOf" srcId="{581584EA-2BC9-FE4B-8891-5685ED417FD6}" destId="{0FB68424-B9CB-A249-891A-CFED32A22A79}" srcOrd="13" destOrd="0" presId="urn:microsoft.com/office/officeart/2005/8/layout/default"/>
    <dgm:cxn modelId="{7577DF9F-BDE3-0E42-AFFD-1A7463462637}" type="presParOf" srcId="{581584EA-2BC9-FE4B-8891-5685ED417FD6}" destId="{0C243399-3FD0-1344-9084-2ECCCB7EF768}" srcOrd="14" destOrd="0" presId="urn:microsoft.com/office/officeart/2005/8/layout/default"/>
    <dgm:cxn modelId="{8C137299-2E5E-5D4D-993C-BBF2C94500BA}" type="presParOf" srcId="{581584EA-2BC9-FE4B-8891-5685ED417FD6}" destId="{FA29F262-42F4-6C48-BE44-AAB52A194916}" srcOrd="15" destOrd="0" presId="urn:microsoft.com/office/officeart/2005/8/layout/default"/>
    <dgm:cxn modelId="{5D76A4B4-AA6B-A54C-88E5-5DB6F3249CA4}" type="presParOf" srcId="{581584EA-2BC9-FE4B-8891-5685ED417FD6}" destId="{10D544E8-0813-4D49-A7A1-C93D9DB0EC21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7CE7CF-FDDC-2049-9E84-54F49F5BC204}">
      <dsp:nvSpPr>
        <dsp:cNvPr id="0" name=""/>
        <dsp:cNvSpPr/>
      </dsp:nvSpPr>
      <dsp:spPr>
        <a:xfrm>
          <a:off x="424139" y="2129"/>
          <a:ext cx="2164709" cy="129882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A. WEBSITE STRAGTY PHASE</a:t>
          </a:r>
          <a:endParaRPr lang="en-US" sz="2000" kern="1200" dirty="0"/>
        </a:p>
      </dsp:txBody>
      <dsp:txXfrm>
        <a:off x="424139" y="2129"/>
        <a:ext cx="2164709" cy="1298825"/>
      </dsp:txXfrm>
    </dsp:sp>
    <dsp:sp modelId="{F63B15D4-03F8-7147-A187-7F40ED116D63}">
      <dsp:nvSpPr>
        <dsp:cNvPr id="0" name=""/>
        <dsp:cNvSpPr/>
      </dsp:nvSpPr>
      <dsp:spPr>
        <a:xfrm>
          <a:off x="2805320" y="2129"/>
          <a:ext cx="2164709" cy="1298825"/>
        </a:xfrm>
        <a:prstGeom prst="rect">
          <a:avLst/>
        </a:prstGeom>
        <a:solidFill>
          <a:schemeClr val="accent5">
            <a:hueOff val="-187096"/>
            <a:satOff val="84"/>
            <a:lumOff val="-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Website strategy</a:t>
          </a:r>
        </a:p>
      </dsp:txBody>
      <dsp:txXfrm>
        <a:off x="2805320" y="2129"/>
        <a:ext cx="2164709" cy="1298825"/>
      </dsp:txXfrm>
    </dsp:sp>
    <dsp:sp modelId="{BB6FF92D-5355-F548-A76F-362A96CE0615}">
      <dsp:nvSpPr>
        <dsp:cNvPr id="0" name=""/>
        <dsp:cNvSpPr/>
      </dsp:nvSpPr>
      <dsp:spPr>
        <a:xfrm>
          <a:off x="5186500" y="2129"/>
          <a:ext cx="2164709" cy="1298825"/>
        </a:xfrm>
        <a:prstGeom prst="rect">
          <a:avLst/>
        </a:prstGeom>
        <a:solidFill>
          <a:schemeClr val="accent5">
            <a:hueOff val="-374193"/>
            <a:satOff val="169"/>
            <a:lumOff val="-17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Content strategy</a:t>
          </a:r>
        </a:p>
      </dsp:txBody>
      <dsp:txXfrm>
        <a:off x="5186500" y="2129"/>
        <a:ext cx="2164709" cy="1298825"/>
      </dsp:txXfrm>
    </dsp:sp>
    <dsp:sp modelId="{58F242BD-2B47-6246-843E-EEC39760C960}">
      <dsp:nvSpPr>
        <dsp:cNvPr id="0" name=""/>
        <dsp:cNvSpPr/>
      </dsp:nvSpPr>
      <dsp:spPr>
        <a:xfrm>
          <a:off x="7567681" y="2129"/>
          <a:ext cx="2164709" cy="1298825"/>
        </a:xfrm>
        <a:prstGeom prst="rect">
          <a:avLst/>
        </a:prstGeom>
        <a:solidFill>
          <a:schemeClr val="accent5">
            <a:hueOff val="-561289"/>
            <a:satOff val="253"/>
            <a:lumOff val="-26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Information Architecture</a:t>
          </a:r>
        </a:p>
      </dsp:txBody>
      <dsp:txXfrm>
        <a:off x="7567681" y="2129"/>
        <a:ext cx="2164709" cy="1298825"/>
      </dsp:txXfrm>
    </dsp:sp>
    <dsp:sp modelId="{F55E4E4A-A152-A24D-87F8-12DA4C7BDDDD}">
      <dsp:nvSpPr>
        <dsp:cNvPr id="0" name=""/>
        <dsp:cNvSpPr/>
      </dsp:nvSpPr>
      <dsp:spPr>
        <a:xfrm>
          <a:off x="424139" y="1517426"/>
          <a:ext cx="2164709" cy="1298825"/>
        </a:xfrm>
        <a:prstGeom prst="rect">
          <a:avLst/>
        </a:prstGeom>
        <a:solidFill>
          <a:schemeClr val="accent5">
            <a:hueOff val="-748385"/>
            <a:satOff val="337"/>
            <a:lumOff val="-35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B. DESIGN PLANNING PHASE</a:t>
          </a:r>
          <a:endParaRPr lang="en-US" sz="2000" kern="1200" dirty="0"/>
        </a:p>
      </dsp:txBody>
      <dsp:txXfrm>
        <a:off x="424139" y="1517426"/>
        <a:ext cx="2164709" cy="1298825"/>
      </dsp:txXfrm>
    </dsp:sp>
    <dsp:sp modelId="{B9D47866-7EBC-484D-A161-1A776D36D398}">
      <dsp:nvSpPr>
        <dsp:cNvPr id="0" name=""/>
        <dsp:cNvSpPr/>
      </dsp:nvSpPr>
      <dsp:spPr>
        <a:xfrm>
          <a:off x="2805320" y="1517426"/>
          <a:ext cx="2164709" cy="1298825"/>
        </a:xfrm>
        <a:prstGeom prst="rect">
          <a:avLst/>
        </a:prstGeom>
        <a:solidFill>
          <a:schemeClr val="accent5">
            <a:hueOff val="-935481"/>
            <a:satOff val="421"/>
            <a:lumOff val="-441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Wireframes</a:t>
          </a:r>
        </a:p>
      </dsp:txBody>
      <dsp:txXfrm>
        <a:off x="2805320" y="1517426"/>
        <a:ext cx="2164709" cy="1298825"/>
      </dsp:txXfrm>
    </dsp:sp>
    <dsp:sp modelId="{331D881C-9426-AB4E-BB2D-9378419D313B}">
      <dsp:nvSpPr>
        <dsp:cNvPr id="0" name=""/>
        <dsp:cNvSpPr/>
      </dsp:nvSpPr>
      <dsp:spPr>
        <a:xfrm>
          <a:off x="5186500" y="1517426"/>
          <a:ext cx="2164709" cy="1298825"/>
        </a:xfrm>
        <a:prstGeom prst="rect">
          <a:avLst/>
        </a:prstGeom>
        <a:solidFill>
          <a:schemeClr val="accent5">
            <a:hueOff val="-1122578"/>
            <a:satOff val="506"/>
            <a:lumOff val="-529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Style guide</a:t>
          </a:r>
        </a:p>
      </dsp:txBody>
      <dsp:txXfrm>
        <a:off x="5186500" y="1517426"/>
        <a:ext cx="2164709" cy="1298825"/>
      </dsp:txXfrm>
    </dsp:sp>
    <dsp:sp modelId="{0C243399-3FD0-1344-9084-2ECCCB7EF768}">
      <dsp:nvSpPr>
        <dsp:cNvPr id="0" name=""/>
        <dsp:cNvSpPr/>
      </dsp:nvSpPr>
      <dsp:spPr>
        <a:xfrm>
          <a:off x="7567681" y="1517426"/>
          <a:ext cx="2164709" cy="1298825"/>
        </a:xfrm>
        <a:prstGeom prst="rect">
          <a:avLst/>
        </a:prstGeom>
        <a:solidFill>
          <a:schemeClr val="accent5">
            <a:hueOff val="-1309674"/>
            <a:satOff val="590"/>
            <a:lumOff val="-617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Prototyping</a:t>
          </a:r>
        </a:p>
      </dsp:txBody>
      <dsp:txXfrm>
        <a:off x="7567681" y="1517426"/>
        <a:ext cx="2164709" cy="1298825"/>
      </dsp:txXfrm>
    </dsp:sp>
    <dsp:sp modelId="{10D544E8-0813-4D49-A7A1-C93D9DB0EC21}">
      <dsp:nvSpPr>
        <dsp:cNvPr id="0" name=""/>
        <dsp:cNvSpPr/>
      </dsp:nvSpPr>
      <dsp:spPr>
        <a:xfrm>
          <a:off x="3995910" y="3032723"/>
          <a:ext cx="2164709" cy="1298825"/>
        </a:xfrm>
        <a:prstGeom prst="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Sign Off &amp; Commence Build</a:t>
          </a:r>
        </a:p>
      </dsp:txBody>
      <dsp:txXfrm>
        <a:off x="3995910" y="3032723"/>
        <a:ext cx="2164709" cy="12988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5A1E34-432D-2543-AC1B-817AE6937A97}" type="datetimeFigureOut">
              <a:rPr lang="en-AU" smtClean="0"/>
              <a:t>14/4/2024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8869A3-F3BD-C646-9FF7-0C7396A8517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727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869A3-F3BD-C646-9FF7-0C7396A85175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3379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869A3-F3BD-C646-9FF7-0C7396A85175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5245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3482-63A1-FE4C-9056-99F89A31349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36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4/14/24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346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4/14/24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341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4/14/24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88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4/14/24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277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526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66999"/>
            <a:ext cx="5157787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183188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4/14/24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66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4/14/24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089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4/14/24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464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4/14/24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459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4/14/24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611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4/14/24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182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4/14/24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452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CB7E8AE-A3AC-4BB7-A5C6-F00EC697B265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4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9450"/>
            <a:ext cx="10515600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4/14/24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395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11" r:id="rId9"/>
    <p:sldLayoutId id="2147483709" r:id="rId10"/>
    <p:sldLayoutId id="214748371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5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6.png"/><Relationship Id="rId9" Type="http://schemas.microsoft.com/office/2007/relationships/diagramDrawing" Target="../diagrams/drawin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29F2144-48B7-4730-955E-365ECED3A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65FF50-D2F9-4A4F-86ED-F101E172B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12C3E1-9F84-CA9D-E6CD-C6FC393322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13189"/>
            <a:ext cx="5797883" cy="2667000"/>
          </a:xfrm>
        </p:spPr>
        <p:txBody>
          <a:bodyPr anchor="b">
            <a:normAutofit/>
          </a:bodyPr>
          <a:lstStyle/>
          <a:p>
            <a:pPr algn="l"/>
            <a:r>
              <a:rPr lang="en-AU">
                <a:solidFill>
                  <a:schemeClr val="tx2"/>
                </a:solidFill>
              </a:rPr>
              <a:t>Developing Web Content &amp; Design Plans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93DDFA-F530-DF5F-81C7-99068452FC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408788"/>
            <a:ext cx="5797882" cy="1785690"/>
          </a:xfrm>
        </p:spPr>
        <p:txBody>
          <a:bodyPr anchor="t">
            <a:normAutofit/>
          </a:bodyPr>
          <a:lstStyle/>
          <a:p>
            <a:pPr algn="l"/>
            <a:r>
              <a:rPr lang="en-AU" sz="2200" dirty="0">
                <a:solidFill>
                  <a:schemeClr val="tx2"/>
                </a:solidFill>
              </a:rPr>
              <a:t>Front End Design &amp; Development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A06316-53FD-E3AC-044B-1EE43F2CB0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434" r="31607"/>
          <a:stretch/>
        </p:blipFill>
        <p:spPr>
          <a:xfrm>
            <a:off x="7162800" y="10"/>
            <a:ext cx="5029200" cy="569380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4D834C7-8223-43DA-AA30-E15A1BC7B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93812"/>
            <a:ext cx="12192000" cy="1164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2DE6C5-8EB8-4E41-B0FF-93563AA4C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1" y="5693811"/>
            <a:ext cx="12191999" cy="1164188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084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A57B7B-30D9-4515-9542-FFA699A3C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08A626-D5F9-2497-6375-5F03BF94C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8763000" cy="1664573"/>
          </a:xfrm>
        </p:spPr>
        <p:txBody>
          <a:bodyPr>
            <a:normAutofit/>
          </a:bodyPr>
          <a:lstStyle/>
          <a:p>
            <a:r>
              <a:rPr lang="en-AU">
                <a:solidFill>
                  <a:schemeClr val="tx2"/>
                </a:solidFill>
              </a:rPr>
              <a:t>Technical vs.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553BE-01CB-0666-D55B-CC109DA6B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797" y="2384474"/>
            <a:ext cx="8762436" cy="3728613"/>
          </a:xfrm>
        </p:spPr>
        <p:txBody>
          <a:bodyPr>
            <a:normAutofit/>
          </a:bodyPr>
          <a:lstStyle/>
          <a:p>
            <a:r>
              <a:rPr lang="en-AU" sz="1800" b="1">
                <a:solidFill>
                  <a:schemeClr val="tx2"/>
                </a:solidFill>
              </a:rPr>
              <a:t>The focus of Certificate IV so far …</a:t>
            </a:r>
          </a:p>
          <a:p>
            <a:pPr lvl="1"/>
            <a:r>
              <a:rPr lang="en-AU" sz="1800">
                <a:solidFill>
                  <a:schemeClr val="tx2"/>
                </a:solidFill>
              </a:rPr>
              <a:t>understanding of the web &amp; wider protocols – </a:t>
            </a:r>
            <a:r>
              <a:rPr lang="en-AU" sz="1800" b="1" i="1">
                <a:solidFill>
                  <a:schemeClr val="tx2"/>
                </a:solidFill>
              </a:rPr>
              <a:t>HTTP &amp; FTP</a:t>
            </a:r>
          </a:p>
          <a:p>
            <a:pPr lvl="1"/>
            <a:r>
              <a:rPr lang="en-AU" sz="1800">
                <a:solidFill>
                  <a:schemeClr val="tx2"/>
                </a:solidFill>
              </a:rPr>
              <a:t>technical programming skills – </a:t>
            </a:r>
            <a:r>
              <a:rPr lang="en-AU" sz="1800" b="1" i="1">
                <a:solidFill>
                  <a:schemeClr val="tx2"/>
                </a:solidFill>
              </a:rPr>
              <a:t>HTML, CSS, JS &amp; PHP</a:t>
            </a:r>
          </a:p>
          <a:p>
            <a:pPr lvl="1"/>
            <a:r>
              <a:rPr lang="en-AU" sz="1800">
                <a:solidFill>
                  <a:schemeClr val="tx2"/>
                </a:solidFill>
              </a:rPr>
              <a:t>working with web standards &amp; good practices – </a:t>
            </a:r>
            <a:r>
              <a:rPr lang="en-AU" sz="1800" b="1" i="1">
                <a:solidFill>
                  <a:schemeClr val="tx2"/>
                </a:solidFill>
              </a:rPr>
              <a:t>W3C &amp; WCAG</a:t>
            </a:r>
          </a:p>
          <a:p>
            <a:pPr lvl="1"/>
            <a:endParaRPr lang="en-AU" sz="1800">
              <a:solidFill>
                <a:schemeClr val="tx2"/>
              </a:solidFill>
            </a:endParaRPr>
          </a:p>
          <a:p>
            <a:r>
              <a:rPr lang="en-AU" sz="1800" b="1">
                <a:solidFill>
                  <a:schemeClr val="tx2"/>
                </a:solidFill>
              </a:rPr>
              <a:t>What about design skills?</a:t>
            </a:r>
          </a:p>
          <a:p>
            <a:pPr lvl="1"/>
            <a:r>
              <a:rPr lang="en-AU" sz="1800">
                <a:solidFill>
                  <a:schemeClr val="tx2"/>
                </a:solidFill>
              </a:rPr>
              <a:t>Specific tooling has been taught in Emerging Tech</a:t>
            </a:r>
          </a:p>
          <a:p>
            <a:pPr lvl="1"/>
            <a:r>
              <a:rPr lang="en-AU" sz="1800">
                <a:solidFill>
                  <a:schemeClr val="tx2"/>
                </a:solidFill>
              </a:rPr>
              <a:t>But what is the process for using these tools to </a:t>
            </a:r>
            <a:r>
              <a:rPr lang="en-AU" sz="1800" b="1">
                <a:solidFill>
                  <a:schemeClr val="tx2"/>
                </a:solidFill>
              </a:rPr>
              <a:t>plan a website</a:t>
            </a:r>
            <a:r>
              <a:rPr lang="en-AU" sz="1800">
                <a:solidFill>
                  <a:schemeClr val="tx2"/>
                </a:solidFill>
              </a:rPr>
              <a:t>?</a:t>
            </a:r>
          </a:p>
          <a:p>
            <a:pPr lvl="1"/>
            <a:r>
              <a:rPr lang="en-AU" sz="1800">
                <a:solidFill>
                  <a:schemeClr val="tx2"/>
                </a:solidFill>
              </a:rPr>
              <a:t>But how should we use CSS to </a:t>
            </a:r>
            <a:r>
              <a:rPr lang="en-AU" sz="1800" b="1">
                <a:solidFill>
                  <a:schemeClr val="tx2"/>
                </a:solidFill>
              </a:rPr>
              <a:t>design modern web pages</a:t>
            </a:r>
            <a:r>
              <a:rPr lang="en-AU" sz="1800">
                <a:solidFill>
                  <a:schemeClr val="tx2"/>
                </a:solidFill>
              </a:rPr>
              <a:t>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29F241-2B1B-40E9-A72C-63955DFFF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8481" y="0"/>
            <a:ext cx="2143519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B4B9D7-F359-44A2-87B4-EAFA68AA97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8481" y="0"/>
            <a:ext cx="2143519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xy" algn="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919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A57B7B-30D9-4515-9542-FFA699A3C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8DC890-8D60-0C17-0946-30831FF45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0" y="559813"/>
            <a:ext cx="6172199" cy="1664573"/>
          </a:xfrm>
        </p:spPr>
        <p:txBody>
          <a:bodyPr>
            <a:normAutofit/>
          </a:bodyPr>
          <a:lstStyle/>
          <a:p>
            <a:r>
              <a:rPr lang="en-AU" sz="3800" dirty="0">
                <a:solidFill>
                  <a:schemeClr val="tx2"/>
                </a:solidFill>
              </a:rPr>
              <a:t>Planning &amp; Design Focus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C3B756-88D3-4576-A217-6995584AB9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5244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BF5392-ED6D-419D-A1F8-29650B91D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5244" cy="6858000"/>
          </a:xfrm>
          <a:prstGeom prst="rect">
            <a:avLst/>
          </a:prstGeom>
          <a:blipFill dpi="0" rotWithShape="1">
            <a:blip r:embed="rId3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6618A-BA9F-D0C9-E012-01CC7FE10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0" y="2224386"/>
            <a:ext cx="6171801" cy="432527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AU" sz="1300" b="1" dirty="0">
                <a:solidFill>
                  <a:schemeClr val="tx2"/>
                </a:solidFill>
              </a:rPr>
              <a:t>Technical expertise is important as a base</a:t>
            </a:r>
          </a:p>
          <a:p>
            <a:pPr lvl="1">
              <a:lnSpc>
                <a:spcPct val="100000"/>
              </a:lnSpc>
            </a:pPr>
            <a:r>
              <a:rPr lang="en-AU" sz="1300" dirty="0">
                <a:solidFill>
                  <a:schemeClr val="tx2"/>
                </a:solidFill>
              </a:rPr>
              <a:t>You cannot code without having a bit of experience with underlying languages &amp; tooling</a:t>
            </a:r>
          </a:p>
          <a:p>
            <a:pPr lvl="1">
              <a:lnSpc>
                <a:spcPct val="100000"/>
              </a:lnSpc>
            </a:pPr>
            <a:r>
              <a:rPr lang="en-AU" sz="1300" dirty="0">
                <a:solidFill>
                  <a:schemeClr val="tx2"/>
                </a:solidFill>
              </a:rPr>
              <a:t>But – we should learn the </a:t>
            </a:r>
            <a:r>
              <a:rPr lang="en-AU" sz="1300" u="sng" dirty="0">
                <a:solidFill>
                  <a:schemeClr val="tx2"/>
                </a:solidFill>
              </a:rPr>
              <a:t>wider approach to web projects</a:t>
            </a:r>
          </a:p>
          <a:p>
            <a:pPr lvl="1">
              <a:lnSpc>
                <a:spcPct val="100000"/>
              </a:lnSpc>
            </a:pPr>
            <a:endParaRPr lang="en-AU" sz="1300" dirty="0">
              <a:solidFill>
                <a:schemeClr val="tx2"/>
              </a:solidFill>
            </a:endParaRPr>
          </a:p>
          <a:p>
            <a:pPr>
              <a:lnSpc>
                <a:spcPct val="100000"/>
              </a:lnSpc>
            </a:pPr>
            <a:r>
              <a:rPr lang="en-AU" sz="1300" b="1" dirty="0">
                <a:solidFill>
                  <a:schemeClr val="tx2"/>
                </a:solidFill>
              </a:rPr>
              <a:t>The “Before” Stages of a Web Project</a:t>
            </a:r>
          </a:p>
          <a:p>
            <a:pPr lvl="1">
              <a:lnSpc>
                <a:spcPct val="100000"/>
              </a:lnSpc>
            </a:pPr>
            <a:r>
              <a:rPr lang="en-AU" sz="1300" dirty="0">
                <a:solidFill>
                  <a:schemeClr val="tx2"/>
                </a:solidFill>
              </a:rPr>
              <a:t> </a:t>
            </a:r>
            <a:r>
              <a:rPr lang="en-AU" sz="1300" u="sng" dirty="0">
                <a:solidFill>
                  <a:schemeClr val="tx2"/>
                </a:solidFill>
              </a:rPr>
              <a:t>WHAT</a:t>
            </a:r>
            <a:r>
              <a:rPr lang="en-AU" sz="1300" dirty="0">
                <a:solidFill>
                  <a:schemeClr val="tx2"/>
                </a:solidFill>
              </a:rPr>
              <a:t> technology/technologies should we use for certain projects?</a:t>
            </a:r>
          </a:p>
          <a:p>
            <a:pPr lvl="1">
              <a:lnSpc>
                <a:spcPct val="100000"/>
              </a:lnSpc>
            </a:pPr>
            <a:endParaRPr lang="en-AU" sz="1300" dirty="0">
              <a:solidFill>
                <a:schemeClr val="tx2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AU" sz="1300" u="sng" dirty="0">
                <a:solidFill>
                  <a:schemeClr val="tx2"/>
                </a:solidFill>
              </a:rPr>
              <a:t>WHICH</a:t>
            </a:r>
            <a:r>
              <a:rPr lang="en-AU" sz="1300" dirty="0">
                <a:solidFill>
                  <a:schemeClr val="tx2"/>
                </a:solidFill>
              </a:rPr>
              <a:t> technologies should we pair together to reach an acceptable project solution?</a:t>
            </a:r>
          </a:p>
          <a:p>
            <a:pPr lvl="1">
              <a:lnSpc>
                <a:spcPct val="100000"/>
              </a:lnSpc>
            </a:pPr>
            <a:endParaRPr lang="en-AU" sz="1300" dirty="0">
              <a:solidFill>
                <a:schemeClr val="tx2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AU" sz="1300" u="sng" dirty="0">
                <a:solidFill>
                  <a:schemeClr val="tx2"/>
                </a:solidFill>
              </a:rPr>
              <a:t>WHO</a:t>
            </a:r>
            <a:r>
              <a:rPr lang="en-AU" sz="1300" dirty="0">
                <a:solidFill>
                  <a:schemeClr val="tx2"/>
                </a:solidFill>
              </a:rPr>
              <a:t> is our intended audience &amp; what does the website need to retain them?</a:t>
            </a:r>
          </a:p>
          <a:p>
            <a:pPr lvl="1">
              <a:lnSpc>
                <a:spcPct val="100000"/>
              </a:lnSpc>
            </a:pPr>
            <a:endParaRPr lang="en-AU" sz="1300" dirty="0">
              <a:solidFill>
                <a:schemeClr val="tx2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AU" sz="1300" u="sng" dirty="0">
                <a:solidFill>
                  <a:schemeClr val="tx2"/>
                </a:solidFill>
              </a:rPr>
              <a:t>HOW</a:t>
            </a:r>
            <a:r>
              <a:rPr lang="en-AU" sz="1300" dirty="0">
                <a:solidFill>
                  <a:schemeClr val="tx2"/>
                </a:solidFill>
              </a:rPr>
              <a:t> are we to implement the technologies in a manner that achieves the best possible website outcome, with both structural and design aspects in mind?</a:t>
            </a:r>
          </a:p>
        </p:txBody>
      </p:sp>
    </p:spTree>
    <p:extLst>
      <p:ext uri="{BB962C8B-B14F-4D97-AF65-F5344CB8AC3E}">
        <p14:creationId xmlns:p14="http://schemas.microsoft.com/office/powerpoint/2010/main" val="2789858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B7DD83-8C23-4292-86EE-35D1060B0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790C9A-0991-401B-895E-E99FA71CB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524" y="0"/>
            <a:ext cx="12188952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xy" algn="t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F48EE-E4EF-F7D3-1DF3-DCA3C1833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726066"/>
            <a:ext cx="4795282" cy="5018227"/>
          </a:xfrm>
        </p:spPr>
        <p:txBody>
          <a:bodyPr anchor="ctr">
            <a:normAutofit/>
          </a:bodyPr>
          <a:lstStyle/>
          <a:p>
            <a:r>
              <a:rPr lang="en-AU" dirty="0"/>
              <a:t>Planning is Important!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1A1C1-F014-0B9B-A876-4880F1199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5372" y="726537"/>
            <a:ext cx="4977905" cy="5684895"/>
          </a:xfrm>
        </p:spPr>
        <p:txBody>
          <a:bodyPr anchor="ctr">
            <a:normAutofit/>
          </a:bodyPr>
          <a:lstStyle/>
          <a:p>
            <a:r>
              <a:rPr lang="en-AU" sz="1800" b="1" dirty="0"/>
              <a:t>Developing a consistent approach to web projects has its’ benefits:</a:t>
            </a:r>
          </a:p>
          <a:p>
            <a:pPr lvl="1"/>
            <a:r>
              <a:rPr lang="en-AU" sz="1800" dirty="0"/>
              <a:t>Consistent web projects &amp; timeframes</a:t>
            </a:r>
          </a:p>
          <a:p>
            <a:pPr lvl="1"/>
            <a:r>
              <a:rPr lang="en-AU" sz="1800" dirty="0"/>
              <a:t>Dev can consider all potential users &amp; contemplate all client needs </a:t>
            </a:r>
          </a:p>
          <a:p>
            <a:pPr lvl="1"/>
            <a:r>
              <a:rPr lang="en-AU" sz="1800" dirty="0"/>
              <a:t>Makes the web build phase more efficient &amp; coherent</a:t>
            </a:r>
          </a:p>
          <a:p>
            <a:pPr lvl="1"/>
            <a:r>
              <a:rPr lang="en-AU" sz="1800" dirty="0"/>
              <a:t>Prior due diligence can uncover issues early</a:t>
            </a:r>
          </a:p>
          <a:p>
            <a:pPr lvl="1"/>
            <a:r>
              <a:rPr lang="en-AU" sz="1800" dirty="0"/>
              <a:t>Early problem-solving can reduce unnecessary scope</a:t>
            </a:r>
          </a:p>
          <a:p>
            <a:pPr lvl="1"/>
            <a:r>
              <a:rPr lang="en-AU" sz="1800" dirty="0"/>
              <a:t>Dev understands  the build’s “</a:t>
            </a:r>
            <a:r>
              <a:rPr lang="en-AU" sz="1800" dirty="0" err="1"/>
              <a:t>MoSCoW</a:t>
            </a:r>
            <a:r>
              <a:rPr lang="en-AU" sz="1800" dirty="0"/>
              <a:t>”: </a:t>
            </a:r>
            <a:r>
              <a:rPr lang="en-AU" sz="1800" b="1" dirty="0"/>
              <a:t>Must</a:t>
            </a:r>
            <a:r>
              <a:rPr lang="en-AU" sz="1800" dirty="0"/>
              <a:t> haves - </a:t>
            </a:r>
            <a:r>
              <a:rPr lang="en-AU" sz="1800" b="1" dirty="0"/>
              <a:t>Should</a:t>
            </a:r>
            <a:r>
              <a:rPr lang="en-AU" sz="1800" dirty="0"/>
              <a:t> Haves - </a:t>
            </a:r>
            <a:r>
              <a:rPr lang="en-AU" sz="1800" b="1" dirty="0"/>
              <a:t>Could</a:t>
            </a:r>
            <a:r>
              <a:rPr lang="en-AU" sz="1800" dirty="0"/>
              <a:t> Haves - </a:t>
            </a:r>
            <a:r>
              <a:rPr lang="en-AU" sz="1800" b="1" dirty="0"/>
              <a:t>Wont</a:t>
            </a:r>
            <a:r>
              <a:rPr lang="en-AU" sz="1800" dirty="0"/>
              <a:t> Haves</a:t>
            </a:r>
          </a:p>
        </p:txBody>
      </p:sp>
    </p:spTree>
    <p:extLst>
      <p:ext uri="{BB962C8B-B14F-4D97-AF65-F5344CB8AC3E}">
        <p14:creationId xmlns:p14="http://schemas.microsoft.com/office/powerpoint/2010/main" val="3601786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79269-762C-1D17-CCEB-DDED32925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Planning Really Helps Juniors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49332-B750-83DE-4059-780147C6B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b="1" dirty="0"/>
              <a:t>Learning code is hard!</a:t>
            </a:r>
          </a:p>
          <a:p>
            <a:pPr lvl="1"/>
            <a:r>
              <a:rPr lang="en-AU" dirty="0"/>
              <a:t>Hardest part – having the mental model to solve “what do I do next”</a:t>
            </a:r>
          </a:p>
          <a:p>
            <a:pPr lvl="1"/>
            <a:r>
              <a:rPr lang="en-AU" dirty="0"/>
              <a:t>This can lead to a feeling of “being lost”</a:t>
            </a:r>
          </a:p>
          <a:p>
            <a:pPr lvl="1"/>
            <a:endParaRPr lang="en-AU" dirty="0"/>
          </a:p>
          <a:p>
            <a:r>
              <a:rPr lang="en-AU" b="1" dirty="0"/>
              <a:t>Clear framework &amp; approach -&gt;</a:t>
            </a:r>
          </a:p>
          <a:p>
            <a:pPr lvl="1"/>
            <a:r>
              <a:rPr lang="en-AU" dirty="0"/>
              <a:t>Can improve early confidence in abilities &amp; decision-making</a:t>
            </a:r>
          </a:p>
          <a:p>
            <a:pPr lvl="1"/>
            <a:r>
              <a:rPr lang="en-AU" dirty="0"/>
              <a:t>Can reduce the number of errors &amp; poor code</a:t>
            </a:r>
          </a:p>
          <a:p>
            <a:pPr lvl="1"/>
            <a:r>
              <a:rPr lang="en-AU" dirty="0"/>
              <a:t>Can speed up how fast you generate web projects</a:t>
            </a:r>
          </a:p>
          <a:p>
            <a:pPr lvl="1"/>
            <a:r>
              <a:rPr lang="en-AU" dirty="0"/>
              <a:t>Improves the final product you develop!</a:t>
            </a:r>
          </a:p>
        </p:txBody>
      </p:sp>
    </p:spTree>
    <p:extLst>
      <p:ext uri="{BB962C8B-B14F-4D97-AF65-F5344CB8AC3E}">
        <p14:creationId xmlns:p14="http://schemas.microsoft.com/office/powerpoint/2010/main" val="2176867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AD9BA0-B456-6228-839E-F0161149C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10348146" cy="1283471"/>
          </a:xfrm>
        </p:spPr>
        <p:txBody>
          <a:bodyPr anchor="t">
            <a:normAutofit/>
          </a:bodyPr>
          <a:lstStyle/>
          <a:p>
            <a:r>
              <a:rPr lang="en-AU">
                <a:solidFill>
                  <a:schemeClr val="tx2"/>
                </a:solidFill>
              </a:rPr>
              <a:t>Key planning steps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342"/>
          <a:stretch/>
        </p:blipFill>
        <p:spPr>
          <a:xfrm rot="10800000">
            <a:off x="-1" y="2719661"/>
            <a:ext cx="830249" cy="2548349"/>
          </a:xfrm>
          <a:prstGeom prst="rect">
            <a:avLst/>
          </a:prstGeom>
        </p:spPr>
      </p:pic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73BB5FE7-E55A-923F-47DC-9310258419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1871711"/>
              </p:ext>
            </p:extLst>
          </p:nvPr>
        </p:nvGraphicFramePr>
        <p:xfrm>
          <a:off x="1197268" y="1843284"/>
          <a:ext cx="10156531" cy="43336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9147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" name="Picture 4" descr="Layout of website design sketches on white paper">
            <a:extLst>
              <a:ext uri="{FF2B5EF4-FFF2-40B4-BE49-F238E27FC236}">
                <a16:creationId xmlns:a16="http://schemas.microsoft.com/office/drawing/2014/main" id="{FC846999-8C47-E884-1E6F-8F444347D8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734" r="14734"/>
          <a:stretch/>
        </p:blipFill>
        <p:spPr>
          <a:xfrm>
            <a:off x="3048" y="10"/>
            <a:ext cx="6195372" cy="461823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02877"/>
            <a:ext cx="12192000" cy="226733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5" y="4596020"/>
            <a:ext cx="12191999" cy="2274195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140C3D-6617-13C9-3F07-17D6AB392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76800"/>
            <a:ext cx="10003218" cy="1219200"/>
          </a:xfrm>
        </p:spPr>
        <p:txBody>
          <a:bodyPr>
            <a:normAutofit/>
          </a:bodyPr>
          <a:lstStyle/>
          <a:p>
            <a:r>
              <a:rPr lang="en-AU" dirty="0"/>
              <a:t>Web approaches are often </a:t>
            </a:r>
            <a:r>
              <a:rPr lang="en-AU" i="1" dirty="0"/>
              <a:t>fluid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CBBED-2007-D230-C207-52F8095E1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0" y="399684"/>
            <a:ext cx="4800600" cy="3935986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AU" sz="1800" b="1" dirty="0">
                <a:solidFill>
                  <a:schemeClr val="tx2"/>
                </a:solidFill>
              </a:rPr>
              <a:t>Presented Approach is ONE way to plan a web project</a:t>
            </a:r>
          </a:p>
          <a:p>
            <a:pPr lvl="1">
              <a:lnSpc>
                <a:spcPct val="100000"/>
              </a:lnSpc>
            </a:pPr>
            <a:r>
              <a:rPr lang="en-AU" sz="1800" dirty="0">
                <a:solidFill>
                  <a:schemeClr val="tx2"/>
                </a:solidFill>
              </a:rPr>
              <a:t>Other devs can have different approaches</a:t>
            </a:r>
          </a:p>
          <a:p>
            <a:pPr lvl="1">
              <a:lnSpc>
                <a:spcPct val="100000"/>
              </a:lnSpc>
            </a:pPr>
            <a:r>
              <a:rPr lang="en-AU" sz="1800" dirty="0">
                <a:solidFill>
                  <a:schemeClr val="tx2"/>
                </a:solidFill>
              </a:rPr>
              <a:t>Some focus more on content &amp; outsource the design stage to graphic designers</a:t>
            </a:r>
          </a:p>
          <a:p>
            <a:pPr lvl="1">
              <a:lnSpc>
                <a:spcPct val="100000"/>
              </a:lnSpc>
            </a:pPr>
            <a:r>
              <a:rPr lang="en-AU" sz="1800" dirty="0">
                <a:solidFill>
                  <a:schemeClr val="tx2"/>
                </a:solidFill>
              </a:rPr>
              <a:t>Some skip steps and focus straight to wireframing &amp; prototyping</a:t>
            </a:r>
          </a:p>
          <a:p>
            <a:pPr lvl="1">
              <a:lnSpc>
                <a:spcPct val="100000"/>
              </a:lnSpc>
            </a:pPr>
            <a:endParaRPr lang="en-AU" sz="1800" dirty="0">
              <a:solidFill>
                <a:schemeClr val="tx2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AU" sz="1800" dirty="0">
                <a:solidFill>
                  <a:schemeClr val="tx2"/>
                </a:solidFill>
              </a:rPr>
              <a:t>You should be </a:t>
            </a:r>
            <a:r>
              <a:rPr lang="en-AU" sz="1800" u="sng" dirty="0">
                <a:solidFill>
                  <a:schemeClr val="tx2"/>
                </a:solidFill>
              </a:rPr>
              <a:t>flexible</a:t>
            </a:r>
            <a:r>
              <a:rPr lang="en-AU" sz="1800" dirty="0">
                <a:solidFill>
                  <a:schemeClr val="tx2"/>
                </a:solidFill>
              </a:rPr>
              <a:t> &amp; adjust based on your </a:t>
            </a:r>
            <a:r>
              <a:rPr lang="en-AU" sz="1800" b="1" u="sng" dirty="0">
                <a:solidFill>
                  <a:schemeClr val="tx2"/>
                </a:solidFill>
              </a:rPr>
              <a:t>project timeframe</a:t>
            </a:r>
          </a:p>
        </p:txBody>
      </p:sp>
    </p:spTree>
    <p:extLst>
      <p:ext uri="{BB962C8B-B14F-4D97-AF65-F5344CB8AC3E}">
        <p14:creationId xmlns:p14="http://schemas.microsoft.com/office/powerpoint/2010/main" val="1561858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2748806-3AF5-4078-830A-C1F26BF1B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F991FCB-5132-414C-B377-526F56121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1BF268-F6AF-1B6B-B731-C10C3B8C0F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10" b="7810"/>
          <a:stretch/>
        </p:blipFill>
        <p:spPr>
          <a:xfrm>
            <a:off x="20" y="1376"/>
            <a:ext cx="12188932" cy="6856624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F23DAFF7-4C98-4E0E-8986-198D54B6C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0" y="0"/>
            <a:ext cx="6858000" cy="6858000"/>
          </a:xfrm>
          <a:prstGeom prst="rect">
            <a:avLst/>
          </a:prstGeom>
          <a:gradFill>
            <a:gsLst>
              <a:gs pos="100000">
                <a:schemeClr val="tx1">
                  <a:alpha val="0"/>
                </a:schemeClr>
              </a:gs>
              <a:gs pos="0">
                <a:schemeClr val="tx1"/>
              </a:gs>
              <a:gs pos="0">
                <a:schemeClr val="tx1">
                  <a:alpha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095E96-319D-4055-AD99-41FEB4030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546522"/>
            <a:ext cx="6327657" cy="4003971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EBF7A8-B42B-4EC3-B442-9B2D1902A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7" y="1546521"/>
            <a:ext cx="6327656" cy="4016078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1782AB-EFBB-4FB4-9083-A70E18258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654" y="1828800"/>
            <a:ext cx="4958128" cy="2209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 Website Strategy Phase</a:t>
            </a:r>
          </a:p>
        </p:txBody>
      </p:sp>
    </p:spTree>
    <p:extLst>
      <p:ext uri="{BB962C8B-B14F-4D97-AF65-F5344CB8AC3E}">
        <p14:creationId xmlns:p14="http://schemas.microsoft.com/office/powerpoint/2010/main" val="34344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4E837-BDF7-9272-9F04-96A77DC96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1. Website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9AAC0-99F5-EFD9-5045-DC9312190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Analysis of client/personal web application &amp; summarising: 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Goals of the website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Goals of intended audience / users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Defining what is “success” / “the outcome”</a:t>
            </a:r>
          </a:p>
          <a:p>
            <a:pPr lvl="1"/>
            <a:endParaRPr lang="en-US" dirty="0">
              <a:solidFill>
                <a:srgbClr val="FFFFFF"/>
              </a:solidFill>
            </a:endParaRPr>
          </a:p>
          <a:p>
            <a:r>
              <a:rPr lang="en-US" b="1" dirty="0">
                <a:solidFill>
                  <a:srgbClr val="FFFFFF"/>
                </a:solidFill>
              </a:rPr>
              <a:t>In industry/freelancing, this stage can even include processes such as: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Direct client consultation &amp; presentations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Market research &amp; competitor analysis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User research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42757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DAFE2-9AB2-382D-560C-47D5DD7FD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2. Content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3058A-DC80-F06A-8BB1-E98EB3C0E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9450"/>
            <a:ext cx="10515600" cy="454279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200" dirty="0">
                <a:solidFill>
                  <a:srgbClr val="FFFFFF"/>
                </a:solidFill>
              </a:rPr>
              <a:t>Equipped with client raw data, </a:t>
            </a:r>
            <a:r>
              <a:rPr lang="en-US" sz="2200" b="1" dirty="0">
                <a:solidFill>
                  <a:srgbClr val="FFFFFF"/>
                </a:solidFill>
              </a:rPr>
              <a:t>ideation</a:t>
            </a:r>
            <a:r>
              <a:rPr lang="en-US" sz="2200" dirty="0">
                <a:solidFill>
                  <a:srgbClr val="FFFFFF"/>
                </a:solidFill>
              </a:rPr>
              <a:t> must begin, whereby the design team must generate ideas &amp; possible solutions to eventually generate a viable website prototype</a:t>
            </a:r>
          </a:p>
          <a:p>
            <a:pPr>
              <a:lnSpc>
                <a:spcPct val="90000"/>
              </a:lnSpc>
            </a:pPr>
            <a:r>
              <a:rPr lang="en-US" sz="2200" b="1" dirty="0">
                <a:solidFill>
                  <a:srgbClr val="FFFFFF"/>
                </a:solidFill>
              </a:rPr>
              <a:t>At this stage, we should brainstorm &amp; determine: </a:t>
            </a:r>
          </a:p>
          <a:p>
            <a:pPr lvl="1">
              <a:lnSpc>
                <a:spcPct val="90000"/>
              </a:lnSpc>
            </a:pPr>
            <a:r>
              <a:rPr lang="en-US" sz="2200" dirty="0">
                <a:solidFill>
                  <a:srgbClr val="FFFFFF"/>
                </a:solidFill>
              </a:rPr>
              <a:t>What pages to be included on the site </a:t>
            </a:r>
          </a:p>
          <a:p>
            <a:pPr lvl="1">
              <a:lnSpc>
                <a:spcPct val="90000"/>
              </a:lnSpc>
            </a:pPr>
            <a:r>
              <a:rPr lang="en-US" sz="2200" dirty="0">
                <a:solidFill>
                  <a:srgbClr val="FFFFFF"/>
                </a:solidFill>
              </a:rPr>
              <a:t>What it should “feel” like on the page</a:t>
            </a:r>
          </a:p>
          <a:p>
            <a:pPr lvl="1">
              <a:lnSpc>
                <a:spcPct val="90000"/>
              </a:lnSpc>
            </a:pPr>
            <a:r>
              <a:rPr lang="en-US" sz="2200" dirty="0">
                <a:solidFill>
                  <a:srgbClr val="FFFFFF"/>
                </a:solidFill>
              </a:rPr>
              <a:t>Any important/significant features to be included on a page, or the site in general</a:t>
            </a:r>
          </a:p>
          <a:p>
            <a:pPr lvl="1">
              <a:lnSpc>
                <a:spcPct val="90000"/>
              </a:lnSpc>
            </a:pPr>
            <a:endParaRPr lang="en-US" sz="22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200" b="1" dirty="0">
                <a:solidFill>
                  <a:srgbClr val="FFFFFF"/>
                </a:solidFill>
              </a:rPr>
              <a:t>In industry/freelancing, this stage can even include processes such as:</a:t>
            </a:r>
          </a:p>
          <a:p>
            <a:pPr lvl="1">
              <a:lnSpc>
                <a:spcPct val="90000"/>
              </a:lnSpc>
            </a:pPr>
            <a:r>
              <a:rPr lang="en-US" sz="2200" b="1" dirty="0">
                <a:solidFill>
                  <a:srgbClr val="FFFFFF"/>
                </a:solidFill>
              </a:rPr>
              <a:t>“User cases”: </a:t>
            </a:r>
            <a:r>
              <a:rPr lang="en-US" sz="2200" dirty="0">
                <a:solidFill>
                  <a:srgbClr val="FFFFFF"/>
                </a:solidFill>
              </a:rPr>
              <a:t>this process simulates different users and how they will behave on the planned site to accomplish a goal or task</a:t>
            </a:r>
          </a:p>
        </p:txBody>
      </p:sp>
    </p:spTree>
    <p:extLst>
      <p:ext uri="{BB962C8B-B14F-4D97-AF65-F5344CB8AC3E}">
        <p14:creationId xmlns:p14="http://schemas.microsoft.com/office/powerpoint/2010/main" val="248496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843946-A7B0-34AF-92AA-023CA3F8A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6992"/>
            <a:ext cx="4953000" cy="1664573"/>
          </a:xfrm>
        </p:spPr>
        <p:txBody>
          <a:bodyPr>
            <a:normAutofit/>
          </a:bodyPr>
          <a:lstStyle/>
          <a:p>
            <a:r>
              <a:rPr lang="en-AU">
                <a:solidFill>
                  <a:schemeClr val="tx2"/>
                </a:solidFill>
              </a:rPr>
              <a:t>3. Information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5642-6FA7-D4AC-774F-774419A1A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1653"/>
            <a:ext cx="4745917" cy="3728613"/>
          </a:xfrm>
        </p:spPr>
        <p:txBody>
          <a:bodyPr>
            <a:normAutofit lnSpcReduction="10000"/>
          </a:bodyPr>
          <a:lstStyle/>
          <a:p>
            <a:r>
              <a:rPr lang="en-US" sz="2200" dirty="0">
                <a:solidFill>
                  <a:schemeClr val="tx2"/>
                </a:solidFill>
              </a:rPr>
              <a:t>From here, we need collate all our strategic &amp; content information and organise them in a logical way and establish consistent navigation</a:t>
            </a:r>
          </a:p>
          <a:p>
            <a:r>
              <a:rPr lang="en-US" sz="2200" dirty="0">
                <a:solidFill>
                  <a:schemeClr val="tx2"/>
                </a:solidFill>
              </a:rPr>
              <a:t>At this stage, designers </a:t>
            </a:r>
            <a:r>
              <a:rPr lang="en-US" sz="2200" dirty="0" err="1">
                <a:solidFill>
                  <a:schemeClr val="tx2"/>
                </a:solidFill>
              </a:rPr>
              <a:t>categorise</a:t>
            </a:r>
            <a:r>
              <a:rPr lang="en-US" sz="2200" dirty="0">
                <a:solidFill>
                  <a:schemeClr val="tx2"/>
                </a:solidFill>
              </a:rPr>
              <a:t> content and create the site map to visualize the content flow and allow the beginnings of the site to take shape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4C9708-F6A4-4956-B261-A4A2C4DFE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48400" y="0"/>
            <a:ext cx="59436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2DB257-3E16-4A3C-9E28-468282812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0666" y="0"/>
            <a:ext cx="6001333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7685E6-1160-459B-8C70-301404C06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196875" y="0"/>
            <a:ext cx="5992075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E6174E-6436-1B88-AFA0-F322A7705C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7551"/>
          <a:stretch/>
        </p:blipFill>
        <p:spPr>
          <a:xfrm>
            <a:off x="6858001" y="1397787"/>
            <a:ext cx="4724400" cy="405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308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2748806-3AF5-4078-830A-C1F26BF1B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991FCB-5132-414C-B377-526F56121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844B83-92EC-244E-1BD1-37E77BAFCB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10" b="7810"/>
          <a:stretch/>
        </p:blipFill>
        <p:spPr>
          <a:xfrm>
            <a:off x="20" y="1376"/>
            <a:ext cx="12188932" cy="685662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23DAFF7-4C98-4E0E-8986-198D54B6C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0" y="0"/>
            <a:ext cx="6858000" cy="6858000"/>
          </a:xfrm>
          <a:prstGeom prst="rect">
            <a:avLst/>
          </a:prstGeom>
          <a:gradFill>
            <a:gsLst>
              <a:gs pos="100000">
                <a:schemeClr val="tx1">
                  <a:alpha val="0"/>
                </a:schemeClr>
              </a:gs>
              <a:gs pos="0">
                <a:schemeClr val="tx1"/>
              </a:gs>
              <a:gs pos="0">
                <a:schemeClr val="tx1">
                  <a:alpha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095E96-319D-4055-AD99-41FEB4030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546522"/>
            <a:ext cx="6327657" cy="4003971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EBF7A8-B42B-4EC3-B442-9B2D1902A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7" y="1546521"/>
            <a:ext cx="6327656" cy="4016078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7693B6-C392-A47A-E8B6-28B8B0E38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654" y="1828800"/>
            <a:ext cx="4958128" cy="2209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 Design Planning Phase</a:t>
            </a:r>
          </a:p>
        </p:txBody>
      </p:sp>
    </p:spTree>
    <p:extLst>
      <p:ext uri="{BB962C8B-B14F-4D97-AF65-F5344CB8AC3E}">
        <p14:creationId xmlns:p14="http://schemas.microsoft.com/office/powerpoint/2010/main" val="3274565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CD29B3-2375-399A-9D3A-2A5EACEB7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6992"/>
            <a:ext cx="4953000" cy="1664573"/>
          </a:xfrm>
        </p:spPr>
        <p:txBody>
          <a:bodyPr>
            <a:normAutofit/>
          </a:bodyPr>
          <a:lstStyle/>
          <a:p>
            <a:r>
              <a:rPr lang="en-AU">
                <a:solidFill>
                  <a:schemeClr val="tx2"/>
                </a:solidFill>
              </a:rPr>
              <a:t>4. Wireframe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049EF-FFCA-31F1-EB47-657579A36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1653"/>
            <a:ext cx="4952681" cy="3728613"/>
          </a:xfrm>
        </p:spPr>
        <p:txBody>
          <a:bodyPr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The next step is to boil down the pages illustrated in the site map, into a specific Wireframe</a:t>
            </a:r>
          </a:p>
          <a:p>
            <a:r>
              <a:rPr lang="en-US" sz="1800">
                <a:solidFill>
                  <a:schemeClr val="tx2"/>
                </a:solidFill>
              </a:rPr>
              <a:t>The Wireframe will outline the layout of elements on pages, the components needed &amp; necessary features like buttons, images &amp; text </a:t>
            </a:r>
          </a:p>
          <a:p>
            <a:r>
              <a:rPr lang="en-US" sz="1800">
                <a:solidFill>
                  <a:schemeClr val="tx2"/>
                </a:solidFill>
              </a:rPr>
              <a:t>Generally, </a:t>
            </a:r>
            <a:r>
              <a:rPr lang="en-US" sz="1800" b="1" u="sng">
                <a:solidFill>
                  <a:schemeClr val="tx2"/>
                </a:solidFill>
              </a:rPr>
              <a:t>ONLY in a black &amp; white plan</a:t>
            </a:r>
            <a:r>
              <a:rPr lang="en-US" sz="1800">
                <a:solidFill>
                  <a:schemeClr val="tx2"/>
                </a:solidFill>
              </a:rPr>
              <a:t> (</a:t>
            </a:r>
            <a:r>
              <a:rPr lang="en-US" sz="1800" i="1">
                <a:solidFill>
                  <a:schemeClr val="tx2"/>
                </a:solidFill>
              </a:rPr>
              <a:t>colour, assets, etc. can be introduced later in prototyping</a:t>
            </a:r>
            <a:r>
              <a:rPr lang="en-US" sz="1800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2DB257-3E16-4A3C-9E28-468282812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45352" y="0"/>
            <a:ext cx="594664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7685E6-1160-459B-8C70-301404C06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245352" y="0"/>
            <a:ext cx="5943600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266BCC-9220-0F59-A8FB-356E92114B9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0152"/>
          <a:stretch/>
        </p:blipFill>
        <p:spPr>
          <a:xfrm>
            <a:off x="6858001" y="567942"/>
            <a:ext cx="4724400" cy="571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106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51"/>
            <a:ext cx="12192000" cy="221768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"/>
            <a:ext cx="12191999" cy="2224386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D0F17A-2808-C4FE-6F2E-604A6C06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AU"/>
              <a:t>5. Style Guide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9C3A1-3903-95EF-A5CC-FFC7118B5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45362"/>
            <a:ext cx="4800600" cy="3552824"/>
          </a:xfrm>
        </p:spPr>
        <p:txBody>
          <a:bodyPr anchor="ctr">
            <a:normAutofit/>
          </a:bodyPr>
          <a:lstStyle/>
          <a:p>
            <a:r>
              <a:rPr lang="en-US" sz="1800">
                <a:solidFill>
                  <a:schemeClr val="tx1"/>
                </a:solidFill>
              </a:rPr>
              <a:t>Focus now shifts to the appearance and style of the web application – where the necessary components of user interface design are determined</a:t>
            </a:r>
          </a:p>
          <a:p>
            <a:r>
              <a:rPr lang="en-US" sz="1800">
                <a:solidFill>
                  <a:schemeClr val="tx1"/>
                </a:solidFill>
              </a:rPr>
              <a:t>This aids setting out a common style, colour palette, typography, themes, assets and forms to implement in the product</a:t>
            </a:r>
          </a:p>
          <a:p>
            <a:r>
              <a:rPr lang="en-US" sz="1800">
                <a:solidFill>
                  <a:schemeClr val="tx1"/>
                </a:solidFill>
              </a:rPr>
              <a:t>The best tool this is captured within is often the </a:t>
            </a:r>
            <a:r>
              <a:rPr lang="en-US" sz="1800" b="1">
                <a:solidFill>
                  <a:schemeClr val="tx1"/>
                </a:solidFill>
              </a:rPr>
              <a:t>UI Mood 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0AC052-0374-00F5-B1D1-69DAD8DCC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628" y="2818113"/>
            <a:ext cx="5585772" cy="3407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71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B3C263-C98E-CD39-F1FF-C9A76C76F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6992"/>
            <a:ext cx="4953000" cy="1664573"/>
          </a:xfrm>
        </p:spPr>
        <p:txBody>
          <a:bodyPr>
            <a:normAutofit/>
          </a:bodyPr>
          <a:lstStyle/>
          <a:p>
            <a:r>
              <a:rPr lang="en-AU">
                <a:solidFill>
                  <a:schemeClr val="tx2"/>
                </a:solidFill>
              </a:rPr>
              <a:t>6. Prototyping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1905B-96B1-42B7-E3C7-C63D2623F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1653"/>
            <a:ext cx="4952681" cy="3728613"/>
          </a:xfrm>
        </p:spPr>
        <p:txBody>
          <a:bodyPr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With all the design components assembled (generally stored in a “UI Guidebook”) &amp; general layout of the website’s architecture established, the stages are combined into a paper OR digital prototype of the website</a:t>
            </a:r>
          </a:p>
          <a:p>
            <a:r>
              <a:rPr lang="en-US" sz="1800">
                <a:solidFill>
                  <a:schemeClr val="tx2"/>
                </a:solidFill>
              </a:rPr>
              <a:t>Effectively, the prototype should encapsulate the structure of the wireframes, overlaid with the UI design components (</a:t>
            </a:r>
            <a:r>
              <a:rPr lang="en-US" sz="1800" i="1">
                <a:solidFill>
                  <a:schemeClr val="tx2"/>
                </a:solidFill>
              </a:rPr>
              <a:t>“effectively coloured &amp; filled-in wireframes”</a:t>
            </a:r>
            <a:r>
              <a:rPr lang="en-US" sz="1800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4C9708-F6A4-4956-B261-A4A2C4DFE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48400" y="0"/>
            <a:ext cx="59436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2DB257-3E16-4A3C-9E28-468282812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0666" y="0"/>
            <a:ext cx="6001333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7685E6-1160-459B-8C70-301404C06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196875" y="0"/>
            <a:ext cx="5992075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6905AD-804F-E76F-BDF9-9D1269AD1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1" y="1554330"/>
            <a:ext cx="4724400" cy="374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978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2748806-3AF5-4078-830A-C1F26BF1B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F991FCB-5132-414C-B377-526F56121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" name="Picture 4" descr="Wavy 3D patterns">
            <a:extLst>
              <a:ext uri="{FF2B5EF4-FFF2-40B4-BE49-F238E27FC236}">
                <a16:creationId xmlns:a16="http://schemas.microsoft.com/office/drawing/2014/main" id="{48C3857D-7D7F-B7F3-2E21-4B3F879BF1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10" b="7810"/>
          <a:stretch/>
        </p:blipFill>
        <p:spPr>
          <a:xfrm>
            <a:off x="20" y="1376"/>
            <a:ext cx="12188932" cy="6856624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F23DAFF7-4C98-4E0E-8986-198D54B6C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0" y="0"/>
            <a:ext cx="6858000" cy="6858000"/>
          </a:xfrm>
          <a:prstGeom prst="rect">
            <a:avLst/>
          </a:prstGeom>
          <a:gradFill>
            <a:gsLst>
              <a:gs pos="100000">
                <a:schemeClr val="tx1">
                  <a:alpha val="0"/>
                </a:schemeClr>
              </a:gs>
              <a:gs pos="0">
                <a:schemeClr val="tx1"/>
              </a:gs>
              <a:gs pos="0">
                <a:schemeClr val="tx1">
                  <a:alpha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095E96-319D-4055-AD99-41FEB4030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546522"/>
            <a:ext cx="6327657" cy="4003971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EBF7A8-B42B-4EC3-B442-9B2D1902A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7" y="1546521"/>
            <a:ext cx="6327656" cy="4016078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E5E3D2-5C52-08A5-BBB9-9AE77D1D1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654" y="1828800"/>
            <a:ext cx="4958128" cy="2209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7. Sign Off &amp; Commence Build</a:t>
            </a:r>
          </a:p>
        </p:txBody>
      </p:sp>
    </p:spTree>
    <p:extLst>
      <p:ext uri="{BB962C8B-B14F-4D97-AF65-F5344CB8AC3E}">
        <p14:creationId xmlns:p14="http://schemas.microsoft.com/office/powerpoint/2010/main" val="1756867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2748806-3AF5-4078-830A-C1F26BF1B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991FCB-5132-414C-B377-526F56121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0E7486-A299-C3EF-3358-B993B2B74C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10" b="7810"/>
          <a:stretch/>
        </p:blipFill>
        <p:spPr>
          <a:xfrm>
            <a:off x="20" y="1376"/>
            <a:ext cx="12188932" cy="6856624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F23DAFF7-4C98-4E0E-8986-198D54B6C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0" y="0"/>
            <a:ext cx="6858000" cy="6858000"/>
          </a:xfrm>
          <a:prstGeom prst="rect">
            <a:avLst/>
          </a:prstGeom>
          <a:gradFill>
            <a:gsLst>
              <a:gs pos="100000">
                <a:schemeClr val="tx1">
                  <a:alpha val="0"/>
                </a:schemeClr>
              </a:gs>
              <a:gs pos="0">
                <a:schemeClr val="tx1"/>
              </a:gs>
              <a:gs pos="0">
                <a:schemeClr val="tx1">
                  <a:alpha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A095E96-319D-4055-AD99-41FEB4030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546522"/>
            <a:ext cx="6327657" cy="4003971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5EBF7A8-B42B-4EC3-B442-9B2D1902A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7" y="1546521"/>
            <a:ext cx="6327656" cy="4016078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4157C9-C161-9EF9-7635-B974F0086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654" y="1828800"/>
            <a:ext cx="4958128" cy="2209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Review of Design Tools</a:t>
            </a:r>
          </a:p>
        </p:txBody>
      </p:sp>
    </p:spTree>
    <p:extLst>
      <p:ext uri="{BB962C8B-B14F-4D97-AF65-F5344CB8AC3E}">
        <p14:creationId xmlns:p14="http://schemas.microsoft.com/office/powerpoint/2010/main" val="35553226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733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5" y="0"/>
            <a:ext cx="12191999" cy="2274195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09FC69-D542-6C44-93CE-F12BFF412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/>
              <a:t>A. Website Strategy Phase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70F132E-C515-CB40-A6A8-6C749F450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198" y="2796953"/>
            <a:ext cx="4658360" cy="122281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7A71E0A-D23D-5E4A-84F2-B416DE69F4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8198" y="4944068"/>
            <a:ext cx="4815604" cy="1239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4490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733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5" y="0"/>
            <a:ext cx="12191999" cy="2274195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FACCD7-280E-8044-B001-5C681481A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dirty="0"/>
              <a:t>B1. Wireframe Stage</a:t>
            </a:r>
            <a:endParaRPr lang="en-US"/>
          </a:p>
        </p:txBody>
      </p:sp>
      <p:pic>
        <p:nvPicPr>
          <p:cNvPr id="3" name="Content Placeholder 9">
            <a:extLst>
              <a:ext uri="{FF2B5EF4-FFF2-40B4-BE49-F238E27FC236}">
                <a16:creationId xmlns:a16="http://schemas.microsoft.com/office/drawing/2014/main" id="{A8D64B8B-6AF8-1819-9082-A1A0B79F51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16639" y="2883867"/>
            <a:ext cx="5299944" cy="1589983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FF66F6-17D3-C88F-B5A4-A7322A54DC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8571" y="5066418"/>
            <a:ext cx="3968745" cy="85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762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51"/>
            <a:ext cx="12192000" cy="221768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"/>
            <a:ext cx="12191999" cy="2224386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C61612-71E2-3043-8A9D-68BB25B99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dirty="0"/>
              <a:t>B2. Style Guide Stage</a:t>
            </a:r>
            <a:endParaRPr lang="en-US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DD138EE3-A54F-DDDA-E4ED-C96DFB1486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039465" y="2943080"/>
            <a:ext cx="4113068" cy="1060837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C287E0D-9CCE-D697-9FCB-455980B8E1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7064" y="4722611"/>
            <a:ext cx="3157870" cy="101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054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733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5" y="0"/>
            <a:ext cx="12191999" cy="2274195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E37E22-BB09-5749-8248-E560465A1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dirty="0"/>
              <a:t>B3. Prototyping Stage</a:t>
            </a:r>
            <a:endParaRPr lang="en-US"/>
          </a:p>
        </p:txBody>
      </p:sp>
      <p:pic>
        <p:nvPicPr>
          <p:cNvPr id="3" name="Content Placeholder 9">
            <a:extLst>
              <a:ext uri="{FF2B5EF4-FFF2-40B4-BE49-F238E27FC236}">
                <a16:creationId xmlns:a16="http://schemas.microsoft.com/office/drawing/2014/main" id="{729F7AB5-9D92-4FFD-2C86-3AE931A414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16639" y="2883867"/>
            <a:ext cx="5299944" cy="1589983"/>
          </a:xfr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B71F1983-DC51-369E-2D8E-57F02462B2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4662" y="5062255"/>
            <a:ext cx="3716564" cy="93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6802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2748806-3AF5-4078-830A-C1F26BF1B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991FCB-5132-414C-B377-526F56121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5A8670-4D58-38DC-29A5-558211D023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" r="3"/>
          <a:stretch/>
        </p:blipFill>
        <p:spPr>
          <a:xfrm>
            <a:off x="20" y="1376"/>
            <a:ext cx="12188932" cy="685662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23DAFF7-4C98-4E0E-8986-198D54B6C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0" y="0"/>
            <a:ext cx="6858000" cy="6858000"/>
          </a:xfrm>
          <a:prstGeom prst="rect">
            <a:avLst/>
          </a:prstGeom>
          <a:gradFill>
            <a:gsLst>
              <a:gs pos="100000">
                <a:schemeClr val="tx1">
                  <a:alpha val="0"/>
                </a:schemeClr>
              </a:gs>
              <a:gs pos="0">
                <a:schemeClr val="tx1"/>
              </a:gs>
              <a:gs pos="0">
                <a:schemeClr val="tx1">
                  <a:alpha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095E96-319D-4055-AD99-41FEB4030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546522"/>
            <a:ext cx="6327657" cy="4003971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EBF7A8-B42B-4EC3-B442-9B2D1902A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7" y="1546521"/>
            <a:ext cx="6327656" cy="4016078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18F8E4-1EDB-58B2-52A2-37F5A01E3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654" y="1828800"/>
            <a:ext cx="4958128" cy="2209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Planning &amp; </a:t>
            </a:r>
            <a:r>
              <a:rPr lang="en-US" u="sng">
                <a:solidFill>
                  <a:srgbClr val="FFFFFF"/>
                </a:solidFill>
              </a:rPr>
              <a:t>Your</a:t>
            </a:r>
            <a:r>
              <a:rPr lang="en-US">
                <a:solidFill>
                  <a:srgbClr val="FFFFFF"/>
                </a:solidFill>
              </a:rPr>
              <a:t> Portfolio Assessment </a:t>
            </a:r>
          </a:p>
        </p:txBody>
      </p:sp>
    </p:spTree>
    <p:extLst>
      <p:ext uri="{BB962C8B-B14F-4D97-AF65-F5344CB8AC3E}">
        <p14:creationId xmlns:p14="http://schemas.microsoft.com/office/powerpoint/2010/main" val="10042849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4113-A324-9E8A-7F83-50086350A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A2 Emphasis on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B0353-504F-0C21-4B7B-5F2F56326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Students will need to complete the following to a competent </a:t>
            </a:r>
            <a:r>
              <a:rPr lang="en-US" b="1" dirty="0">
                <a:solidFill>
                  <a:srgbClr val="FFFFFF"/>
                </a:solidFill>
              </a:rPr>
              <a:t>BUT NOT </a:t>
            </a:r>
            <a:r>
              <a:rPr lang="en-US" dirty="0">
                <a:solidFill>
                  <a:srgbClr val="FFFFFF"/>
                </a:solidFill>
              </a:rPr>
              <a:t>commercial degree: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Review of website &amp; content strategy (Part 1)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User analysis to determine UI (Part 1 &amp; 2)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Generation of a basic site map (Part 2)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Generation of THREE wireframes for website (Part 2)</a:t>
            </a:r>
          </a:p>
          <a:p>
            <a:pPr lvl="1"/>
            <a:r>
              <a:rPr lang="en-US" b="1" dirty="0">
                <a:solidFill>
                  <a:srgbClr val="FFFFFF"/>
                </a:solidFill>
              </a:rPr>
              <a:t>No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b="1" dirty="0">
                <a:solidFill>
                  <a:srgbClr val="FFFFFF"/>
                </a:solidFill>
              </a:rPr>
              <a:t>moodboard or prototype </a:t>
            </a:r>
            <a:r>
              <a:rPr lang="en-US" dirty="0">
                <a:solidFill>
                  <a:srgbClr val="FFFFFF"/>
                </a:solidFill>
              </a:rPr>
              <a:t>required (</a:t>
            </a:r>
            <a:r>
              <a:rPr lang="en-US" i="1" dirty="0">
                <a:solidFill>
                  <a:srgbClr val="FFFFFF"/>
                </a:solidFill>
              </a:rPr>
              <a:t>time restraints</a:t>
            </a:r>
            <a:r>
              <a:rPr lang="en-US" dirty="0">
                <a:solidFill>
                  <a:srgbClr val="FFFFFF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43925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5ABA43-6082-32F8-3A85-71EBD47A3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1752600"/>
            <a:ext cx="9988166" cy="1054395"/>
          </a:xfrm>
        </p:spPr>
        <p:txBody>
          <a:bodyPr anchor="b">
            <a:normAutofit/>
          </a:bodyPr>
          <a:lstStyle/>
          <a:p>
            <a:pPr algn="ctr"/>
            <a:r>
              <a:rPr lang="en-AU" dirty="0">
                <a:solidFill>
                  <a:schemeClr val="tx2"/>
                </a:solidFill>
              </a:rPr>
              <a:t>End of Today’s Class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49D5AE-15AF-4BC1-8AC5-F5FA95199E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8" y="0"/>
            <a:ext cx="12195048" cy="12954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08A5E7-BD2D-419A-8079-3103083AB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1295400"/>
          </a:xfrm>
          <a:prstGeom prst="rect">
            <a:avLst/>
          </a:prstGeom>
          <a:blipFill dpi="0" rotWithShape="1">
            <a:blip r:embed="rId2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386EB-9338-0866-EABD-058FD0D49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8247" y="3083443"/>
            <a:ext cx="8188033" cy="337052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chemeClr val="tx2"/>
                </a:solidFill>
              </a:rPr>
              <a:t>Conduct the </a:t>
            </a:r>
            <a:r>
              <a:rPr lang="en-US" sz="1600" b="1" u="sng" dirty="0">
                <a:solidFill>
                  <a:schemeClr val="tx2"/>
                </a:solidFill>
              </a:rPr>
              <a:t>initial planning stages</a:t>
            </a:r>
            <a:r>
              <a:rPr lang="en-US" sz="1600" b="1" dirty="0">
                <a:solidFill>
                  <a:schemeClr val="tx2"/>
                </a:solidFill>
              </a:rPr>
              <a:t> for your portfolio:</a:t>
            </a:r>
          </a:p>
          <a:p>
            <a:pPr>
              <a:lnSpc>
                <a:spcPct val="100000"/>
              </a:lnSpc>
            </a:pPr>
            <a:endParaRPr lang="en-US" sz="1600" b="1" dirty="0">
              <a:solidFill>
                <a:schemeClr val="tx2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sz="1600" dirty="0">
                <a:solidFill>
                  <a:schemeClr val="tx2"/>
                </a:solidFill>
              </a:rPr>
              <a:t>Determine the design tools (</a:t>
            </a:r>
            <a:r>
              <a:rPr lang="en-US" sz="1600" i="1" dirty="0">
                <a:solidFill>
                  <a:schemeClr val="tx2"/>
                </a:solidFill>
              </a:rPr>
              <a:t>e.g. Figma</a:t>
            </a:r>
            <a:r>
              <a:rPr lang="en-US" sz="1600" dirty="0">
                <a:solidFill>
                  <a:schemeClr val="tx2"/>
                </a:solidFill>
              </a:rPr>
              <a:t>) and web technologies that you plan to use 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solidFill>
                  <a:schemeClr val="tx2"/>
                </a:solidFill>
              </a:rPr>
              <a:t>Brainstorm the strategic objectives and </a:t>
            </a:r>
            <a:r>
              <a:rPr lang="en-US" sz="1600" b="1" dirty="0">
                <a:solidFill>
                  <a:schemeClr val="tx2"/>
                </a:solidFill>
              </a:rPr>
              <a:t>intended users </a:t>
            </a:r>
            <a:r>
              <a:rPr lang="en-US" sz="1600" dirty="0">
                <a:solidFill>
                  <a:schemeClr val="tx2"/>
                </a:solidFill>
              </a:rPr>
              <a:t>of the website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solidFill>
                  <a:schemeClr val="tx2"/>
                </a:solidFill>
              </a:rPr>
              <a:t>Brainstorm the </a:t>
            </a:r>
            <a:r>
              <a:rPr lang="en-US" sz="1600" b="1" dirty="0">
                <a:solidFill>
                  <a:schemeClr val="tx2"/>
                </a:solidFill>
              </a:rPr>
              <a:t>needed content &amp; UI </a:t>
            </a:r>
            <a:r>
              <a:rPr lang="en-US" sz="1600" dirty="0">
                <a:solidFill>
                  <a:schemeClr val="tx2"/>
                </a:solidFill>
              </a:rPr>
              <a:t>required for the website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solidFill>
                  <a:schemeClr val="tx2"/>
                </a:solidFill>
              </a:rPr>
              <a:t>Develop the </a:t>
            </a:r>
            <a:r>
              <a:rPr lang="en-US" sz="1600" b="1" dirty="0">
                <a:solidFill>
                  <a:schemeClr val="tx2"/>
                </a:solidFill>
              </a:rPr>
              <a:t>sitemap</a:t>
            </a:r>
            <a:r>
              <a:rPr lang="en-US" sz="1600" dirty="0">
                <a:solidFill>
                  <a:schemeClr val="tx2"/>
                </a:solidFill>
              </a:rPr>
              <a:t>, by condensing objectives &amp; content brainstorm maps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solidFill>
                  <a:schemeClr val="tx2"/>
                </a:solidFill>
              </a:rPr>
              <a:t>Develop your wireframes for your three main pages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solidFill>
                  <a:schemeClr val="tx2"/>
                </a:solidFill>
              </a:rPr>
              <a:t>(If time) Feel free to develop a basic mood board to determine </a:t>
            </a:r>
            <a:r>
              <a:rPr lang="en-US" sz="1600" b="1" dirty="0">
                <a:solidFill>
                  <a:schemeClr val="tx2"/>
                </a:solidFill>
              </a:rPr>
              <a:t>font family </a:t>
            </a:r>
            <a:r>
              <a:rPr lang="en-US" sz="1600" dirty="0">
                <a:solidFill>
                  <a:schemeClr val="tx2"/>
                </a:solidFill>
              </a:rPr>
              <a:t>&amp; </a:t>
            </a:r>
            <a:r>
              <a:rPr lang="en-US" sz="1600" b="1" dirty="0">
                <a:solidFill>
                  <a:schemeClr val="tx2"/>
                </a:solidFill>
              </a:rPr>
              <a:t>colour mix </a:t>
            </a:r>
            <a:r>
              <a:rPr lang="en-US" sz="1600" dirty="0">
                <a:solidFill>
                  <a:schemeClr val="tx2"/>
                </a:solidFill>
              </a:rPr>
              <a:t>(</a:t>
            </a:r>
            <a:r>
              <a:rPr lang="en-US" sz="1600" i="1" dirty="0">
                <a:solidFill>
                  <a:schemeClr val="tx2"/>
                </a:solidFill>
              </a:rPr>
              <a:t>primary, complementary &amp; branding</a:t>
            </a:r>
            <a:r>
              <a:rPr lang="en-US" sz="1600" dirty="0">
                <a:solidFill>
                  <a:schemeClr val="tx2"/>
                </a:solidFill>
              </a:rPr>
              <a:t>)</a:t>
            </a:r>
            <a:endParaRPr lang="en-AU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235684"/>
      </p:ext>
    </p:extLst>
  </p:cSld>
  <p:clrMapOvr>
    <a:masterClrMapping/>
  </p:clrMapOvr>
</p:sld>
</file>

<file path=ppt/theme/theme1.xml><?xml version="1.0" encoding="utf-8"?>
<a:theme xmlns:a="http://schemas.openxmlformats.org/drawingml/2006/main" name="BlockprintVTI">
  <a:themeElements>
    <a:clrScheme name="AnalogousFromRegularSeedLeftStep">
      <a:dk1>
        <a:srgbClr val="000000"/>
      </a:dk1>
      <a:lt1>
        <a:srgbClr val="FFFFFF"/>
      </a:lt1>
      <a:dk2>
        <a:srgbClr val="1E1834"/>
      </a:dk2>
      <a:lt2>
        <a:srgbClr val="F0F3F2"/>
      </a:lt2>
      <a:accent1>
        <a:srgbClr val="E7298F"/>
      </a:accent1>
      <a:accent2>
        <a:srgbClr val="D517CC"/>
      </a:accent2>
      <a:accent3>
        <a:srgbClr val="A029E7"/>
      </a:accent3>
      <a:accent4>
        <a:srgbClr val="4922D7"/>
      </a:accent4>
      <a:accent5>
        <a:srgbClr val="2950E7"/>
      </a:accent5>
      <a:accent6>
        <a:srgbClr val="178DD5"/>
      </a:accent6>
      <a:hlink>
        <a:srgbClr val="349C64"/>
      </a:hlink>
      <a:folHlink>
        <a:srgbClr val="7F7F7F"/>
      </a:folHlink>
    </a:clrScheme>
    <a:fontScheme name="Custom 56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printVTI" id="{AA8C8908-6BA4-477C-AEA4-CB6C32A1FE3B}" vid="{36392749-7C1D-4938-93BB-440CD2A1B0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FF3BCB0-AE60-1945-9428-C11C1848702A}">
  <we:reference id="8d9a4153-a3e8-403b-bbd9-da6fa49a743c" version="1.0.0.7" store="EXCatalog" storeType="EXCatalog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53</TotalTime>
  <Words>1072</Words>
  <Application>Microsoft Macintosh PowerPoint</Application>
  <PresentationFormat>Widescreen</PresentationFormat>
  <Paragraphs>121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Avenir Next LT Pro</vt:lpstr>
      <vt:lpstr>AvenirNext LT Pro Medium</vt:lpstr>
      <vt:lpstr>BlockprintVTI</vt:lpstr>
      <vt:lpstr>Developing Web Content &amp; Design Plans</vt:lpstr>
      <vt:lpstr>Technical vs. Design</vt:lpstr>
      <vt:lpstr>Planning &amp; Design Focus</vt:lpstr>
      <vt:lpstr>Planning is Important!</vt:lpstr>
      <vt:lpstr>Planning Really Helps Juniors</vt:lpstr>
      <vt:lpstr>Key planning steps</vt:lpstr>
      <vt:lpstr>Web approaches are often fluid</vt:lpstr>
      <vt:lpstr>A Website Strategy Phase</vt:lpstr>
      <vt:lpstr>1. Website Strategy</vt:lpstr>
      <vt:lpstr>2. Content Strategy</vt:lpstr>
      <vt:lpstr>3. Information Architecture</vt:lpstr>
      <vt:lpstr>B Design Planning Phase</vt:lpstr>
      <vt:lpstr>4. Wireframe</vt:lpstr>
      <vt:lpstr>5. Style Guide</vt:lpstr>
      <vt:lpstr>6. Prototyping</vt:lpstr>
      <vt:lpstr>7. Sign Off &amp; Commence Build</vt:lpstr>
      <vt:lpstr>Review of Design Tools</vt:lpstr>
      <vt:lpstr>A. Website Strategy Phase</vt:lpstr>
      <vt:lpstr>B1. Wireframe Stage</vt:lpstr>
      <vt:lpstr>B2. Style Guide Stage</vt:lpstr>
      <vt:lpstr>B3. Prototyping Stage</vt:lpstr>
      <vt:lpstr>Planning &amp; Your Portfolio Assessment </vt:lpstr>
      <vt:lpstr>A2 Emphasis on Planning</vt:lpstr>
      <vt:lpstr>End of Today’s Class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Developing Web Content &amp; Design Plans</dc:title>
  <dc:creator>Alex Bicknell</dc:creator>
  <cp:lastModifiedBy>Alex Bicknell</cp:lastModifiedBy>
  <cp:revision>75</cp:revision>
  <dcterms:created xsi:type="dcterms:W3CDTF">2024-04-14T11:16:38Z</dcterms:created>
  <dcterms:modified xsi:type="dcterms:W3CDTF">2024-04-14T12:10:31Z</dcterms:modified>
</cp:coreProperties>
</file>