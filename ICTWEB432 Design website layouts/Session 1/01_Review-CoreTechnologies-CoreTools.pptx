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91" r:id="rId2"/>
    <p:sldId id="265" r:id="rId3"/>
    <p:sldId id="266" r:id="rId4"/>
    <p:sldId id="268" r:id="rId5"/>
    <p:sldId id="269" r:id="rId6"/>
    <p:sldId id="292" r:id="rId7"/>
    <p:sldId id="272" r:id="rId8"/>
    <p:sldId id="275" r:id="rId9"/>
    <p:sldId id="276" r:id="rId10"/>
    <p:sldId id="273" r:id="rId11"/>
    <p:sldId id="285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457165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914330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1371494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1828660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2285825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2742989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3200155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3657320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2429"/>
    <a:srgbClr val="303336"/>
    <a:srgbClr val="0E07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3D1"/>
          </a:solidFill>
        </a:fill>
      </a:tcStyle>
    </a:wholeTbl>
    <a:band2H>
      <a:tcTxStyle/>
      <a:tcStyle>
        <a:tcBdr/>
        <a:fill>
          <a:solidFill>
            <a:srgbClr val="FFF9EA"/>
          </a:solidFill>
        </a:fill>
      </a:tcStyle>
    </a:band2H>
    <a:firstCol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5CA"/>
          </a:solidFill>
        </a:fill>
      </a:tcStyle>
    </a:wholeTbl>
    <a:band2H>
      <a:tcTxStyle/>
      <a:tcStyle>
        <a:tcBdr/>
        <a:fill>
          <a:solidFill>
            <a:srgbClr val="FDEBE6"/>
          </a:solidFill>
        </a:fill>
      </a:tcStyle>
    </a:band2H>
    <a:firstCol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7DCCA"/>
          </a:solidFill>
        </a:fill>
      </a:tcStyle>
    </a:wholeTbl>
    <a:band2H>
      <a:tcTxStyle/>
      <a:tcStyle>
        <a:tcBdr/>
        <a:fill>
          <a:solidFill>
            <a:srgbClr val="ECEEE6"/>
          </a:solidFill>
        </a:fill>
      </a:tcStyle>
    </a:band2H>
    <a:firstCol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Open Sans Bold"/>
          <a:ea typeface="Open Sans Bold"/>
          <a:cs typeface="Open Sans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Open Sans Bold"/>
          <a:ea typeface="Open Sans Bold"/>
          <a:cs typeface="Open Sa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Open Sans Bold"/>
          <a:ea typeface="Open Sans Bold"/>
          <a:cs typeface="Open Sa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Open Sans Bold"/>
          <a:ea typeface="Open Sans Bold"/>
          <a:cs typeface="Open Sa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4"/>
    <p:restoredTop sz="94780"/>
  </p:normalViewPr>
  <p:slideViewPr>
    <p:cSldViewPr snapToGrid="0" snapToObjects="1">
      <p:cViewPr varScale="1">
        <p:scale>
          <a:sx n="120" d="100"/>
          <a:sy n="120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4" name="Shape 8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val 4"/>
          <p:cNvSpPr/>
          <p:nvPr/>
        </p:nvSpPr>
        <p:spPr>
          <a:xfrm>
            <a:off x="11458267" y="308240"/>
            <a:ext cx="370115" cy="370114"/>
          </a:xfrm>
          <a:prstGeom prst="ellipse">
            <a:avLst/>
          </a:prstGeom>
          <a:solidFill>
            <a:srgbClr val="000000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596572" y="1432830"/>
            <a:ext cx="5069272" cy="102870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96572" y="471526"/>
            <a:ext cx="3006426" cy="9144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1pPr>
            <a:lvl2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2pPr>
            <a:lvl3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3pPr>
            <a:lvl4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4pPr>
            <a:lvl5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2" name="Picture Placeholder 7"/>
          <p:cNvSpPr>
            <a:spLocks noGrp="1"/>
          </p:cNvSpPr>
          <p:nvPr>
            <p:ph type="pic" idx="13"/>
          </p:nvPr>
        </p:nvSpPr>
        <p:spPr>
          <a:xfrm>
            <a:off x="7074638" y="0"/>
            <a:ext cx="5117362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Oval 4"/>
          <p:cNvSpPr/>
          <p:nvPr/>
        </p:nvSpPr>
        <p:spPr>
          <a:xfrm>
            <a:off x="11458267" y="308240"/>
            <a:ext cx="370115" cy="370114"/>
          </a:xfrm>
          <a:prstGeom prst="ellipse">
            <a:avLst/>
          </a:prstGeom>
          <a:solidFill>
            <a:srgbClr val="000000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96572" y="471526"/>
            <a:ext cx="3006426" cy="9144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1pPr>
            <a:lvl2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2pPr>
            <a:lvl3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3pPr>
            <a:lvl4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4pPr>
            <a:lvl5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2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1596571" y="1977275"/>
            <a:ext cx="2638604" cy="263860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Oval 9"/>
          <p:cNvSpPr/>
          <p:nvPr/>
        </p:nvSpPr>
        <p:spPr>
          <a:xfrm>
            <a:off x="5883283" y="1060172"/>
            <a:ext cx="7261609" cy="7261609"/>
          </a:xfrm>
          <a:prstGeom prst="ellipse">
            <a:avLst/>
          </a:prstGeom>
          <a:ln w="6350">
            <a:solidFill>
              <a:srgbClr val="000000">
                <a:alpha val="10000"/>
              </a:srgbClr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4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4736929" y="1977275"/>
            <a:ext cx="2638603" cy="263860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5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7877286" y="1977275"/>
            <a:ext cx="2638603" cy="263860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Oval 4"/>
          <p:cNvSpPr/>
          <p:nvPr/>
        </p:nvSpPr>
        <p:spPr>
          <a:xfrm>
            <a:off x="11458267" y="308240"/>
            <a:ext cx="370115" cy="370114"/>
          </a:xfrm>
          <a:prstGeom prst="ellipse">
            <a:avLst/>
          </a:prstGeom>
          <a:solidFill>
            <a:srgbClr val="000000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73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193" y="1277827"/>
            <a:ext cx="7881707" cy="4627673"/>
          </a:xfrm>
          <a:prstGeom prst="rect">
            <a:avLst/>
          </a:prstGeom>
          <a:ln w="12700">
            <a:miter lim="400000"/>
          </a:ln>
        </p:spPr>
      </p:pic>
      <p:sp>
        <p:nvSpPr>
          <p:cNvPr id="74" name="Picture Placeholder 4"/>
          <p:cNvSpPr>
            <a:spLocks noGrp="1"/>
          </p:cNvSpPr>
          <p:nvPr>
            <p:ph type="pic" sz="half" idx="13"/>
          </p:nvPr>
        </p:nvSpPr>
        <p:spPr>
          <a:xfrm>
            <a:off x="5109454" y="1602012"/>
            <a:ext cx="5952246" cy="37319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5" name="Title Text"/>
          <p:cNvSpPr txBox="1">
            <a:spLocks noGrp="1"/>
          </p:cNvSpPr>
          <p:nvPr>
            <p:ph type="title"/>
          </p:nvPr>
        </p:nvSpPr>
        <p:spPr>
          <a:xfrm>
            <a:off x="1596570" y="2389411"/>
            <a:ext cx="4187373" cy="178344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t>Title Text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96572" y="471526"/>
            <a:ext cx="3006426" cy="9144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1pPr>
            <a:lvl2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2pPr>
            <a:lvl3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3pPr>
            <a:lvl4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4pPr>
            <a:lvl5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3152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ctr">
              <a:defRPr sz="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59010A-F3A3-A3AD-49AF-47A51BBAF27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44350" y="6690360"/>
            <a:ext cx="534987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4" r:id="rId3"/>
    <p:sldLayoutId id="2147483655" r:id="rId4"/>
  </p:sldLayoutIdLst>
  <p:transition spd="med"/>
  <p:txStyles>
    <p:titleStyle>
      <a:lvl1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1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1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1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1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1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1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1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1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1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9pPr>
    </p:titleStyle>
    <p:bodyStyle>
      <a:lvl1pPr marL="0" marR="0" indent="0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5pPr>
      <a:lvl6pPr marL="2641362" marR="0" indent="-355568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6pPr>
      <a:lvl7pPr marL="3098522" marR="0" indent="-355568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7pPr>
      <a:lvl8pPr marL="3555680" marR="0" indent="-355568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8pPr>
      <a:lvl9pPr marL="4012838" marR="0" indent="-355568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457165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914330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1371494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1828660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2285825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2742989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3200155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3657320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avascript.plainenglish.io/10-visual-studio-code-extensions-you-dont-need-6f7904132a57" TargetMode="External"/><Relationship Id="rId5" Type="http://schemas.openxmlformats.org/officeDocument/2006/relationships/hyperlink" Target="https://docs.emmet.io/cheat-sheet/" TargetMode="Externa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ux-store-1135537-unsplash.jpg" descr="ux-store-1135537-unsplash.jpg"/>
          <p:cNvPicPr>
            <a:picLocks noChangeAspect="1"/>
          </p:cNvPicPr>
          <p:nvPr/>
        </p:nvPicPr>
        <p:blipFill>
          <a:blip r:embed="rId2"/>
          <a:srcRect t="13314" b="2386"/>
          <a:stretch>
            <a:fillRect/>
          </a:stretch>
        </p:blipFill>
        <p:spPr>
          <a:xfrm>
            <a:off x="-2382" y="0"/>
            <a:ext cx="12196764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87" name="Rectangle"/>
          <p:cNvSpPr/>
          <p:nvPr/>
        </p:nvSpPr>
        <p:spPr>
          <a:xfrm>
            <a:off x="-25400" y="-12700"/>
            <a:ext cx="12242800" cy="6883400"/>
          </a:xfrm>
          <a:prstGeom prst="rect">
            <a:avLst/>
          </a:prstGeom>
          <a:solidFill>
            <a:srgbClr val="000000">
              <a:alpha val="6503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9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6876" y="5900382"/>
            <a:ext cx="1411290" cy="658744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Server Side Development">
            <a:extLst>
              <a:ext uri="{FF2B5EF4-FFF2-40B4-BE49-F238E27FC236}">
                <a16:creationId xmlns:a16="http://schemas.microsoft.com/office/drawing/2014/main" id="{1C48960D-7DC9-FBB1-7EB4-F3B2C1E5CE96}"/>
              </a:ext>
            </a:extLst>
          </p:cNvPr>
          <p:cNvSpPr txBox="1">
            <a:spLocks/>
          </p:cNvSpPr>
          <p:nvPr/>
        </p:nvSpPr>
        <p:spPr>
          <a:xfrm>
            <a:off x="1596570" y="2389411"/>
            <a:ext cx="6584044" cy="178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marL="0" marR="0" indent="0" algn="l" defTabSz="914318" rtl="0" latinLnBrk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i="0" u="none" strike="noStrike" cap="none" spc="-20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0" marR="0" indent="0" algn="l" defTabSz="914318" rtl="0" latinLnBrk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 i="0" u="none" strike="noStrike" cap="none" spc="-151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2pPr>
            <a:lvl3pPr marL="0" marR="0" indent="0" algn="l" defTabSz="914318" rtl="0" latinLnBrk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 i="0" u="none" strike="noStrike" cap="none" spc="-151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3pPr>
            <a:lvl4pPr marL="0" marR="0" indent="0" algn="l" defTabSz="914318" rtl="0" latinLnBrk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 i="0" u="none" strike="noStrike" cap="none" spc="-151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4pPr>
            <a:lvl5pPr marL="0" marR="0" indent="0" algn="l" defTabSz="914318" rtl="0" latinLnBrk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 i="0" u="none" strike="noStrike" cap="none" spc="-151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5pPr>
            <a:lvl6pPr marL="0" marR="0" indent="0" algn="l" defTabSz="914318" rtl="0" latinLnBrk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 i="0" u="none" strike="noStrike" cap="none" spc="-151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6pPr>
            <a:lvl7pPr marL="0" marR="0" indent="0" algn="l" defTabSz="914318" rtl="0" latinLnBrk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 i="0" u="none" strike="noStrike" cap="none" spc="-151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7pPr>
            <a:lvl8pPr marL="0" marR="0" indent="0" algn="l" defTabSz="914318" rtl="0" latinLnBrk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 i="0" u="none" strike="noStrike" cap="none" spc="-151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8pPr>
            <a:lvl9pPr marL="0" marR="0" indent="0" algn="l" defTabSz="914318" rtl="0" latinLnBrk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 i="0" u="none" strike="noStrike" cap="none" spc="-151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9pPr>
          </a:lstStyle>
          <a:p>
            <a:pPr hangingPunct="1"/>
            <a:r>
              <a:rPr lang="en-AU"/>
              <a:t>ICT40120 – </a:t>
            </a:r>
            <a:br>
              <a:rPr lang="en-AU"/>
            </a:br>
            <a:r>
              <a:rPr lang="en-AU"/>
              <a:t>Front End Design &amp; Development</a:t>
            </a:r>
            <a:endParaRPr lang="en-AU" dirty="0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AE7EDAE0-5288-806F-4B4E-A03091F50A1A}"/>
              </a:ext>
            </a:extLst>
          </p:cNvPr>
          <p:cNvSpPr txBox="1"/>
          <p:nvPr/>
        </p:nvSpPr>
        <p:spPr>
          <a:xfrm>
            <a:off x="2739570" y="4869712"/>
            <a:ext cx="4204155" cy="24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120000"/>
              </a:lnSpc>
              <a:defRPr sz="14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Implement search engine optimisations</a:t>
            </a:r>
            <a:endParaRPr dirty="0"/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A9CA193C-33C0-2566-FA69-3121FC68EC0C}"/>
              </a:ext>
            </a:extLst>
          </p:cNvPr>
          <p:cNvSpPr txBox="1"/>
          <p:nvPr/>
        </p:nvSpPr>
        <p:spPr>
          <a:xfrm>
            <a:off x="1596569" y="4880222"/>
            <a:ext cx="1022716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chemeClr val="accent3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dirty="0"/>
              <a:t>ICT</a:t>
            </a:r>
            <a:r>
              <a:rPr lang="en-AU" dirty="0"/>
              <a:t>WEB443</a:t>
            </a:r>
            <a:endParaRPr dirty="0"/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6C99569A-B825-7979-F4B3-D8E0064F0293}"/>
              </a:ext>
            </a:extLst>
          </p:cNvPr>
          <p:cNvSpPr txBox="1"/>
          <p:nvPr/>
        </p:nvSpPr>
        <p:spPr>
          <a:xfrm>
            <a:off x="1596569" y="4555382"/>
            <a:ext cx="1022716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chemeClr val="accent3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dirty="0"/>
              <a:t>ICT</a:t>
            </a:r>
            <a:r>
              <a:rPr lang="en-AU" dirty="0"/>
              <a:t>WEB432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BFECB5-00AA-CF82-2CD8-89295CF81247}"/>
              </a:ext>
            </a:extLst>
          </p:cNvPr>
          <p:cNvSpPr txBox="1"/>
          <p:nvPr/>
        </p:nvSpPr>
        <p:spPr>
          <a:xfrm>
            <a:off x="2739570" y="4534362"/>
            <a:ext cx="5604330" cy="24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120000"/>
              </a:lnSpc>
              <a:defRPr sz="1400">
                <a:solidFill>
                  <a:srgbClr val="FFFFFF"/>
                </a:solidFill>
              </a:defRPr>
            </a:lvl1pPr>
          </a:lstStyle>
          <a:p>
            <a:r>
              <a:rPr lang="en-AU" dirty="0">
                <a:ea typeface="Calibri" panose="020F0502020204030204" pitchFamily="34" charset="0"/>
              </a:rPr>
              <a:t>Design website layouts</a:t>
            </a:r>
            <a:endParaRPr dirty="0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E9FE901A-1585-84E4-399F-30EE72A1799E}"/>
              </a:ext>
            </a:extLst>
          </p:cNvPr>
          <p:cNvSpPr txBox="1"/>
          <p:nvPr/>
        </p:nvSpPr>
        <p:spPr>
          <a:xfrm>
            <a:off x="2745465" y="5193199"/>
            <a:ext cx="3747353" cy="24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400">
                <a:solidFill>
                  <a:srgbClr val="FFFFFF"/>
                </a:solidFill>
              </a:defRPr>
            </a:lvl1pPr>
          </a:lstStyle>
          <a:p>
            <a:r>
              <a:rPr lang="en-AU" dirty="0"/>
              <a:t>Evaluate and select a web hosting service</a:t>
            </a:r>
            <a:endParaRPr dirty="0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245EA163-8F10-00D7-86DE-D0501BB6C362}"/>
              </a:ext>
            </a:extLst>
          </p:cNvPr>
          <p:cNvSpPr txBox="1"/>
          <p:nvPr/>
        </p:nvSpPr>
        <p:spPr>
          <a:xfrm>
            <a:off x="1596570" y="5205877"/>
            <a:ext cx="1022716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chemeClr val="accent3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lang="en-AU" dirty="0"/>
              <a:t>ICTWEB450</a:t>
            </a:r>
            <a:endParaRPr dirty="0"/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3083E27C-14C5-9B06-41CF-8A0B56809BAB}"/>
              </a:ext>
            </a:extLst>
          </p:cNvPr>
          <p:cNvSpPr txBox="1"/>
          <p:nvPr/>
        </p:nvSpPr>
        <p:spPr>
          <a:xfrm>
            <a:off x="2745464" y="5514868"/>
            <a:ext cx="3747353" cy="24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400">
                <a:solidFill>
                  <a:srgbClr val="FFFFFF"/>
                </a:solidFill>
              </a:defRPr>
            </a:lvl1pPr>
          </a:lstStyle>
          <a:p>
            <a:r>
              <a:rPr lang="en-AU" dirty="0"/>
              <a:t>Create responsive website layouts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CFEA2712-A26F-CE5C-A5F2-F4AB4A2942F2}"/>
              </a:ext>
            </a:extLst>
          </p:cNvPr>
          <p:cNvSpPr txBox="1"/>
          <p:nvPr/>
        </p:nvSpPr>
        <p:spPr>
          <a:xfrm>
            <a:off x="1596569" y="5527546"/>
            <a:ext cx="1022716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chemeClr val="accent3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lang="en-AU" dirty="0"/>
              <a:t>ICTWEB444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7826691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itle 2"/>
          <p:cNvSpPr txBox="1">
            <a:spLocks noGrp="1"/>
          </p:cNvSpPr>
          <p:nvPr>
            <p:ph type="title"/>
          </p:nvPr>
        </p:nvSpPr>
        <p:spPr>
          <a:xfrm>
            <a:off x="1596570" y="2389411"/>
            <a:ext cx="4187373" cy="1783444"/>
          </a:xfrm>
          <a:prstGeom prst="rect">
            <a:avLst/>
          </a:prstGeom>
        </p:spPr>
        <p:txBody>
          <a:bodyPr/>
          <a:lstStyle/>
          <a:p>
            <a:pPr>
              <a:defRPr spc="-200"/>
            </a:pPr>
            <a:r>
              <a:rPr lang="en-AU" dirty="0"/>
              <a:t>Technology</a:t>
            </a:r>
            <a:br>
              <a:rPr lang="en-AU" dirty="0"/>
            </a:br>
            <a:r>
              <a:rPr lang="en-AU" dirty="0"/>
              <a:t>Overview</a:t>
            </a:r>
            <a:endParaRPr dirty="0"/>
          </a:p>
        </p:txBody>
      </p:sp>
      <p:sp>
        <p:nvSpPr>
          <p:cNvPr id="187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188" name="Text Placeholder 4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Front End Design &amp; Development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9DF8F5F9-0030-2545-9C3C-03A6339EA014}"/>
              </a:ext>
            </a:extLst>
          </p:cNvPr>
          <p:cNvPicPr>
            <a:picLocks noGrp="1" noChangeAspect="1"/>
          </p:cNvPicPr>
          <p:nvPr>
            <p:ph type="pic" sz="half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7" b="2967"/>
          <a:stretch>
            <a:fillRect/>
          </a:stretch>
        </p:blipFill>
        <p:spPr/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193" name="Text Placeholder 2"/>
          <p:cNvSpPr txBox="1">
            <a:spLocks noGrp="1"/>
          </p:cNvSpPr>
          <p:nvPr>
            <p:ph type="body" sz="quarter" idx="1"/>
          </p:nvPr>
        </p:nvSpPr>
        <p:spPr>
          <a:xfrm>
            <a:off x="1596572" y="992226"/>
            <a:ext cx="3006426" cy="9144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Front End Design &amp; Development</a:t>
            </a:r>
          </a:p>
        </p:txBody>
      </p:sp>
      <p:sp>
        <p:nvSpPr>
          <p:cNvPr id="194" name="Language"/>
          <p:cNvSpPr txBox="1">
            <a:spLocks noGrp="1"/>
          </p:cNvSpPr>
          <p:nvPr>
            <p:ph type="title" idx="4294967295"/>
          </p:nvPr>
        </p:nvSpPr>
        <p:spPr>
          <a:xfrm>
            <a:off x="1571172" y="416830"/>
            <a:ext cx="6992536" cy="74171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spc="-200"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r>
              <a:rPr lang="en-AU" dirty="0"/>
              <a:t>Main </a:t>
            </a:r>
            <a:r>
              <a:rPr dirty="0"/>
              <a:t>Language</a:t>
            </a:r>
            <a:r>
              <a:rPr lang="en-AU" dirty="0"/>
              <a:t> Standards</a:t>
            </a:r>
            <a:endParaRPr dirty="0"/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EF4DFF6E-BA26-2342-8061-C8684AE313E6}"/>
              </a:ext>
            </a:extLst>
          </p:cNvPr>
          <p:cNvSpPr txBox="1"/>
          <p:nvPr/>
        </p:nvSpPr>
        <p:spPr>
          <a:xfrm>
            <a:off x="3817307" y="4736112"/>
            <a:ext cx="682879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lang="en-AU" dirty="0"/>
              <a:t>HTML5</a:t>
            </a:r>
            <a:endParaRPr dirty="0"/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A270E814-2022-4D4C-AED5-080A09726E68}"/>
              </a:ext>
            </a:extLst>
          </p:cNvPr>
          <p:cNvSpPr txBox="1"/>
          <p:nvPr/>
        </p:nvSpPr>
        <p:spPr>
          <a:xfrm>
            <a:off x="3232492" y="5063061"/>
            <a:ext cx="1829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20000"/>
              </a:lnSpc>
              <a:defRPr sz="1000">
                <a:solidFill>
                  <a:srgbClr val="000000">
                    <a:alpha val="70000"/>
                  </a:srgbClr>
                </a:solidFill>
              </a:defRPr>
            </a:lvl1pPr>
          </a:lstStyle>
          <a:p>
            <a:r>
              <a:rPr dirty="0"/>
              <a:t>Open Source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9AF850-0288-634B-8BC6-D03067AADE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880" y="2240569"/>
            <a:ext cx="2376861" cy="2376861"/>
          </a:xfrm>
          <a:prstGeom prst="rect">
            <a:avLst/>
          </a:prstGeom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21690E96-632D-824D-A0E5-FDB4076AE7B4}"/>
              </a:ext>
            </a:extLst>
          </p:cNvPr>
          <p:cNvSpPr txBox="1"/>
          <p:nvPr/>
        </p:nvSpPr>
        <p:spPr>
          <a:xfrm>
            <a:off x="7517551" y="4736112"/>
            <a:ext cx="466474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lang="en-AU" dirty="0"/>
              <a:t>CSS3</a:t>
            </a:r>
            <a:endParaRPr dirty="0"/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73F4F339-5EB3-664A-8D8F-78C802AC6482}"/>
              </a:ext>
            </a:extLst>
          </p:cNvPr>
          <p:cNvSpPr txBox="1"/>
          <p:nvPr/>
        </p:nvSpPr>
        <p:spPr>
          <a:xfrm>
            <a:off x="6824533" y="5063061"/>
            <a:ext cx="1829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20000"/>
              </a:lnSpc>
              <a:defRPr sz="1000">
                <a:solidFill>
                  <a:srgbClr val="000000">
                    <a:alpha val="70000"/>
                  </a:srgbClr>
                </a:solidFill>
              </a:defRPr>
            </a:lvl1pPr>
          </a:lstStyle>
          <a:p>
            <a:r>
              <a:t>Open Source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52DB5E-831D-4F41-BBFE-B11F159651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732" y="2191357"/>
            <a:ext cx="2464027" cy="246402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210" name="Text Placeholder 2"/>
          <p:cNvSpPr txBox="1">
            <a:spLocks noGrp="1"/>
          </p:cNvSpPr>
          <p:nvPr>
            <p:ph type="body" sz="quarter" idx="1"/>
          </p:nvPr>
        </p:nvSpPr>
        <p:spPr>
          <a:xfrm>
            <a:off x="1596572" y="992226"/>
            <a:ext cx="3006426" cy="9144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Front End Design &amp; Development</a:t>
            </a:r>
          </a:p>
        </p:txBody>
      </p:sp>
      <p:sp>
        <p:nvSpPr>
          <p:cNvPr id="213" name="Run-time environment"/>
          <p:cNvSpPr txBox="1">
            <a:spLocks noGrp="1"/>
          </p:cNvSpPr>
          <p:nvPr>
            <p:ph type="title" idx="4294967295"/>
          </p:nvPr>
        </p:nvSpPr>
        <p:spPr>
          <a:xfrm>
            <a:off x="1571172" y="416830"/>
            <a:ext cx="7465252" cy="74171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spc="-200"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r>
              <a:rPr lang="en-AU" dirty="0"/>
              <a:t>Publishing Tool: Local Server</a:t>
            </a:r>
            <a:endParaRPr dirty="0"/>
          </a:p>
        </p:txBody>
      </p:sp>
      <p:pic>
        <p:nvPicPr>
          <p:cNvPr id="1026" name="Picture 2" descr="Live Server - Visual Studio Marketplace">
            <a:extLst>
              <a:ext uri="{FF2B5EF4-FFF2-40B4-BE49-F238E27FC236}">
                <a16:creationId xmlns:a16="http://schemas.microsoft.com/office/drawing/2014/main" id="{804B47DF-6BDD-0647-9487-8FB69A5EE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3298" y="2046300"/>
            <a:ext cx="2765399" cy="2765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1">
            <a:extLst>
              <a:ext uri="{FF2B5EF4-FFF2-40B4-BE49-F238E27FC236}">
                <a16:creationId xmlns:a16="http://schemas.microsoft.com/office/drawing/2014/main" id="{CC620425-0519-762D-7EAA-E0EC09ACAD94}"/>
              </a:ext>
            </a:extLst>
          </p:cNvPr>
          <p:cNvSpPr txBox="1"/>
          <p:nvPr/>
        </p:nvSpPr>
        <p:spPr>
          <a:xfrm>
            <a:off x="5110153" y="4951374"/>
            <a:ext cx="1971694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lang="en-AU" dirty="0"/>
              <a:t>Live Server </a:t>
            </a:r>
            <a:r>
              <a:rPr lang="en-AU" sz="1200" dirty="0"/>
              <a:t>(via VSCode)</a:t>
            </a: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9304E2EF-FB2C-4374-72CA-A1B5F8758CE7}"/>
              </a:ext>
            </a:extLst>
          </p:cNvPr>
          <p:cNvSpPr txBox="1"/>
          <p:nvPr/>
        </p:nvSpPr>
        <p:spPr>
          <a:xfrm>
            <a:off x="5181102" y="5288955"/>
            <a:ext cx="1829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20000"/>
              </a:lnSpc>
              <a:defRPr sz="1000">
                <a:solidFill>
                  <a:srgbClr val="000000">
                    <a:alpha val="70000"/>
                  </a:srgbClr>
                </a:solidFill>
              </a:defRPr>
            </a:lvl1pPr>
          </a:lstStyle>
          <a:p>
            <a:r>
              <a:rPr dirty="0"/>
              <a:t>Open Source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217" name="Text Placeholder 2"/>
          <p:cNvSpPr txBox="1">
            <a:spLocks noGrp="1"/>
          </p:cNvSpPr>
          <p:nvPr>
            <p:ph type="body" sz="quarter" idx="1"/>
          </p:nvPr>
        </p:nvSpPr>
        <p:spPr>
          <a:xfrm>
            <a:off x="1596572" y="992226"/>
            <a:ext cx="3006426" cy="9144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Front End Design &amp; Development</a:t>
            </a:r>
          </a:p>
        </p:txBody>
      </p:sp>
      <p:sp>
        <p:nvSpPr>
          <p:cNvPr id="224" name="Frameworks/Language"/>
          <p:cNvSpPr txBox="1">
            <a:spLocks noGrp="1"/>
          </p:cNvSpPr>
          <p:nvPr>
            <p:ph type="title" idx="4294967295"/>
          </p:nvPr>
        </p:nvSpPr>
        <p:spPr>
          <a:xfrm>
            <a:off x="1571171" y="416830"/>
            <a:ext cx="9304809" cy="74171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spc="-200"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r>
              <a:rPr lang="en-AU" dirty="0"/>
              <a:t>Standards, Web Accessibility &amp; Validation</a:t>
            </a:r>
            <a:endParaRPr dirty="0"/>
          </a:p>
        </p:txBody>
      </p:sp>
      <p:sp>
        <p:nvSpPr>
          <p:cNvPr id="4" name="AutoShape 6" descr="W3C Logo Black and White – Brands Logos">
            <a:extLst>
              <a:ext uri="{FF2B5EF4-FFF2-40B4-BE49-F238E27FC236}">
                <a16:creationId xmlns:a16="http://schemas.microsoft.com/office/drawing/2014/main" id="{7F77EFB4-5A24-3A4B-9D53-CBC5CD7D74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5BAF752C-75CC-9709-5EDE-5E788779EE12}"/>
              </a:ext>
            </a:extLst>
          </p:cNvPr>
          <p:cNvSpPr txBox="1"/>
          <p:nvPr/>
        </p:nvSpPr>
        <p:spPr>
          <a:xfrm>
            <a:off x="4387198" y="4951374"/>
            <a:ext cx="3417603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lang="en-AU" dirty="0"/>
              <a:t>W3C – World Wide Web Consortium</a:t>
            </a: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D7FDEB47-F02A-73FF-A1D6-F44BE707C585}"/>
              </a:ext>
            </a:extLst>
          </p:cNvPr>
          <p:cNvSpPr txBox="1"/>
          <p:nvPr/>
        </p:nvSpPr>
        <p:spPr>
          <a:xfrm>
            <a:off x="5181102" y="5288955"/>
            <a:ext cx="1829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20000"/>
              </a:lnSpc>
              <a:defRPr sz="1000">
                <a:solidFill>
                  <a:srgbClr val="000000">
                    <a:alpha val="70000"/>
                  </a:srgbClr>
                </a:solidFill>
              </a:defRPr>
            </a:lvl1pPr>
          </a:lstStyle>
          <a:p>
            <a:r>
              <a:rPr dirty="0"/>
              <a:t>Open Source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DC1983-A980-2C91-F362-751C2BF2D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986" y="2735565"/>
            <a:ext cx="3550024" cy="169167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217" name="Text Placeholder 2"/>
          <p:cNvSpPr txBox="1">
            <a:spLocks noGrp="1"/>
          </p:cNvSpPr>
          <p:nvPr>
            <p:ph type="body" sz="quarter" idx="1"/>
          </p:nvPr>
        </p:nvSpPr>
        <p:spPr>
          <a:xfrm>
            <a:off x="1596572" y="992226"/>
            <a:ext cx="3006426" cy="9144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Front End Design &amp; Development</a:t>
            </a:r>
          </a:p>
        </p:txBody>
      </p:sp>
      <p:sp>
        <p:nvSpPr>
          <p:cNvPr id="224" name="Frameworks/Language"/>
          <p:cNvSpPr txBox="1">
            <a:spLocks noGrp="1"/>
          </p:cNvSpPr>
          <p:nvPr>
            <p:ph type="title" idx="4294967295"/>
          </p:nvPr>
        </p:nvSpPr>
        <p:spPr>
          <a:xfrm>
            <a:off x="1571171" y="416830"/>
            <a:ext cx="9304809" cy="74171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spc="-200"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r>
              <a:rPr lang="en-AU" dirty="0"/>
              <a:t>Responsive (UI) Framework</a:t>
            </a:r>
            <a:endParaRPr dirty="0"/>
          </a:p>
        </p:txBody>
      </p:sp>
      <p:sp>
        <p:nvSpPr>
          <p:cNvPr id="4" name="AutoShape 6" descr="W3C Logo Black and White – Brands Logos">
            <a:extLst>
              <a:ext uri="{FF2B5EF4-FFF2-40B4-BE49-F238E27FC236}">
                <a16:creationId xmlns:a16="http://schemas.microsoft.com/office/drawing/2014/main" id="{7F77EFB4-5A24-3A4B-9D53-CBC5CD7D74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67799B5-0333-435E-ADFD-B4DB3B39DF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1733" y="2231127"/>
            <a:ext cx="3006426" cy="2395746"/>
          </a:xfrm>
          <a:prstGeom prst="rect">
            <a:avLst/>
          </a:prstGeom>
        </p:spPr>
      </p:pic>
      <p:sp>
        <p:nvSpPr>
          <p:cNvPr id="5" name="TextBox 11">
            <a:extLst>
              <a:ext uri="{FF2B5EF4-FFF2-40B4-BE49-F238E27FC236}">
                <a16:creationId xmlns:a16="http://schemas.microsoft.com/office/drawing/2014/main" id="{0B667095-AB26-5235-3E3E-F5E1DA86D5CD}"/>
              </a:ext>
            </a:extLst>
          </p:cNvPr>
          <p:cNvSpPr txBox="1"/>
          <p:nvPr/>
        </p:nvSpPr>
        <p:spPr>
          <a:xfrm>
            <a:off x="5538957" y="4951374"/>
            <a:ext cx="111408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lang="en-AU" dirty="0"/>
              <a:t>Bootstrap 5</a:t>
            </a: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7751D13A-0C19-BA5E-5952-239A8F3F3677}"/>
              </a:ext>
            </a:extLst>
          </p:cNvPr>
          <p:cNvSpPr txBox="1"/>
          <p:nvPr/>
        </p:nvSpPr>
        <p:spPr>
          <a:xfrm>
            <a:off x="5181102" y="5288955"/>
            <a:ext cx="1829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20000"/>
              </a:lnSpc>
              <a:defRPr sz="1000">
                <a:solidFill>
                  <a:srgbClr val="000000">
                    <a:alpha val="70000"/>
                  </a:srgbClr>
                </a:solidFill>
              </a:defRPr>
            </a:lvl1pPr>
          </a:lstStyle>
          <a:p>
            <a:r>
              <a:rPr dirty="0"/>
              <a:t>Open Source</a:t>
            </a:r>
          </a:p>
        </p:txBody>
      </p:sp>
    </p:spTree>
    <p:extLst>
      <p:ext uri="{BB962C8B-B14F-4D97-AF65-F5344CB8AC3E}">
        <p14:creationId xmlns:p14="http://schemas.microsoft.com/office/powerpoint/2010/main" val="30396493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Picture Placeholder 1" descr="Picture Placeholder 1"/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t="11403" b="11403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275" name="Title 2"/>
          <p:cNvSpPr txBox="1">
            <a:spLocks noGrp="1"/>
          </p:cNvSpPr>
          <p:nvPr>
            <p:ph type="title"/>
          </p:nvPr>
        </p:nvSpPr>
        <p:spPr>
          <a:xfrm>
            <a:off x="1596570" y="2389411"/>
            <a:ext cx="4187373" cy="1783444"/>
          </a:xfrm>
          <a:prstGeom prst="rect">
            <a:avLst/>
          </a:prstGeom>
        </p:spPr>
        <p:txBody>
          <a:bodyPr/>
          <a:lstStyle/>
          <a:p>
            <a:pPr>
              <a:defRPr spc="-200"/>
            </a:pPr>
            <a:r>
              <a:t>Software</a:t>
            </a:r>
          </a:p>
          <a:p>
            <a:pPr>
              <a:defRPr spc="-200"/>
            </a:pPr>
            <a:r>
              <a:t>And </a:t>
            </a:r>
          </a:p>
          <a:p>
            <a:pPr>
              <a:defRPr spc="-200"/>
            </a:pPr>
            <a:r>
              <a:t>Tools</a:t>
            </a:r>
          </a:p>
        </p:txBody>
      </p:sp>
      <p:sp>
        <p:nvSpPr>
          <p:cNvPr id="276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277" name="Text Placeholder 4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Front End Design &amp; Development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308" name="Text Placeholder 2"/>
          <p:cNvSpPr txBox="1">
            <a:spLocks noGrp="1"/>
          </p:cNvSpPr>
          <p:nvPr>
            <p:ph type="body" sz="quarter" idx="1"/>
          </p:nvPr>
        </p:nvSpPr>
        <p:spPr>
          <a:xfrm>
            <a:off x="1596572" y="992226"/>
            <a:ext cx="3006426" cy="9144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Front End Design &amp; Development</a:t>
            </a:r>
          </a:p>
        </p:txBody>
      </p:sp>
      <p:sp>
        <p:nvSpPr>
          <p:cNvPr id="315" name="Code Editor"/>
          <p:cNvSpPr txBox="1">
            <a:spLocks noGrp="1"/>
          </p:cNvSpPr>
          <p:nvPr>
            <p:ph type="title" idx="4294967295"/>
          </p:nvPr>
        </p:nvSpPr>
        <p:spPr>
          <a:xfrm>
            <a:off x="1571172" y="416830"/>
            <a:ext cx="5069272" cy="74171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spc="-200"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r>
              <a:rPr dirty="0"/>
              <a:t>Code Editor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40B0838-834F-D65F-F917-56DE7BF85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6206" y="2253635"/>
            <a:ext cx="2350729" cy="2350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11">
            <a:extLst>
              <a:ext uri="{FF2B5EF4-FFF2-40B4-BE49-F238E27FC236}">
                <a16:creationId xmlns:a16="http://schemas.microsoft.com/office/drawing/2014/main" id="{55CCD5F3-2279-C7BF-D246-0940FDC34DB6}"/>
              </a:ext>
            </a:extLst>
          </p:cNvPr>
          <p:cNvSpPr txBox="1"/>
          <p:nvPr/>
        </p:nvSpPr>
        <p:spPr>
          <a:xfrm>
            <a:off x="5209543" y="4951374"/>
            <a:ext cx="177292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lang="en-AU" dirty="0"/>
              <a:t>Visual Studio Code</a:t>
            </a:r>
          </a:p>
        </p:txBody>
      </p:sp>
      <p:sp>
        <p:nvSpPr>
          <p:cNvPr id="7" name="TextBox 12">
            <a:extLst>
              <a:ext uri="{FF2B5EF4-FFF2-40B4-BE49-F238E27FC236}">
                <a16:creationId xmlns:a16="http://schemas.microsoft.com/office/drawing/2014/main" id="{3062CFF7-EEA6-0DD4-60D2-0170ED15734E}"/>
              </a:ext>
            </a:extLst>
          </p:cNvPr>
          <p:cNvSpPr txBox="1"/>
          <p:nvPr/>
        </p:nvSpPr>
        <p:spPr>
          <a:xfrm>
            <a:off x="5181102" y="5288955"/>
            <a:ext cx="1829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20000"/>
              </a:lnSpc>
              <a:defRPr sz="1000">
                <a:solidFill>
                  <a:srgbClr val="000000">
                    <a:alpha val="70000"/>
                  </a:srgbClr>
                </a:solidFill>
              </a:defRPr>
            </a:lvl1pPr>
          </a:lstStyle>
          <a:p>
            <a:r>
              <a:rPr dirty="0"/>
              <a:t>Open Source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321" name="Text Placeholder 2"/>
          <p:cNvSpPr txBox="1">
            <a:spLocks noGrp="1"/>
          </p:cNvSpPr>
          <p:nvPr>
            <p:ph type="body" sz="quarter" idx="1"/>
          </p:nvPr>
        </p:nvSpPr>
        <p:spPr>
          <a:xfrm>
            <a:off x="1596572" y="992226"/>
            <a:ext cx="3006426" cy="9144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Front End Design &amp; Development</a:t>
            </a:r>
          </a:p>
        </p:txBody>
      </p:sp>
      <p:sp>
        <p:nvSpPr>
          <p:cNvPr id="326" name="Messaging &amp; File Sharing"/>
          <p:cNvSpPr txBox="1">
            <a:spLocks noGrp="1"/>
          </p:cNvSpPr>
          <p:nvPr>
            <p:ph type="title" idx="4294967295"/>
          </p:nvPr>
        </p:nvSpPr>
        <p:spPr>
          <a:xfrm>
            <a:off x="1571172" y="416830"/>
            <a:ext cx="5750409" cy="74171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spc="-200"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r>
              <a:t>Messaging &amp; File Sharing</a:t>
            </a:r>
          </a:p>
        </p:txBody>
      </p:sp>
      <p:pic>
        <p:nvPicPr>
          <p:cNvPr id="4100" name="Picture 4" descr="Webex VDI available for download">
            <a:extLst>
              <a:ext uri="{FF2B5EF4-FFF2-40B4-BE49-F238E27FC236}">
                <a16:creationId xmlns:a16="http://schemas.microsoft.com/office/drawing/2014/main" id="{B105BA89-71C7-4C45-9030-A3B4029E2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238" y="2313847"/>
            <a:ext cx="2233524" cy="2233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1">
            <a:extLst>
              <a:ext uri="{FF2B5EF4-FFF2-40B4-BE49-F238E27FC236}">
                <a16:creationId xmlns:a16="http://schemas.microsoft.com/office/drawing/2014/main" id="{1AD033CB-AAA8-C38E-7AC4-506F9E8917AD}"/>
              </a:ext>
            </a:extLst>
          </p:cNvPr>
          <p:cNvSpPr txBox="1"/>
          <p:nvPr/>
        </p:nvSpPr>
        <p:spPr>
          <a:xfrm>
            <a:off x="5768992" y="4951374"/>
            <a:ext cx="654025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lang="en-AU" dirty="0"/>
              <a:t>Webex</a:t>
            </a: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5C31AFF6-51EB-49A4-614F-2934D2582EFC}"/>
              </a:ext>
            </a:extLst>
          </p:cNvPr>
          <p:cNvSpPr txBox="1"/>
          <p:nvPr/>
        </p:nvSpPr>
        <p:spPr>
          <a:xfrm>
            <a:off x="5181102" y="5288955"/>
            <a:ext cx="1829793" cy="173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20000"/>
              </a:lnSpc>
              <a:defRPr sz="1000">
                <a:solidFill>
                  <a:srgbClr val="000000">
                    <a:alpha val="70000"/>
                  </a:srgbClr>
                </a:solidFill>
              </a:defRPr>
            </a:lvl1pPr>
          </a:lstStyle>
          <a:p>
            <a:r>
              <a:rPr lang="en-AU" dirty="0"/>
              <a:t>Paid</a:t>
            </a:r>
            <a:endParaRPr dirty="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282" name="Text Placeholder 2"/>
          <p:cNvSpPr txBox="1">
            <a:spLocks noGrp="1"/>
          </p:cNvSpPr>
          <p:nvPr>
            <p:ph type="body" sz="quarter" idx="1"/>
          </p:nvPr>
        </p:nvSpPr>
        <p:spPr>
          <a:xfrm>
            <a:off x="1596572" y="992226"/>
            <a:ext cx="3006426" cy="9144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Front End Design &amp; Development</a:t>
            </a:r>
          </a:p>
        </p:txBody>
      </p:sp>
      <p:sp>
        <p:nvSpPr>
          <p:cNvPr id="292" name="Design Software"/>
          <p:cNvSpPr txBox="1">
            <a:spLocks noGrp="1"/>
          </p:cNvSpPr>
          <p:nvPr>
            <p:ph type="title" idx="4294967295"/>
          </p:nvPr>
        </p:nvSpPr>
        <p:spPr>
          <a:xfrm>
            <a:off x="1558472" y="416830"/>
            <a:ext cx="5069272" cy="74171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spc="-200"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r>
              <a:t>Design Software</a:t>
            </a:r>
          </a:p>
        </p:txBody>
      </p:sp>
      <p:pic>
        <p:nvPicPr>
          <p:cNvPr id="7" name="Picture 2" descr="Figma&amp;#39;s new icon">
            <a:extLst>
              <a:ext uri="{FF2B5EF4-FFF2-40B4-BE49-F238E27FC236}">
                <a16:creationId xmlns:a16="http://schemas.microsoft.com/office/drawing/2014/main" id="{F47660A2-18E4-EA38-5647-EA0B28B0C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935" y="2482023"/>
            <a:ext cx="2286940" cy="2286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1">
            <a:extLst>
              <a:ext uri="{FF2B5EF4-FFF2-40B4-BE49-F238E27FC236}">
                <a16:creationId xmlns:a16="http://schemas.microsoft.com/office/drawing/2014/main" id="{D525BEEB-C45D-E33A-91B4-2B1CE1E2AE5F}"/>
              </a:ext>
            </a:extLst>
          </p:cNvPr>
          <p:cNvSpPr txBox="1"/>
          <p:nvPr/>
        </p:nvSpPr>
        <p:spPr>
          <a:xfrm>
            <a:off x="3916472" y="4951374"/>
            <a:ext cx="573875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lang="en-AU" dirty="0"/>
              <a:t>Figma</a:t>
            </a: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F8A78748-F386-6AF1-C717-43831CEB9462}"/>
              </a:ext>
            </a:extLst>
          </p:cNvPr>
          <p:cNvSpPr txBox="1"/>
          <p:nvPr/>
        </p:nvSpPr>
        <p:spPr>
          <a:xfrm>
            <a:off x="3288507" y="5288955"/>
            <a:ext cx="1829793" cy="173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20000"/>
              </a:lnSpc>
              <a:defRPr sz="1000">
                <a:solidFill>
                  <a:srgbClr val="000000">
                    <a:alpha val="70000"/>
                  </a:srgbClr>
                </a:solidFill>
              </a:defRPr>
            </a:lvl1pPr>
          </a:lstStyle>
          <a:p>
            <a:r>
              <a:rPr dirty="0"/>
              <a:t>Open Source</a:t>
            </a:r>
            <a:r>
              <a:rPr lang="en-AU" dirty="0"/>
              <a:t> / ”Freemium”</a:t>
            </a:r>
            <a:endParaRPr dirty="0"/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1F09722A-8533-7BE1-A9A4-1BBE37E76F51}"/>
              </a:ext>
            </a:extLst>
          </p:cNvPr>
          <p:cNvSpPr txBox="1"/>
          <p:nvPr/>
        </p:nvSpPr>
        <p:spPr>
          <a:xfrm>
            <a:off x="7497730" y="4951374"/>
            <a:ext cx="839974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lang="en-AU" dirty="0" err="1"/>
              <a:t>Milanote</a:t>
            </a:r>
            <a:endParaRPr lang="en-AU" dirty="0"/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78ECF5AC-C710-0CD7-04B5-AA2899F51F34}"/>
              </a:ext>
            </a:extLst>
          </p:cNvPr>
          <p:cNvSpPr txBox="1"/>
          <p:nvPr/>
        </p:nvSpPr>
        <p:spPr>
          <a:xfrm>
            <a:off x="7002813" y="5288955"/>
            <a:ext cx="1829793" cy="173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20000"/>
              </a:lnSpc>
              <a:defRPr sz="1000">
                <a:solidFill>
                  <a:srgbClr val="000000">
                    <a:alpha val="70000"/>
                  </a:srgbClr>
                </a:solidFill>
              </a:defRPr>
            </a:lvl1pPr>
          </a:lstStyle>
          <a:p>
            <a:r>
              <a:rPr dirty="0"/>
              <a:t>Open</a:t>
            </a:r>
            <a:r>
              <a:rPr lang="en-AU" dirty="0"/>
              <a:t> Source</a:t>
            </a:r>
            <a:endParaRPr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A641E6F-AC9A-F4EB-7465-FEE853FB6C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2176" y="2317898"/>
            <a:ext cx="2451065" cy="245106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r>
              <a:rPr lang="en-AU" dirty="0"/>
              <a:t>VSCode Extensions</a:t>
            </a:r>
            <a:endParaRPr dirty="0"/>
          </a:p>
        </p:txBody>
      </p:sp>
      <p:sp>
        <p:nvSpPr>
          <p:cNvPr id="156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157" name="Text Placeholder 3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Front End Design &amp; Development</a:t>
            </a: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9C0268D7-7AA1-6443-A2C4-CDA277721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254" y="5725054"/>
            <a:ext cx="1786912" cy="8340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Picture Placeholder 4" descr="Picture Placeholder 4"/>
          <p:cNvPicPr>
            <a:picLocks noChangeAspect="1"/>
          </p:cNvPicPr>
          <p:nvPr/>
        </p:nvPicPr>
        <p:blipFill>
          <a:blip r:embed="rId3"/>
          <a:srcRect t="10191" r="1" b="611"/>
          <a:stretch>
            <a:fillRect/>
          </a:stretch>
        </p:blipFill>
        <p:spPr>
          <a:xfrm>
            <a:off x="7074638" y="0"/>
            <a:ext cx="5117307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548" y="0"/>
                </a:moveTo>
                <a:lnTo>
                  <a:pt x="6317" y="149"/>
                </a:lnTo>
                <a:cubicBezTo>
                  <a:pt x="2436" y="2781"/>
                  <a:pt x="0" y="6578"/>
                  <a:pt x="0" y="10800"/>
                </a:cubicBezTo>
                <a:cubicBezTo>
                  <a:pt x="0" y="15022"/>
                  <a:pt x="2436" y="18819"/>
                  <a:pt x="6317" y="21451"/>
                </a:cubicBezTo>
                <a:lnTo>
                  <a:pt x="6548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6548" y="0"/>
                </a:lnTo>
                <a:close/>
              </a:path>
            </a:pathLst>
          </a:cu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8931" y="2407258"/>
            <a:ext cx="2724645" cy="2043484"/>
          </a:xfrm>
          <a:prstGeom prst="rect">
            <a:avLst/>
          </a:prstGeom>
        </p:spPr>
      </p:pic>
      <p:sp>
        <p:nvSpPr>
          <p:cNvPr id="14" name="TextBox 6"/>
          <p:cNvSpPr txBox="1"/>
          <p:nvPr/>
        </p:nvSpPr>
        <p:spPr>
          <a:xfrm>
            <a:off x="1596569" y="2821651"/>
            <a:ext cx="5478069" cy="3458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400" b="1" u="sng" dirty="0"/>
              <a:t>REMINDER</a:t>
            </a:r>
            <a:r>
              <a:rPr lang="en-AU" sz="1400" dirty="0"/>
              <a:t>: Our current VSCode setup:</a:t>
            </a:r>
          </a:p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400" b="1" dirty="0"/>
          </a:p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400" b="1" dirty="0"/>
              <a:t>General:</a:t>
            </a:r>
            <a:endParaRPr lang="en-AU" sz="1400" dirty="0"/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400" dirty="0"/>
              <a:t>Live Server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400" dirty="0"/>
              <a:t>Material Icon Theme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400" dirty="0"/>
              <a:t>Prettier </a:t>
            </a:r>
            <a:r>
              <a:rPr lang="mr-IN" sz="1400" dirty="0"/>
              <a:t>–</a:t>
            </a:r>
            <a:r>
              <a:rPr lang="en-AU" sz="1400" dirty="0"/>
              <a:t> Code formatter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400" dirty="0"/>
              <a:t>ESLint (</a:t>
            </a:r>
            <a:r>
              <a:rPr lang="en-AU" sz="1400" i="1" dirty="0"/>
              <a:t>looks for syntax errors</a:t>
            </a:r>
            <a:r>
              <a:rPr lang="en-AU" sz="1400" dirty="0"/>
              <a:t>)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200" b="1" i="1" dirty="0"/>
              <a:t>NOTE</a:t>
            </a:r>
            <a:r>
              <a:rPr lang="en-AU" sz="1200" i="1" dirty="0"/>
              <a:t>: Emmet is built-in (Cheat Sheet for Emmet: </a:t>
            </a:r>
            <a:r>
              <a:rPr lang="en-AU" sz="1200" i="1" dirty="0">
                <a:hlinkClick r:id="rId5"/>
              </a:rPr>
              <a:t>https://docs.emmet.io/cheat-sheet/</a:t>
            </a:r>
            <a:r>
              <a:rPr lang="en-AU" sz="1200" i="1" dirty="0"/>
              <a:t> )</a:t>
            </a:r>
            <a:endParaRPr lang="en-AU" sz="1200" b="1" i="1" dirty="0"/>
          </a:p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400" b="1" dirty="0"/>
          </a:p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400" b="1" dirty="0"/>
              <a:t>HTML / CSS Formatters:</a:t>
            </a:r>
            <a:endParaRPr lang="en-AU" sz="1400" dirty="0"/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400" dirty="0"/>
              <a:t>HTML CSS Support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200" b="1" i="1" dirty="0"/>
              <a:t>NOTE</a:t>
            </a:r>
            <a:r>
              <a:rPr lang="en-AU" sz="1200" i="1" dirty="0"/>
              <a:t>:</a:t>
            </a:r>
            <a:r>
              <a:rPr lang="en-AU" sz="1200" b="1" i="1" dirty="0"/>
              <a:t> </a:t>
            </a:r>
            <a:r>
              <a:rPr lang="en-AU" sz="1200" i="1" dirty="0"/>
              <a:t>Many extensions have been incorporated into VSCode such as Auto Rename Tag, Auto Close Tag &amp; Class autocomplete (see </a:t>
            </a:r>
            <a:r>
              <a:rPr lang="en-AU" sz="1200" i="1" dirty="0">
                <a:hlinkClick r:id="rId6"/>
              </a:rPr>
              <a:t>here</a:t>
            </a:r>
            <a:r>
              <a:rPr lang="en-AU" sz="1200" i="1" dirty="0"/>
              <a:t> for more info)</a:t>
            </a:r>
          </a:p>
        </p:txBody>
      </p:sp>
    </p:spTree>
    <p:extLst>
      <p:ext uri="{BB962C8B-B14F-4D97-AF65-F5344CB8AC3E}">
        <p14:creationId xmlns:p14="http://schemas.microsoft.com/office/powerpoint/2010/main" val="147429703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Ravi Powerpoint Template">
  <a:themeElements>
    <a:clrScheme name="Ravi Powerpoint Templa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EDF62"/>
      </a:accent1>
      <a:accent2>
        <a:srgbClr val="FFC900"/>
      </a:accent2>
      <a:accent3>
        <a:srgbClr val="F77803"/>
      </a:accent3>
      <a:accent4>
        <a:srgbClr val="CE004E"/>
      </a:accent4>
      <a:accent5>
        <a:srgbClr val="4F003F"/>
      </a:accent5>
      <a:accent6>
        <a:srgbClr val="809600"/>
      </a:accent6>
      <a:hlink>
        <a:srgbClr val="0000FF"/>
      </a:hlink>
      <a:folHlink>
        <a:srgbClr val="FF00FF"/>
      </a:folHlink>
    </a:clrScheme>
    <a:fontScheme name="Ravi Powerpoint Templat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Ravi Powerpoint 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3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3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Ravi Powerpoint Template">
  <a:themeElements>
    <a:clrScheme name="Ravi Powerpoint Templa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EDF62"/>
      </a:accent1>
      <a:accent2>
        <a:srgbClr val="FFC900"/>
      </a:accent2>
      <a:accent3>
        <a:srgbClr val="F77803"/>
      </a:accent3>
      <a:accent4>
        <a:srgbClr val="CE004E"/>
      </a:accent4>
      <a:accent5>
        <a:srgbClr val="4F003F"/>
      </a:accent5>
      <a:accent6>
        <a:srgbClr val="809600"/>
      </a:accent6>
      <a:hlink>
        <a:srgbClr val="0000FF"/>
      </a:hlink>
      <a:folHlink>
        <a:srgbClr val="FF00FF"/>
      </a:folHlink>
    </a:clrScheme>
    <a:fontScheme name="Ravi Powerpoint Templat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Ravi Powerpoint 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3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3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253</Words>
  <Application>Microsoft Macintosh PowerPoint</Application>
  <PresentationFormat>Widescreen</PresentationFormat>
  <Paragraphs>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Helvetica</vt:lpstr>
      <vt:lpstr>Open Sans Regular</vt:lpstr>
      <vt:lpstr>Ravi Powerpoint Template</vt:lpstr>
      <vt:lpstr>PowerPoint Presentation</vt:lpstr>
      <vt:lpstr>Technology Overview</vt:lpstr>
      <vt:lpstr>Main Language Standards</vt:lpstr>
      <vt:lpstr>Publishing Tool: Local Server</vt:lpstr>
      <vt:lpstr>Standards, Web Accessibility &amp; Validation</vt:lpstr>
      <vt:lpstr>Responsive (UI) Framework</vt:lpstr>
      <vt:lpstr>Software And  Tools</vt:lpstr>
      <vt:lpstr>Code Editor</vt:lpstr>
      <vt:lpstr>Messaging &amp; File Sharing</vt:lpstr>
      <vt:lpstr>Design Software</vt:lpstr>
      <vt:lpstr>VSCode Extensions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Server Side Development </dc:title>
  <cp:lastModifiedBy>Alex Bicknell</cp:lastModifiedBy>
  <cp:revision>124</cp:revision>
  <dcterms:modified xsi:type="dcterms:W3CDTF">2024-04-14T11:15:24Z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1a614bb-7b8e-4b4e-afa5-3fac8d0b6cac_Enabled">
    <vt:lpwstr>true</vt:lpwstr>
  </property>
  <property fmtid="{D5CDD505-2E9C-101B-9397-08002B2CF9AE}" pid="3" name="MSIP_Label_41a614bb-7b8e-4b4e-afa5-3fac8d0b6cac_SetDate">
    <vt:lpwstr>2023-02-01T22:30:36Z</vt:lpwstr>
  </property>
  <property fmtid="{D5CDD505-2E9C-101B-9397-08002B2CF9AE}" pid="4" name="MSIP_Label_41a614bb-7b8e-4b4e-afa5-3fac8d0b6cac_Method">
    <vt:lpwstr>Standard</vt:lpwstr>
  </property>
  <property fmtid="{D5CDD505-2E9C-101B-9397-08002B2CF9AE}" pid="5" name="MSIP_Label_41a614bb-7b8e-4b4e-afa5-3fac8d0b6cac_Name">
    <vt:lpwstr>OFFICIAL</vt:lpwstr>
  </property>
  <property fmtid="{D5CDD505-2E9C-101B-9397-08002B2CF9AE}" pid="6" name="MSIP_Label_41a614bb-7b8e-4b4e-afa5-3fac8d0b6cac_SiteId">
    <vt:lpwstr>435f6007-b395-4841-9bdb-dcba52302216</vt:lpwstr>
  </property>
  <property fmtid="{D5CDD505-2E9C-101B-9397-08002B2CF9AE}" pid="7" name="MSIP_Label_41a614bb-7b8e-4b4e-afa5-3fac8d0b6cac_ActionId">
    <vt:lpwstr>3c5459e4-c33d-4896-ad85-16da4f4864a1</vt:lpwstr>
  </property>
  <property fmtid="{D5CDD505-2E9C-101B-9397-08002B2CF9AE}" pid="8" name="MSIP_Label_41a614bb-7b8e-4b4e-afa5-3fac8d0b6cac_ContentBits">
    <vt:lpwstr>2</vt:lpwstr>
  </property>
  <property fmtid="{D5CDD505-2E9C-101B-9397-08002B2CF9AE}" pid="9" name="ClassificationContentMarkingFooterLocations">
    <vt:lpwstr>Ravi Powerpoint Template:6</vt:lpwstr>
  </property>
  <property fmtid="{D5CDD505-2E9C-101B-9397-08002B2CF9AE}" pid="10" name="ClassificationContentMarkingFooterText">
    <vt:lpwstr>OFFICIAL</vt:lpwstr>
  </property>
</Properties>
</file>