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4" r:id="rId3"/>
    <p:sldId id="278" r:id="rId4"/>
    <p:sldId id="282" r:id="rId5"/>
    <p:sldId id="279" r:id="rId6"/>
    <p:sldId id="280" r:id="rId7"/>
    <p:sldId id="281" r:id="rId8"/>
    <p:sldId id="283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45716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91433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1371494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182866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228582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2742989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320015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365732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3D1"/>
          </a:solidFill>
        </a:fill>
      </a:tcStyle>
    </a:wholeTbl>
    <a:band2H>
      <a:tcTxStyle/>
      <a:tcStyle>
        <a:tcBdr/>
        <a:fill>
          <a:solidFill>
            <a:srgbClr val="FFF9EA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5CA"/>
          </a:solidFill>
        </a:fill>
      </a:tcStyle>
    </a:wholeTbl>
    <a:band2H>
      <a:tcTxStyle/>
      <a:tcStyle>
        <a:tcBdr/>
        <a:fill>
          <a:solidFill>
            <a:srgbClr val="FDEBE6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7DCCA"/>
          </a:solidFill>
        </a:fill>
      </a:tcStyle>
    </a:wholeTbl>
    <a:band2H>
      <a:tcTxStyle/>
      <a:tcStyle>
        <a:tcBdr/>
        <a:fill>
          <a:solidFill>
            <a:srgbClr val="ECEEE6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5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4129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92495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596572" y="1432830"/>
            <a:ext cx="5069272" cy="10287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1pPr>
            <a:lvl2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2pPr>
            <a:lvl3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3pPr>
            <a:lvl4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4pPr>
            <a:lvl5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idx="13"/>
          </p:nvPr>
        </p:nvSpPr>
        <p:spPr>
          <a:xfrm>
            <a:off x="7074638" y="0"/>
            <a:ext cx="5117362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>
              <a:defRPr sz="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4F95E-8825-D442-04F1-0CE5D637CC8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44350" y="6690360"/>
            <a:ext cx="5349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ransition spd="med"/>
  <p:txStyles>
    <p:titleStyle>
      <a:lvl1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2641362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3098522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3555680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4012838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716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433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71494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866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582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42989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20015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732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hoto-1519241047957-be31d7379a5d.jpeg" descr="photo-1519241047957-be31d7379a5d.jpeg"/>
          <p:cNvPicPr>
            <a:picLocks noChangeAspect="1"/>
          </p:cNvPicPr>
          <p:nvPr/>
        </p:nvPicPr>
        <p:blipFill>
          <a:blip r:embed="rId2"/>
          <a:srcRect l="1148" t="17290" r="1148" b="305"/>
          <a:stretch>
            <a:fillRect/>
          </a:stretch>
        </p:blipFill>
        <p:spPr>
          <a:xfrm>
            <a:off x="-2382" y="0"/>
            <a:ext cx="12196764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Rectangle"/>
          <p:cNvSpPr/>
          <p:nvPr/>
        </p:nvSpPr>
        <p:spPr>
          <a:xfrm>
            <a:off x="0" y="-12700"/>
            <a:ext cx="12242800" cy="6883400"/>
          </a:xfrm>
          <a:prstGeom prst="rect">
            <a:avLst/>
          </a:prstGeom>
          <a:solidFill>
            <a:srgbClr val="000000">
              <a:alpha val="6503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8" name="Server Side Development"/>
          <p:cNvSpPr txBox="1">
            <a:spLocks noGrp="1"/>
          </p:cNvSpPr>
          <p:nvPr>
            <p:ph type="title" idx="4294967295"/>
          </p:nvPr>
        </p:nvSpPr>
        <p:spPr>
          <a:xfrm>
            <a:off x="1596570" y="2389411"/>
            <a:ext cx="6584044" cy="17834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spc="-200">
                <a:solidFill>
                  <a:srgbClr val="FFFFFF"/>
                </a:solidFill>
              </a:defRPr>
            </a:lvl1pPr>
          </a:lstStyle>
          <a:p>
            <a:r>
              <a:rPr lang="en-AU" dirty="0"/>
              <a:t>ICT40120 </a:t>
            </a:r>
            <a:r>
              <a:rPr lang="mr-IN" dirty="0"/>
              <a:t>–</a:t>
            </a:r>
            <a:r>
              <a:rPr lang="en-AU" dirty="0"/>
              <a:t> </a:t>
            </a:r>
            <a:br>
              <a:rPr lang="en-AU" dirty="0"/>
            </a:br>
            <a:r>
              <a:rPr lang="en-AU" dirty="0"/>
              <a:t>Front End Design &amp; Development</a:t>
            </a:r>
            <a:endParaRPr dirty="0"/>
          </a:p>
        </p:txBody>
      </p:sp>
      <p:sp>
        <p:nvSpPr>
          <p:cNvPr id="89" name="TextBox 5"/>
          <p:cNvSpPr txBox="1"/>
          <p:nvPr/>
        </p:nvSpPr>
        <p:spPr>
          <a:xfrm>
            <a:off x="2739570" y="4869712"/>
            <a:ext cx="4204155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Implement search engine optimisations</a:t>
            </a:r>
            <a:endParaRPr dirty="0"/>
          </a:p>
        </p:txBody>
      </p:sp>
      <p:sp>
        <p:nvSpPr>
          <p:cNvPr id="90" name="TextBox 6"/>
          <p:cNvSpPr txBox="1"/>
          <p:nvPr/>
        </p:nvSpPr>
        <p:spPr>
          <a:xfrm>
            <a:off x="1596569" y="4880222"/>
            <a:ext cx="1022716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chemeClr val="accent3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dirty="0">
                <a:solidFill>
                  <a:srgbClr val="00B0F0"/>
                </a:solidFill>
              </a:rPr>
              <a:t>ICT</a:t>
            </a:r>
            <a:r>
              <a:rPr lang="en-AU" dirty="0">
                <a:solidFill>
                  <a:srgbClr val="00B0F0"/>
                </a:solidFill>
              </a:rPr>
              <a:t>WEB443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91" name="TextBox 6"/>
          <p:cNvSpPr txBox="1"/>
          <p:nvPr/>
        </p:nvSpPr>
        <p:spPr>
          <a:xfrm>
            <a:off x="1596569" y="4555382"/>
            <a:ext cx="1022716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chemeClr val="accent3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dirty="0">
                <a:solidFill>
                  <a:srgbClr val="00B0F0"/>
                </a:solidFill>
              </a:rPr>
              <a:t>ICT</a:t>
            </a:r>
            <a:r>
              <a:rPr lang="en-AU" dirty="0">
                <a:solidFill>
                  <a:srgbClr val="00B0F0"/>
                </a:solidFill>
              </a:rPr>
              <a:t>WEB432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92" name="TextBox 5"/>
          <p:cNvSpPr txBox="1"/>
          <p:nvPr/>
        </p:nvSpPr>
        <p:spPr>
          <a:xfrm>
            <a:off x="2739570" y="4534362"/>
            <a:ext cx="5604330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AU" dirty="0">
                <a:ea typeface="Calibri" panose="020F0502020204030204" pitchFamily="34" charset="0"/>
              </a:rPr>
              <a:t>Design website layouts</a:t>
            </a:r>
            <a:endParaRPr dirty="0"/>
          </a:p>
        </p:txBody>
      </p:sp>
      <p:pic>
        <p:nvPicPr>
          <p:cNvPr id="9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876" y="5900382"/>
            <a:ext cx="1411290" cy="65874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588B7D48-5872-4EB3-B46D-0DB58E25E57D}"/>
              </a:ext>
            </a:extLst>
          </p:cNvPr>
          <p:cNvSpPr txBox="1"/>
          <p:nvPr/>
        </p:nvSpPr>
        <p:spPr>
          <a:xfrm>
            <a:off x="2745465" y="5193199"/>
            <a:ext cx="3747353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AU" dirty="0"/>
              <a:t>Evaluate and select a web hosting service</a:t>
            </a:r>
            <a:endParaRPr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7468410-FE9F-4300-8EAE-317C859DBC1E}"/>
              </a:ext>
            </a:extLst>
          </p:cNvPr>
          <p:cNvSpPr txBox="1"/>
          <p:nvPr/>
        </p:nvSpPr>
        <p:spPr>
          <a:xfrm>
            <a:off x="1596570" y="5205877"/>
            <a:ext cx="1022716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chemeClr val="accent3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>
                <a:solidFill>
                  <a:srgbClr val="00B0F0"/>
                </a:solidFill>
              </a:rPr>
              <a:t>ICTWEB450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1CD6877A-7853-0402-8C7F-D8C7E2EC52C5}"/>
              </a:ext>
            </a:extLst>
          </p:cNvPr>
          <p:cNvSpPr txBox="1"/>
          <p:nvPr/>
        </p:nvSpPr>
        <p:spPr>
          <a:xfrm>
            <a:off x="2745464" y="5514868"/>
            <a:ext cx="3747353" cy="24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AU" dirty="0"/>
              <a:t>Create responsive website layouts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74E555BA-7197-61F5-5BF7-F3B20D5128D9}"/>
              </a:ext>
            </a:extLst>
          </p:cNvPr>
          <p:cNvSpPr txBox="1"/>
          <p:nvPr/>
        </p:nvSpPr>
        <p:spPr>
          <a:xfrm>
            <a:off x="1596569" y="5527546"/>
            <a:ext cx="1022716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chemeClr val="accent3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>
                <a:solidFill>
                  <a:srgbClr val="00B0F0"/>
                </a:solidFill>
              </a:rPr>
              <a:t>ICTWEB444</a:t>
            </a:r>
            <a:endParaRPr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hoto-1524749292158-7540c2494485.jpeg" descr="photo-1524749292158-7540c2494485.jpeg"/>
          <p:cNvPicPr>
            <a:picLocks noChangeAspect="1"/>
          </p:cNvPicPr>
          <p:nvPr/>
        </p:nvPicPr>
        <p:blipFill>
          <a:blip r:embed="rId3"/>
          <a:srcRect t="7828" b="7828"/>
          <a:stretch>
            <a:fillRect/>
          </a:stretch>
        </p:blipFill>
        <p:spPr>
          <a:xfrm>
            <a:off x="-2382" y="0"/>
            <a:ext cx="12196764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Rectangle"/>
          <p:cNvSpPr/>
          <p:nvPr/>
        </p:nvSpPr>
        <p:spPr>
          <a:xfrm>
            <a:off x="-25400" y="-12700"/>
            <a:ext cx="12242800" cy="6883400"/>
          </a:xfrm>
          <a:prstGeom prst="rect">
            <a:avLst/>
          </a:prstGeom>
          <a:solidFill>
            <a:srgbClr val="000000">
              <a:alpha val="6503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97" name="Daniel Fitzsimmons"/>
          <p:cNvSpPr txBox="1">
            <a:spLocks noGrp="1"/>
          </p:cNvSpPr>
          <p:nvPr>
            <p:ph type="title" idx="4294967295"/>
          </p:nvPr>
        </p:nvSpPr>
        <p:spPr>
          <a:xfrm>
            <a:off x="6638470" y="2389411"/>
            <a:ext cx="4187372" cy="178344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4000" spc="-200">
                <a:solidFill>
                  <a:srgbClr val="FFFFFF"/>
                </a:solidFill>
              </a:defRPr>
            </a:pPr>
            <a:r>
              <a:rPr lang="en-AU" dirty="0"/>
              <a:t>Alex Bicknell</a:t>
            </a:r>
            <a:endParaRPr dirty="0"/>
          </a:p>
        </p:txBody>
      </p:sp>
      <p:sp>
        <p:nvSpPr>
          <p:cNvPr id="98" name="TextBox 5"/>
          <p:cNvSpPr txBox="1"/>
          <p:nvPr/>
        </p:nvSpPr>
        <p:spPr>
          <a:xfrm>
            <a:off x="7781470" y="4986549"/>
            <a:ext cx="3747353" cy="234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AU" dirty="0" err="1"/>
              <a:t>Alex.Bicknell</a:t>
            </a:r>
            <a:r>
              <a:rPr dirty="0"/>
              <a:t>@holmesglen.edu.au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6638469" y="4986549"/>
            <a:ext cx="644407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chemeClr val="accent3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>
                <a:solidFill>
                  <a:srgbClr val="00B0F0"/>
                </a:solidFill>
              </a:rPr>
              <a:t>EMAIL </a:t>
            </a:r>
          </a:p>
        </p:txBody>
      </p:sp>
      <p:sp>
        <p:nvSpPr>
          <p:cNvPr id="100" name="TextBox 6"/>
          <p:cNvSpPr txBox="1"/>
          <p:nvPr/>
        </p:nvSpPr>
        <p:spPr>
          <a:xfrm>
            <a:off x="6638469" y="4661709"/>
            <a:ext cx="686085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chemeClr val="accent3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dirty="0">
                <a:solidFill>
                  <a:srgbClr val="00B0F0"/>
                </a:solidFill>
              </a:rPr>
              <a:t>PHONE</a:t>
            </a:r>
          </a:p>
        </p:txBody>
      </p:sp>
      <p:sp>
        <p:nvSpPr>
          <p:cNvPr id="101" name="TextBox 5"/>
          <p:cNvSpPr txBox="1"/>
          <p:nvPr/>
        </p:nvSpPr>
        <p:spPr>
          <a:xfrm>
            <a:off x="7781470" y="4661709"/>
            <a:ext cx="4590117" cy="234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r>
              <a:rPr dirty="0"/>
              <a:t>9209 5</a:t>
            </a:r>
            <a:r>
              <a:rPr lang="en-AU" dirty="0"/>
              <a:t>716</a:t>
            </a:r>
            <a:endParaRPr dirty="0"/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8FAF3DDC-C8E0-A945-94AC-878F77D98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B4458D-E6EC-EE40-6C2F-24DC872B56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4901" y="1206171"/>
            <a:ext cx="4840551" cy="330492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/>
          <p:cNvSpPr txBox="1">
            <a:spLocks noGrp="1"/>
          </p:cNvSpPr>
          <p:nvPr>
            <p:ph type="title"/>
          </p:nvPr>
        </p:nvSpPr>
        <p:spPr>
          <a:xfrm>
            <a:off x="1496908" y="1154243"/>
            <a:ext cx="5069272" cy="1028701"/>
          </a:xfrm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Subject Summary</a:t>
            </a:r>
            <a:endParaRPr dirty="0"/>
          </a:p>
        </p:txBody>
      </p:sp>
      <p:sp>
        <p:nvSpPr>
          <p:cNvPr id="15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pic>
        <p:nvPicPr>
          <p:cNvPr id="158" name="Picture Placeholder 4" descr="Picture Placeholder 4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/>
          <p:cNvSpPr txBox="1"/>
          <p:nvPr/>
        </p:nvSpPr>
        <p:spPr>
          <a:xfrm>
            <a:off x="1472890" y="1869617"/>
            <a:ext cx="5117307" cy="411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b="1" dirty="0"/>
              <a:t>9 Week Subject 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b="1" dirty="0"/>
              <a:t>Two Assessments: </a:t>
            </a:r>
            <a:r>
              <a:rPr lang="en-AU" sz="1600" dirty="0"/>
              <a:t>Due Weeks 5 and 8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b="1" dirty="0"/>
              <a:t>Topic areas to cover: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b="1" dirty="0"/>
          </a:p>
          <a:p>
            <a:pPr marL="285750" indent="-28575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Planning &amp; designing modern website layouts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285750" indent="-28575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Building responsive websites for different devices, using CSS units, media queries &amp; frameworks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285750" indent="-28575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Launching &amp; hosting websites on live webhosts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285750" indent="-28575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Optimising websites for performance and search engines</a:t>
            </a: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9C0268D7-7AA1-6443-A2C4-CDA277721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376295035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/>
          <p:cNvSpPr txBox="1">
            <a:spLocks noGrp="1"/>
          </p:cNvSpPr>
          <p:nvPr>
            <p:ph type="title"/>
          </p:nvPr>
        </p:nvSpPr>
        <p:spPr>
          <a:xfrm>
            <a:off x="1496908" y="1154243"/>
            <a:ext cx="5069272" cy="1028701"/>
          </a:xfrm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Subject Materials</a:t>
            </a:r>
            <a:endParaRPr dirty="0"/>
          </a:p>
        </p:txBody>
      </p:sp>
      <p:sp>
        <p:nvSpPr>
          <p:cNvPr id="15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pic>
        <p:nvPicPr>
          <p:cNvPr id="158" name="Picture Placeholder 4" descr="Picture Placeholder 4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/>
          <p:cNvSpPr txBox="1"/>
          <p:nvPr/>
        </p:nvSpPr>
        <p:spPr>
          <a:xfrm>
            <a:off x="1472890" y="1869617"/>
            <a:ext cx="5117307" cy="4562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2000" b="1" dirty="0"/>
              <a:t>Subject Outline: 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Provides week by week summary of topics to be covered &amp; due dates 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20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2000" b="1" dirty="0"/>
              <a:t>Assessments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Two assessment pieces and will each cover the three topic areas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20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2000" b="1" dirty="0"/>
              <a:t>Course Resources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Weekly content taught and discussed in class.  Will contain summarise and useful learning links for further inquiry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2000" dirty="0"/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i="1" dirty="0">
                <a:solidFill>
                  <a:srgbClr val="00B0F0">
                    <a:alpha val="70000"/>
                  </a:srgbClr>
                </a:solidFill>
              </a:rPr>
              <a:t>Check </a:t>
            </a:r>
            <a:r>
              <a:rPr lang="en-AU" sz="1600" i="1" dirty="0" err="1">
                <a:solidFill>
                  <a:srgbClr val="00B0F0">
                    <a:alpha val="70000"/>
                  </a:srgbClr>
                </a:solidFill>
              </a:rPr>
              <a:t>Brightspace</a:t>
            </a:r>
            <a:r>
              <a:rPr lang="en-AU" sz="1600" i="1" dirty="0">
                <a:solidFill>
                  <a:srgbClr val="00B0F0">
                    <a:alpha val="70000"/>
                  </a:srgbClr>
                </a:solidFill>
              </a:rPr>
              <a:t> for all details</a:t>
            </a: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9C0268D7-7AA1-6443-A2C4-CDA277721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66846610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/>
          <p:cNvSpPr txBox="1">
            <a:spLocks noGrp="1"/>
          </p:cNvSpPr>
          <p:nvPr>
            <p:ph type="title"/>
          </p:nvPr>
        </p:nvSpPr>
        <p:spPr>
          <a:xfrm>
            <a:off x="1496908" y="1154243"/>
            <a:ext cx="5069272" cy="1028701"/>
          </a:xfrm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Subject Schedule</a:t>
            </a:r>
            <a:endParaRPr dirty="0"/>
          </a:p>
        </p:txBody>
      </p:sp>
      <p:sp>
        <p:nvSpPr>
          <p:cNvPr id="15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158" name="Picture Placeholder 4" descr="Picture Placeholder 4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/>
          <p:cNvSpPr txBox="1"/>
          <p:nvPr/>
        </p:nvSpPr>
        <p:spPr>
          <a:xfrm>
            <a:off x="1496908" y="1951260"/>
            <a:ext cx="5117307" cy="335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2000" dirty="0"/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9C0268D7-7AA1-6443-A2C4-CDA277721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1478842" y="2307634"/>
            <a:ext cx="5453585" cy="3604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i="1" dirty="0"/>
              <a:t>See Subject Outline in Brightspace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4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Theory Plan for “FEDD”: 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400" dirty="0"/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Session 1: </a:t>
            </a:r>
            <a:r>
              <a:rPr lang="en-AU" sz="1400" dirty="0"/>
              <a:t>Modern Web Trends, Planning &amp; Responsive CSS 1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Session 2: </a:t>
            </a:r>
            <a:r>
              <a:rPr lang="en-AU" sz="1400" dirty="0"/>
              <a:t>Responsive CSS 2 &amp; 3 + Bootstrap Introduction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Session 3: </a:t>
            </a:r>
            <a:r>
              <a:rPr lang="en-AU" sz="1400" dirty="0"/>
              <a:t>Bootstrap Components &amp; Integration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Session 4: </a:t>
            </a:r>
            <a:r>
              <a:rPr lang="en-AU" sz="1400" dirty="0"/>
              <a:t>Hosting Static Websites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Session 5: </a:t>
            </a:r>
            <a:r>
              <a:rPr lang="en-AU" sz="1400" dirty="0"/>
              <a:t>Search Engine Optimisation &amp; Performance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i="1" dirty="0"/>
              <a:t>Session 6: </a:t>
            </a:r>
            <a:r>
              <a:rPr lang="en-AU" sz="1400" dirty="0"/>
              <a:t>Post-Build – Testing &amp; Quality Assurance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Session 7 to 9: </a:t>
            </a:r>
            <a:r>
              <a:rPr lang="en-AU" sz="1400" dirty="0"/>
              <a:t>In-Class Portfolio Time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400" dirty="0"/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>
                <a:solidFill>
                  <a:srgbClr val="FF0000">
                    <a:alpha val="70000"/>
                  </a:srgbClr>
                </a:solidFill>
              </a:rPr>
              <a:t>Assessment 1 Due: </a:t>
            </a:r>
            <a:r>
              <a:rPr lang="en-AU" sz="1400" dirty="0"/>
              <a:t>Week 5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>
                <a:solidFill>
                  <a:srgbClr val="FF0000">
                    <a:alpha val="70000"/>
                  </a:srgbClr>
                </a:solidFill>
              </a:rPr>
              <a:t>Assessment 2 Due: </a:t>
            </a:r>
            <a:r>
              <a:rPr lang="en-AU" sz="1400" dirty="0"/>
              <a:t>Week 8 (</a:t>
            </a:r>
            <a:r>
              <a:rPr lang="en-AU" sz="1400" i="1" dirty="0"/>
              <a:t>second-last week of term!</a:t>
            </a:r>
            <a:r>
              <a:rPr lang="en-AU" sz="14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9F814-8BD7-7B4B-8568-EC5922E39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276" y="2307634"/>
            <a:ext cx="2361683" cy="2361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F21C20-9346-8B40-8BD0-A52E920C66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02" y="2287186"/>
            <a:ext cx="2402580" cy="240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8558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/>
          <p:cNvSpPr txBox="1">
            <a:spLocks noGrp="1"/>
          </p:cNvSpPr>
          <p:nvPr>
            <p:ph type="title"/>
          </p:nvPr>
        </p:nvSpPr>
        <p:spPr>
          <a:xfrm>
            <a:off x="1496908" y="1154243"/>
            <a:ext cx="5069272" cy="1028701"/>
          </a:xfrm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Assessment 1</a:t>
            </a:r>
            <a:endParaRPr dirty="0"/>
          </a:p>
        </p:txBody>
      </p:sp>
      <p:sp>
        <p:nvSpPr>
          <p:cNvPr id="15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158" name="Picture Placeholder 4" descr="Picture Placeholder 4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/>
          <p:cNvSpPr txBox="1"/>
          <p:nvPr/>
        </p:nvSpPr>
        <p:spPr>
          <a:xfrm>
            <a:off x="1496908" y="1951260"/>
            <a:ext cx="5117307" cy="335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2000" dirty="0"/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9C0268D7-7AA1-6443-A2C4-CDA277721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1472890" y="1869617"/>
            <a:ext cx="5117307" cy="3823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b="1" dirty="0"/>
              <a:t>Knowledge Section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Covers design theory, CSS theory, SEO topics &amp; hosting concepts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b="1" dirty="0"/>
              <a:t>Observation Section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i="1" dirty="0">
                <a:highlight>
                  <a:srgbClr val="FFFF00"/>
                </a:highlight>
              </a:rPr>
              <a:t>To be discussed once we have cover SEO &amp; Hosting topics!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u="sng" dirty="0"/>
              <a:t>Will set aside parts of Weeks 4 &amp; 5 to assist with completion.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b="1" dirty="0">
              <a:solidFill>
                <a:srgbClr val="FF0000">
                  <a:alpha val="70000"/>
                </a:srgbClr>
              </a:solidFill>
            </a:endParaRP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b="1" dirty="0">
                <a:solidFill>
                  <a:srgbClr val="FF0000">
                    <a:alpha val="70000"/>
                  </a:srgbClr>
                </a:solidFill>
              </a:rPr>
              <a:t>Due on Week 5 (see Assessment tab)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AA84B3-DF96-A149-9B4D-545EB8C84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276" y="2307634"/>
            <a:ext cx="2361683" cy="2361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A496FD-BF5F-A243-BB5C-04FADB4B58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02" y="2287186"/>
            <a:ext cx="2402580" cy="240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898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/>
          <p:cNvSpPr txBox="1">
            <a:spLocks noGrp="1"/>
          </p:cNvSpPr>
          <p:nvPr>
            <p:ph type="title"/>
          </p:nvPr>
        </p:nvSpPr>
        <p:spPr>
          <a:xfrm>
            <a:off x="1496908" y="1154243"/>
            <a:ext cx="5069272" cy="1028701"/>
          </a:xfrm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Assessment 2</a:t>
            </a:r>
            <a:endParaRPr dirty="0"/>
          </a:p>
        </p:txBody>
      </p:sp>
      <p:sp>
        <p:nvSpPr>
          <p:cNvPr id="15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pic>
        <p:nvPicPr>
          <p:cNvPr id="158" name="Picture Placeholder 4" descr="Picture Placeholder 4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/>
          <p:cNvSpPr txBox="1"/>
          <p:nvPr/>
        </p:nvSpPr>
        <p:spPr>
          <a:xfrm>
            <a:off x="1496908" y="1951260"/>
            <a:ext cx="5117307" cy="335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2000" dirty="0"/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9C0268D7-7AA1-6443-A2C4-CDA277721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1470387" y="2020641"/>
            <a:ext cx="5117307" cy="3862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Portfolio Task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dirty="0"/>
              <a:t>Hypothetical client: </a:t>
            </a:r>
            <a:r>
              <a:rPr lang="en-AU" sz="1400" i="1" dirty="0"/>
              <a:t>“The Local Café”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4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Broken into Sections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dirty="0"/>
              <a:t>Part 1: Determine Scope &amp; Content Strategy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>
                <a:solidFill>
                  <a:srgbClr val="C00000">
                    <a:alpha val="70000"/>
                  </a:srgbClr>
                </a:solidFill>
              </a:rPr>
              <a:t>Part 2: Website Layout Planning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dirty="0"/>
              <a:t>Part 3: Development of the Website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>
                <a:solidFill>
                  <a:srgbClr val="C00000">
                    <a:alpha val="70000"/>
                  </a:srgbClr>
                </a:solidFill>
              </a:rPr>
              <a:t>Part 4: Development Environment &amp; Testing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>
                <a:solidFill>
                  <a:srgbClr val="C00000">
                    <a:alpha val="70000"/>
                  </a:srgbClr>
                </a:solidFill>
              </a:rPr>
              <a:t>Part 5: Production Environment &amp; Deployment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dirty="0"/>
              <a:t>Part 6: Optimising the Live Website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dirty="0"/>
              <a:t>Part 7: Client Sign Off</a:t>
            </a:r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400" i="1" dirty="0"/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dirty="0"/>
              <a:t>Aim to allow for Weeks 6 to 8 to finalise this Assessment 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400" dirty="0"/>
          </a:p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>
                <a:solidFill>
                  <a:srgbClr val="FF0000">
                    <a:alpha val="70000"/>
                  </a:srgbClr>
                </a:solidFill>
              </a:rPr>
              <a:t>Due on Week 8 (see Assessment tab)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949ACE-588E-8242-9969-410FE74926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276" y="2307634"/>
            <a:ext cx="2361683" cy="2361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313777-0A71-4A43-B72A-38DC29F74B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802" y="2287186"/>
            <a:ext cx="2402580" cy="240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404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/>
          <p:cNvSpPr txBox="1">
            <a:spLocks noGrp="1"/>
          </p:cNvSpPr>
          <p:nvPr>
            <p:ph type="title"/>
          </p:nvPr>
        </p:nvSpPr>
        <p:spPr>
          <a:xfrm>
            <a:off x="1496908" y="1154243"/>
            <a:ext cx="5069272" cy="1028701"/>
          </a:xfrm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Topics for Today</a:t>
            </a:r>
            <a:endParaRPr dirty="0"/>
          </a:p>
        </p:txBody>
      </p:sp>
      <p:sp>
        <p:nvSpPr>
          <p:cNvPr id="15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pic>
        <p:nvPicPr>
          <p:cNvPr id="158" name="Picture Placeholder 4" descr="Picture Placeholder 4"/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/>
          <p:cNvSpPr txBox="1"/>
          <p:nvPr/>
        </p:nvSpPr>
        <p:spPr>
          <a:xfrm>
            <a:off x="1496908" y="1951260"/>
            <a:ext cx="5117307" cy="335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2000" dirty="0"/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9C0268D7-7AA1-6443-A2C4-CDA277721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Front End Design &amp; Development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1448873" y="2119223"/>
            <a:ext cx="5117307" cy="382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solidFill>
                  <a:srgbClr val="000000">
                    <a:alpha val="70000"/>
                  </a:srgbClr>
                </a:solidFill>
              </a:rPr>
              <a:t>Review of core technologies to be learned across semester &amp; how the web works (</a:t>
            </a:r>
            <a:r>
              <a:rPr lang="en-AU" sz="1600" i="1" dirty="0">
                <a:solidFill>
                  <a:srgbClr val="000000">
                    <a:alpha val="70000"/>
                  </a:srgbClr>
                </a:solidFill>
              </a:rPr>
              <a:t>recap</a:t>
            </a:r>
            <a:r>
              <a:rPr lang="en-AU" sz="1600" dirty="0">
                <a:solidFill>
                  <a:srgbClr val="000000">
                    <a:alpha val="70000"/>
                  </a:srgbClr>
                </a:solidFill>
              </a:rPr>
              <a:t>) </a:t>
            </a:r>
          </a:p>
          <a:p>
            <a:pPr marL="342900" indent="-34290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>
              <a:solidFill>
                <a:srgbClr val="000000">
                  <a:alpha val="70000"/>
                </a:srgbClr>
              </a:solidFill>
            </a:endParaRPr>
          </a:p>
          <a:p>
            <a:pPr marL="342900" indent="-34290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solidFill>
                  <a:srgbClr val="000000">
                    <a:alpha val="70000"/>
                  </a:srgbClr>
                </a:solidFill>
              </a:rPr>
              <a:t>Review of our development environment &amp; checking for any issues / updates needed</a:t>
            </a:r>
          </a:p>
          <a:p>
            <a:pPr marL="342900" indent="-34290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>
              <a:solidFill>
                <a:srgbClr val="000000">
                  <a:alpha val="70000"/>
                </a:srgbClr>
              </a:solidFill>
            </a:endParaRPr>
          </a:p>
          <a:p>
            <a:pPr marL="342900" indent="-34290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solidFill>
                  <a:srgbClr val="000000">
                    <a:alpha val="70000"/>
                  </a:srgbClr>
                </a:solidFill>
              </a:rPr>
              <a:t>Modern Web Trends</a:t>
            </a:r>
          </a:p>
          <a:p>
            <a:pPr marL="342900" indent="-34290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>
              <a:solidFill>
                <a:srgbClr val="000000">
                  <a:alpha val="70000"/>
                </a:srgbClr>
              </a:solidFill>
            </a:endParaRPr>
          </a:p>
          <a:p>
            <a:pPr marL="342900" indent="-34290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solidFill>
                  <a:srgbClr val="000000">
                    <a:alpha val="70000"/>
                  </a:srgbClr>
                </a:solidFill>
              </a:rPr>
              <a:t>Developing Web Content &amp; Design Plans</a:t>
            </a:r>
          </a:p>
          <a:p>
            <a:pPr marL="342900" indent="-34290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>
              <a:solidFill>
                <a:srgbClr val="000000">
                  <a:alpha val="70000"/>
                </a:srgbClr>
              </a:solidFill>
            </a:endParaRPr>
          </a:p>
          <a:p>
            <a:pPr marL="342900" indent="-34290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solidFill>
                  <a:srgbClr val="000000">
                    <a:alpha val="70000"/>
                  </a:srgbClr>
                </a:solidFill>
              </a:rPr>
              <a:t>Advanced CSS Properties 1 – “Variables &amp; Units”</a:t>
            </a:r>
          </a:p>
          <a:p>
            <a:pPr marL="342900" indent="-34290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>
              <a:solidFill>
                <a:srgbClr val="000000">
                  <a:alpha val="70000"/>
                </a:srgbClr>
              </a:solidFill>
            </a:endParaRPr>
          </a:p>
          <a:p>
            <a:pPr marL="342900" indent="-342900">
              <a:lnSpc>
                <a:spcPct val="12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solidFill>
                  <a:srgbClr val="000000">
                    <a:alpha val="70000"/>
                  </a:srgbClr>
                </a:solidFill>
              </a:rPr>
              <a:t>Challenges + </a:t>
            </a:r>
            <a:r>
              <a:rPr lang="en-AU" sz="1600" b="1" i="1" dirty="0">
                <a:solidFill>
                  <a:srgbClr val="0070C0">
                    <a:alpha val="70000"/>
                  </a:srgbClr>
                </a:solidFill>
              </a:rPr>
              <a:t>Begin Work on </a:t>
            </a:r>
            <a:r>
              <a:rPr lang="en-AU" sz="1600" b="1" i="1" u="sng" dirty="0">
                <a:solidFill>
                  <a:srgbClr val="0070C0">
                    <a:alpha val="70000"/>
                  </a:srgbClr>
                </a:solidFill>
              </a:rPr>
              <a:t>Milestone 1</a:t>
            </a:r>
            <a:r>
              <a:rPr lang="en-AU" sz="1600" b="1" i="1" dirty="0">
                <a:solidFill>
                  <a:srgbClr val="0070C0">
                    <a:alpha val="70000"/>
                  </a:srgbClr>
                </a:solidFill>
              </a:rPr>
              <a:t> for A2!</a:t>
            </a:r>
          </a:p>
        </p:txBody>
      </p:sp>
    </p:spTree>
    <p:extLst>
      <p:ext uri="{BB962C8B-B14F-4D97-AF65-F5344CB8AC3E}">
        <p14:creationId xmlns:p14="http://schemas.microsoft.com/office/powerpoint/2010/main" val="62638927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Ravi Powerpoint Template">
  <a:themeElements>
    <a:clrScheme name="Ravi Powerpoint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DF62"/>
      </a:accent1>
      <a:accent2>
        <a:srgbClr val="FFC900"/>
      </a:accent2>
      <a:accent3>
        <a:srgbClr val="F77803"/>
      </a:accent3>
      <a:accent4>
        <a:srgbClr val="CE004E"/>
      </a:accent4>
      <a:accent5>
        <a:srgbClr val="4F003F"/>
      </a:accent5>
      <a:accent6>
        <a:srgbClr val="809600"/>
      </a:accent6>
      <a:hlink>
        <a:srgbClr val="0000FF"/>
      </a:hlink>
      <a:folHlink>
        <a:srgbClr val="FF00FF"/>
      </a:folHlink>
    </a:clrScheme>
    <a:fontScheme name="Ravi Powerpoint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avi Powerpoint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Ravi Powerpoint Template">
  <a:themeElements>
    <a:clrScheme name="Ravi Powerpoint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DF62"/>
      </a:accent1>
      <a:accent2>
        <a:srgbClr val="FFC900"/>
      </a:accent2>
      <a:accent3>
        <a:srgbClr val="F77803"/>
      </a:accent3>
      <a:accent4>
        <a:srgbClr val="CE004E"/>
      </a:accent4>
      <a:accent5>
        <a:srgbClr val="4F003F"/>
      </a:accent5>
      <a:accent6>
        <a:srgbClr val="809600"/>
      </a:accent6>
      <a:hlink>
        <a:srgbClr val="0000FF"/>
      </a:hlink>
      <a:folHlink>
        <a:srgbClr val="FF00FF"/>
      </a:folHlink>
    </a:clrScheme>
    <a:fontScheme name="Ravi Powerpoint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avi Powerpoint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483</Words>
  <Application>Microsoft Macintosh PowerPoint</Application>
  <PresentationFormat>Widescreen</PresentationFormat>
  <Paragraphs>104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Helvetica</vt:lpstr>
      <vt:lpstr>Open Sans Regular</vt:lpstr>
      <vt:lpstr>Ravi Powerpoint Template</vt:lpstr>
      <vt:lpstr>ICT40120 –  Front End Design &amp; Development</vt:lpstr>
      <vt:lpstr>Alex Bicknell</vt:lpstr>
      <vt:lpstr>Subject Summary</vt:lpstr>
      <vt:lpstr>Subject Materials</vt:lpstr>
      <vt:lpstr>Subject Schedule</vt:lpstr>
      <vt:lpstr>Assessment 1</vt:lpstr>
      <vt:lpstr>Assessment 2</vt:lpstr>
      <vt:lpstr>Topics for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Side Development </dc:title>
  <cp:lastModifiedBy>Alex Bicknell</cp:lastModifiedBy>
  <cp:revision>158</cp:revision>
  <dcterms:modified xsi:type="dcterms:W3CDTF">2024-09-29T14:39:55Z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a614bb-7b8e-4b4e-afa5-3fac8d0b6cac_Enabled">
    <vt:lpwstr>true</vt:lpwstr>
  </property>
  <property fmtid="{D5CDD505-2E9C-101B-9397-08002B2CF9AE}" pid="3" name="MSIP_Label_41a614bb-7b8e-4b4e-afa5-3fac8d0b6cac_SetDate">
    <vt:lpwstr>2023-02-01T22:28:04Z</vt:lpwstr>
  </property>
  <property fmtid="{D5CDD505-2E9C-101B-9397-08002B2CF9AE}" pid="4" name="MSIP_Label_41a614bb-7b8e-4b4e-afa5-3fac8d0b6cac_Method">
    <vt:lpwstr>Standard</vt:lpwstr>
  </property>
  <property fmtid="{D5CDD505-2E9C-101B-9397-08002B2CF9AE}" pid="5" name="MSIP_Label_41a614bb-7b8e-4b4e-afa5-3fac8d0b6cac_Name">
    <vt:lpwstr>OFFICIAL</vt:lpwstr>
  </property>
  <property fmtid="{D5CDD505-2E9C-101B-9397-08002B2CF9AE}" pid="6" name="MSIP_Label_41a614bb-7b8e-4b4e-afa5-3fac8d0b6cac_SiteId">
    <vt:lpwstr>435f6007-b395-4841-9bdb-dcba52302216</vt:lpwstr>
  </property>
  <property fmtid="{D5CDD505-2E9C-101B-9397-08002B2CF9AE}" pid="7" name="MSIP_Label_41a614bb-7b8e-4b4e-afa5-3fac8d0b6cac_ActionId">
    <vt:lpwstr>77af782c-1b32-4d5a-82ac-a539cd8128ba</vt:lpwstr>
  </property>
  <property fmtid="{D5CDD505-2E9C-101B-9397-08002B2CF9AE}" pid="8" name="MSIP_Label_41a614bb-7b8e-4b4e-afa5-3fac8d0b6cac_ContentBits">
    <vt:lpwstr>2</vt:lpwstr>
  </property>
  <property fmtid="{D5CDD505-2E9C-101B-9397-08002B2CF9AE}" pid="9" name="ClassificationContentMarkingFooterLocations">
    <vt:lpwstr>Ravi Powerpoint Template:6</vt:lpwstr>
  </property>
  <property fmtid="{D5CDD505-2E9C-101B-9397-08002B2CF9AE}" pid="10" name="ClassificationContentMarkingFooterText">
    <vt:lpwstr>OFFICIAL</vt:lpwstr>
  </property>
</Properties>
</file>