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291"/>
  </p:normalViewPr>
  <p:slideViewPr>
    <p:cSldViewPr snapToGrid="0">
      <p:cViewPr varScale="1">
        <p:scale>
          <a:sx n="127" d="100"/>
          <a:sy n="12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10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9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4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6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8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7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6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8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7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6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C36AE-2E62-DD63-172A-48EA13DB3C5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4350" y="6626860"/>
            <a:ext cx="53498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5288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p!!Rectangle">
            <a:extLst>
              <a:ext uri="{FF2B5EF4-FFF2-40B4-BE49-F238E27FC236}">
                <a16:creationId xmlns:a16="http://schemas.microsoft.com/office/drawing/2014/main" id="{155D7866-985D-4D23-BF0E-72CA30F5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A digital globe">
            <a:extLst>
              <a:ext uri="{FF2B5EF4-FFF2-40B4-BE49-F238E27FC236}">
                <a16:creationId xmlns:a16="http://schemas.microsoft.com/office/drawing/2014/main" id="{AB251394-6642-C754-A735-8CFF64EF76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m!!text rectangle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731" y="4716089"/>
            <a:ext cx="6288261" cy="1573149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B22CD-E2AC-49C4-6AF2-E7D9E541C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9388" y="4907629"/>
            <a:ext cx="3212386" cy="1185353"/>
          </a:xfrm>
        </p:spPr>
        <p:txBody>
          <a:bodyPr anchor="ctr">
            <a:normAutofit/>
          </a:bodyPr>
          <a:lstStyle/>
          <a:p>
            <a:r>
              <a:rPr lang="en-AU" sz="2600" dirty="0"/>
              <a:t>How the Web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E4C7D-0621-CDF9-18B7-F8B83A8F3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3912" y="4907629"/>
            <a:ext cx="2228641" cy="1185353"/>
          </a:xfrm>
        </p:spPr>
        <p:txBody>
          <a:bodyPr anchor="ctr">
            <a:normAutofit/>
          </a:bodyPr>
          <a:lstStyle/>
          <a:p>
            <a:r>
              <a:rPr lang="en-AU" sz="1700" dirty="0"/>
              <a:t>HTML &amp; CSS</a:t>
            </a:r>
          </a:p>
        </p:txBody>
      </p:sp>
      <p:sp>
        <p:nvSpPr>
          <p:cNvPr id="13" name="m!!accent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7962" y="5175711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22114" y="5495733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6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C1646-21E8-B134-8BF0-D4ACF8FC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AU" sz="5200" dirty="0"/>
              <a:t>The Internet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9DC7F-DDFC-4CC9-F4E7-729A29781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3355848"/>
            <a:ext cx="6268770" cy="28254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At its most basic, the internet is just a global </a:t>
            </a:r>
            <a:r>
              <a:rPr lang="en-AU" sz="1400" b="1" u="sng" dirty="0"/>
              <a:t>network</a:t>
            </a:r>
            <a:r>
              <a:rPr lang="en-AU" sz="1400" b="1" dirty="0"/>
              <a:t> of computers designed to allow easy sharing of files and data</a:t>
            </a:r>
            <a:endParaRPr lang="en-AU" sz="14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Originally designed as an “in-house” file sharing system, as part of the US Department of Defence, known as “ARPANET” in the 1960s and early 1970s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It gradually expanded to its eventual use by ISPs in the late 1980s and began to have wide scale use by the public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With the help of Tim Berners Lee making the net “flatter”, it grew into the modern conception of the World Wide Web we know today</a:t>
            </a:r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4C4988BD-F6CC-EAFC-70E9-D84440FB6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7" r="28186" b="-1"/>
          <a:stretch/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6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BF781-0520-929B-E165-34C8564F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AU" sz="5200"/>
              <a:t>World Wide Web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F7504-34CF-F56B-ED89-3AC14F94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3355848"/>
            <a:ext cx="6268770" cy="28254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400" b="1" dirty="0"/>
              <a:t>Since its conception, the World Wide Web has established conventions/rules (“PROTOCOLS”) to ensure consensus</a:t>
            </a:r>
            <a:endParaRPr lang="en-AU" sz="14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Each computer has an IP Address (eg. 73.158.6.61) – </a:t>
            </a:r>
            <a:r>
              <a:rPr lang="en-AU" sz="1300" i="1" dirty="0"/>
              <a:t>think of it like your house number, street &amp; suburb but in just numbers!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Computers agree to “talk” to each other using the “TCP/IP Protocol” &amp; it determines how computers transfer data to each other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HTTP handles the web traffic and how requests &amp; responses to websites are handled</a:t>
            </a:r>
          </a:p>
        </p:txBody>
      </p:sp>
      <p:pic>
        <p:nvPicPr>
          <p:cNvPr id="5" name="Picture 4" descr="Sphere of mesh and nodes">
            <a:extLst>
              <a:ext uri="{FF2B5EF4-FFF2-40B4-BE49-F238E27FC236}">
                <a16:creationId xmlns:a16="http://schemas.microsoft.com/office/drawing/2014/main" id="{0DC46F71-E2B8-3AD9-C006-A11922BBC3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44" r="9856"/>
          <a:stretch/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F6AAB-40AE-AB34-C0A0-497BA0CA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AU" sz="5000" dirty="0"/>
              <a:t>TCP &amp; HTTP Paired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7B7C8-5520-B388-98FA-A06B20907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41" r="41807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25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068A0-F103-E662-C3A2-B4AB8AF4C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500" b="1" dirty="0"/>
              <a:t>To access a webpage &amp; issue HTTP requests/responses, a TCP connection first needs to be established</a:t>
            </a:r>
            <a:endParaRPr lang="en-AU" sz="15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5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500" dirty="0"/>
              <a:t>These concepts are not easy to understand straight away, but are important to flag early, just so you are familiar with the terms!  We will revisit across the Certificate 4 (and Diploma!)</a:t>
            </a:r>
            <a:endParaRPr lang="en-AU" sz="1500" i="1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5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500" b="1" dirty="0"/>
              <a:t>A rough analogy: </a:t>
            </a:r>
            <a:r>
              <a:rPr lang="en-AU" sz="1500" dirty="0"/>
              <a:t>Think of TCP like a draw bridge, and the HTTP Requests and Responses like cars going back and forth across it!</a:t>
            </a:r>
          </a:p>
        </p:txBody>
      </p:sp>
    </p:spTree>
    <p:extLst>
      <p:ext uri="{BB962C8B-B14F-4D97-AF65-F5344CB8AC3E}">
        <p14:creationId xmlns:p14="http://schemas.microsoft.com/office/powerpoint/2010/main" val="360033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02D15-A422-D097-AE29-45CCEE40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AU" sz="5200"/>
              <a:t>Web Servers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019761C9-4C09-B7D7-3E28-702848D81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76" r="47673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25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E789-D153-13C5-8F72-97F5CD323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SzPct val="100000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b="1" dirty="0"/>
              <a:t>Transfer of data is how our websites are DELIVERED – but where are our public websites hosted from, where this data is accessed &amp; stored?</a:t>
            </a: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Websites are just folders, made up of several files/pages.  These files are stored on computers that run a piece of software called a web server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Hosting companies provide space on a server for your website</a:t>
            </a:r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endParaRPr lang="en-AU" sz="1300" dirty="0"/>
          </a:p>
          <a:p>
            <a:pPr marL="285750" indent="-285750">
              <a:lnSpc>
                <a:spcPct val="100000"/>
              </a:lnSpc>
              <a:buSzPct val="100000"/>
              <a:buFont typeface="Arial" charset="0"/>
              <a:buChar char="•"/>
              <a:defRPr sz="1200">
                <a:solidFill>
                  <a:srgbClr val="000000">
                    <a:alpha val="70000"/>
                  </a:srgbClr>
                </a:solidFill>
              </a:defRPr>
            </a:pPr>
            <a:r>
              <a:rPr lang="en-AU" sz="1300" dirty="0"/>
              <a:t>Domain names can be purchased from registrars and linked to your hosting account/web server.  DNS is used to map IP addresses to domain names </a:t>
            </a:r>
          </a:p>
        </p:txBody>
      </p:sp>
    </p:spTree>
    <p:extLst>
      <p:ext uri="{BB962C8B-B14F-4D97-AF65-F5344CB8AC3E}">
        <p14:creationId xmlns:p14="http://schemas.microsoft.com/office/powerpoint/2010/main" val="3870257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EC6E9-5A3D-CD9A-C101-9CCACC51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How the Web Works:  Loading a Webpage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Content Placeholder 56">
            <a:extLst>
              <a:ext uri="{FF2B5EF4-FFF2-40B4-BE49-F238E27FC236}">
                <a16:creationId xmlns:a16="http://schemas.microsoft.com/office/drawing/2014/main" id="{BDFD789B-8A63-6CE6-D4DE-7E7225CA4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1341" y="1464737"/>
            <a:ext cx="7209630" cy="412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2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8B9D7-4B1B-C43D-81D9-DFE949F6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How the Web Works: Domain Name System (DNS)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F367E9-32FD-69F1-2F95-50F6F2220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308020"/>
            <a:ext cx="6846363" cy="409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6494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261D35"/>
      </a:dk2>
      <a:lt2>
        <a:srgbClr val="E4E2E8"/>
      </a:lt2>
      <a:accent1>
        <a:srgbClr val="86AE44"/>
      </a:accent1>
      <a:accent2>
        <a:srgbClr val="A9A438"/>
      </a:accent2>
      <a:accent3>
        <a:srgbClr val="C38D4D"/>
      </a:accent3>
      <a:accent4>
        <a:srgbClr val="B1493B"/>
      </a:accent4>
      <a:accent5>
        <a:srgbClr val="C34D6F"/>
      </a:accent5>
      <a:accent6>
        <a:srgbClr val="B13B8F"/>
      </a:accent6>
      <a:hlink>
        <a:srgbClr val="BF3F4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405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AccentBoxVTI</vt:lpstr>
      <vt:lpstr>How the Web Works</vt:lpstr>
      <vt:lpstr>The Internet</vt:lpstr>
      <vt:lpstr>World Wide Web</vt:lpstr>
      <vt:lpstr>TCP &amp; HTTP Paired</vt:lpstr>
      <vt:lpstr>Web Servers</vt:lpstr>
      <vt:lpstr>How the Web Works:  Loading a Webpage</vt:lpstr>
      <vt:lpstr>How the Web Works: Domain Name System (DNS)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Web Works</dc:title>
  <dc:creator>Alex Bicknell</dc:creator>
  <cp:lastModifiedBy>Alex Bicknell</cp:lastModifiedBy>
  <cp:revision>10</cp:revision>
  <dcterms:created xsi:type="dcterms:W3CDTF">2023-07-16T10:08:41Z</dcterms:created>
  <dcterms:modified xsi:type="dcterms:W3CDTF">2024-02-04T10:38:39Z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a614bb-7b8e-4b4e-afa5-3fac8d0b6cac_Enabled">
    <vt:lpwstr>true</vt:lpwstr>
  </property>
  <property fmtid="{D5CDD505-2E9C-101B-9397-08002B2CF9AE}" pid="3" name="MSIP_Label_41a614bb-7b8e-4b4e-afa5-3fac8d0b6cac_SetDate">
    <vt:lpwstr>2024-02-04T10:38:32Z</vt:lpwstr>
  </property>
  <property fmtid="{D5CDD505-2E9C-101B-9397-08002B2CF9AE}" pid="4" name="MSIP_Label_41a614bb-7b8e-4b4e-afa5-3fac8d0b6cac_Method">
    <vt:lpwstr>Standard</vt:lpwstr>
  </property>
  <property fmtid="{D5CDD505-2E9C-101B-9397-08002B2CF9AE}" pid="5" name="MSIP_Label_41a614bb-7b8e-4b4e-afa5-3fac8d0b6cac_Name">
    <vt:lpwstr>OFFICIAL</vt:lpwstr>
  </property>
  <property fmtid="{D5CDD505-2E9C-101B-9397-08002B2CF9AE}" pid="6" name="MSIP_Label_41a614bb-7b8e-4b4e-afa5-3fac8d0b6cac_SiteId">
    <vt:lpwstr>435f6007-b395-4841-9bdb-dcba52302216</vt:lpwstr>
  </property>
  <property fmtid="{D5CDD505-2E9C-101B-9397-08002B2CF9AE}" pid="7" name="MSIP_Label_41a614bb-7b8e-4b4e-afa5-3fac8d0b6cac_ActionId">
    <vt:lpwstr>fb664f74-e01e-4fef-8635-bd475cd2bdea</vt:lpwstr>
  </property>
  <property fmtid="{D5CDD505-2E9C-101B-9397-08002B2CF9AE}" pid="8" name="MSIP_Label_41a614bb-7b8e-4b4e-afa5-3fac8d0b6cac_ContentBits">
    <vt:lpwstr>2</vt:lpwstr>
  </property>
  <property fmtid="{D5CDD505-2E9C-101B-9397-08002B2CF9AE}" pid="9" name="ClassificationContentMarkingFooterLocations">
    <vt:lpwstr>AccentBoxVTI:8</vt:lpwstr>
  </property>
  <property fmtid="{D5CDD505-2E9C-101B-9397-08002B2CF9AE}" pid="10" name="ClassificationContentMarkingFooterText">
    <vt:lpwstr>OFFICIAL</vt:lpwstr>
  </property>
</Properties>
</file>