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6" r:id="rId1"/>
  </p:sldMasterIdLst>
  <p:notesMasterIdLst>
    <p:notesMasterId r:id="rId18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7" r:id="rId9"/>
    <p:sldId id="268" r:id="rId10"/>
    <p:sldId id="263" r:id="rId11"/>
    <p:sldId id="264" r:id="rId12"/>
    <p:sldId id="265" r:id="rId13"/>
    <p:sldId id="273" r:id="rId14"/>
    <p:sldId id="266" r:id="rId15"/>
    <p:sldId id="274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4FF6"/>
    <a:srgbClr val="CA9811"/>
    <a:srgbClr val="684F45"/>
    <a:srgbClr val="684D52"/>
    <a:srgbClr val="78585C"/>
    <a:srgbClr val="955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28"/>
  </p:normalViewPr>
  <p:slideViewPr>
    <p:cSldViewPr snapToGrid="0">
      <p:cViewPr varScale="1">
        <p:scale>
          <a:sx n="119" d="100"/>
          <a:sy n="119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71B0E-5DC1-484F-BB2B-C49F5FF9F977}" type="datetimeFigureOut">
              <a:rPr lang="en-AU" smtClean="0"/>
              <a:t>21/3/2024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5916AD-E369-FC48-ACB3-881F769662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5619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5916AD-E369-FC48-ACB3-881F76966248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379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5916AD-E369-FC48-ACB3-881F76966248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4697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5916AD-E369-FC48-ACB3-881F76966248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2455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3/20/24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29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44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8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58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1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14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37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53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72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18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3/20/24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17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5" r:id="rId6"/>
    <p:sldLayoutId id="2147483730" r:id="rId7"/>
    <p:sldLayoutId id="2147483731" r:id="rId8"/>
    <p:sldLayoutId id="2147483732" r:id="rId9"/>
    <p:sldLayoutId id="2147483734" r:id="rId10"/>
    <p:sldLayoutId id="214748373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t.yale.edu/" TargetMode="External"/><Relationship Id="rId2" Type="http://schemas.openxmlformats.org/officeDocument/2006/relationships/hyperlink" Target="https://www.domperignon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etflix.com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yu.edu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liexpress.com/" TargetMode="External"/><Relationship Id="rId4" Type="http://schemas.openxmlformats.org/officeDocument/2006/relationships/hyperlink" Target="https://www.wayfair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dreads.com/" TargetMode="External"/><Relationship Id="rId2" Type="http://schemas.openxmlformats.org/officeDocument/2006/relationships/hyperlink" Target="https://www.zara.com/au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ti.com.au/help-support" TargetMode="External"/><Relationship Id="rId2" Type="http://schemas.openxmlformats.org/officeDocument/2006/relationships/hyperlink" Target="https://www.wix.com/studio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eal.fun/password-game/" TargetMode="External"/><Relationship Id="rId4" Type="http://schemas.openxmlformats.org/officeDocument/2006/relationships/hyperlink" Target="https://userinyerface.com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hyperlink" Target="http://www.dailymail.co.uk/sport/index.html" TargetMode="External"/><Relationship Id="rId7" Type="http://schemas.openxmlformats.org/officeDocument/2006/relationships/hyperlink" Target="https://www.cameronsworld.ne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w.reddit.com/" TargetMode="External"/><Relationship Id="rId5" Type="http://schemas.openxmlformats.org/officeDocument/2006/relationships/hyperlink" Target="https://www.reddit.com/" TargetMode="External"/><Relationship Id="rId4" Type="http://schemas.openxmlformats.org/officeDocument/2006/relationships/hyperlink" Target="https://www.alibaba.com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CA2C65D-0168-1245-86C8-62A8A6F7B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55E9273-3717-C94C-9BFF-75E87E47C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A4A81-04F7-13F1-1F92-42E9D4581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5" y="1625608"/>
            <a:ext cx="3377643" cy="27221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AU" sz="3800" b="1"/>
              <a:t>Modern Web Design – </a:t>
            </a:r>
            <a:br>
              <a:rPr lang="en-AU" sz="3800"/>
            </a:br>
            <a:r>
              <a:rPr lang="en-AU" sz="3800"/>
              <a:t>Aspects, Trends &amp; </a:t>
            </a:r>
            <a:r>
              <a:rPr lang="en-AU" sz="3800" i="1"/>
              <a:t>The Golden Rule</a:t>
            </a:r>
            <a:endParaRPr lang="en-AU" sz="38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726AC-1375-0360-B570-357AEECF2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5" y="4466845"/>
            <a:ext cx="3377643" cy="882904"/>
          </a:xfrm>
        </p:spPr>
        <p:txBody>
          <a:bodyPr>
            <a:normAutofit/>
          </a:bodyPr>
          <a:lstStyle/>
          <a:p>
            <a:r>
              <a:rPr lang="en-AU" dirty="0"/>
              <a:t>Front-End Design &amp; Development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F0BD8864-5324-9FDA-788C-9F04476BE1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99682" y="1638005"/>
            <a:ext cx="6518652" cy="3845659"/>
          </a:xfrm>
          <a:prstGeom prst="rect">
            <a:avLst/>
          </a:prstGeom>
        </p:spPr>
      </p:pic>
      <p:sp>
        <p:nvSpPr>
          <p:cNvPr id="70" name="Cross 69">
            <a:extLst>
              <a:ext uri="{FF2B5EF4-FFF2-40B4-BE49-F238E27FC236}">
                <a16:creationId xmlns:a16="http://schemas.microsoft.com/office/drawing/2014/main" id="{9BA6F386-E5BF-4C49-AC0B-6772CD313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74749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57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EDA46-C542-D747-E477-40A1D3AB9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Web Observed in </a:t>
            </a:r>
            <a:r>
              <a:rPr lang="en-AU" b="1" dirty="0">
                <a:solidFill>
                  <a:srgbClr val="C00000"/>
                </a:solidFill>
              </a:rPr>
              <a:t>Seconds</a:t>
            </a:r>
            <a:r>
              <a:rPr lang="en-AU" dirty="0"/>
              <a:t>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697BD-2B5F-26B5-D2D8-F8B7E7134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7"/>
            <a:ext cx="8267296" cy="38490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b="1" dirty="0"/>
              <a:t>As of 2024 – the landscape for website engagement is more demanding than ever, for example according to Forbes:</a:t>
            </a:r>
          </a:p>
          <a:p>
            <a:r>
              <a:rPr lang="en-AU" dirty="0"/>
              <a:t>47% of users will NOT wait longer than</a:t>
            </a:r>
            <a:r>
              <a:rPr lang="en-AU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AU" b="1" dirty="0">
                <a:solidFill>
                  <a:srgbClr val="C00000"/>
                </a:solidFill>
              </a:rPr>
              <a:t>2 seconds </a:t>
            </a:r>
            <a:r>
              <a:rPr lang="en-AU" dirty="0"/>
              <a:t>for a website to load</a:t>
            </a:r>
          </a:p>
          <a:p>
            <a:r>
              <a:rPr lang="en-AU" dirty="0"/>
              <a:t>Users spend an average of </a:t>
            </a:r>
            <a:r>
              <a:rPr lang="en-AU" b="1" dirty="0">
                <a:solidFill>
                  <a:srgbClr val="C00000"/>
                </a:solidFill>
              </a:rPr>
              <a:t>5.59 seconds </a:t>
            </a:r>
            <a:r>
              <a:rPr lang="en-AU" dirty="0"/>
              <a:t>looking at written content on a site</a:t>
            </a:r>
          </a:p>
          <a:p>
            <a:r>
              <a:rPr lang="en-AU" dirty="0"/>
              <a:t>Navigation menus are observed on average for </a:t>
            </a:r>
            <a:r>
              <a:rPr lang="en-AU" b="1" dirty="0">
                <a:solidFill>
                  <a:srgbClr val="C00000"/>
                </a:solidFill>
              </a:rPr>
              <a:t>6.44 seconds </a:t>
            </a:r>
            <a:r>
              <a:rPr lang="en-AU" dirty="0"/>
              <a:t>by users</a:t>
            </a:r>
          </a:p>
          <a:p>
            <a:r>
              <a:rPr lang="en-AU" dirty="0"/>
              <a:t>Average time spent on a single page is </a:t>
            </a:r>
            <a:r>
              <a:rPr lang="en-AU" b="1" dirty="0">
                <a:solidFill>
                  <a:srgbClr val="C00000"/>
                </a:solidFill>
              </a:rPr>
              <a:t>54 seconds </a:t>
            </a:r>
          </a:p>
          <a:p>
            <a:r>
              <a:rPr lang="en-AU" dirty="0"/>
              <a:t>61% of users state that if they cannot find what they are looking for after </a:t>
            </a:r>
            <a:r>
              <a:rPr lang="en-AU" b="1" dirty="0">
                <a:solidFill>
                  <a:srgbClr val="C00000"/>
                </a:solidFill>
              </a:rPr>
              <a:t>5 seconds</a:t>
            </a:r>
            <a:r>
              <a:rPr lang="en-AU" dirty="0"/>
              <a:t>, they will leave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sz="1700" b="1" i="1" dirty="0"/>
              <a:t>#</a:t>
            </a:r>
            <a:r>
              <a:rPr lang="en-AU" sz="1700" b="1" i="1" dirty="0" err="1"/>
              <a:t>funfact</a:t>
            </a:r>
            <a:r>
              <a:rPr lang="en-AU" sz="1700" i="1" dirty="0"/>
              <a:t> – for every second that passes – </a:t>
            </a:r>
            <a:r>
              <a:rPr lang="en-AU" sz="1700" b="1" i="1" dirty="0"/>
              <a:t>3</a:t>
            </a:r>
            <a:r>
              <a:rPr lang="en-AU" sz="1700" i="1" dirty="0"/>
              <a:t> </a:t>
            </a:r>
            <a:r>
              <a:rPr lang="en-AU" sz="1700" b="1" i="1" dirty="0"/>
              <a:t>new websites </a:t>
            </a:r>
            <a:r>
              <a:rPr lang="en-AU" sz="1700" i="1" dirty="0"/>
              <a:t>are created &amp; added into the existing pool of over 1 billion existing sites!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5359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B4C6D-939E-4E19-9539-11C66DDC4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193" y="2691638"/>
            <a:ext cx="4133647" cy="3188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3000" b="1" dirty="0">
                <a:solidFill>
                  <a:srgbClr val="C00000"/>
                </a:solidFill>
              </a:rPr>
              <a:t>The Killer </a:t>
            </a:r>
          </a:p>
          <a:p>
            <a:pPr marL="0" indent="0">
              <a:buNone/>
            </a:pPr>
            <a:r>
              <a:rPr lang="en-AU" sz="2800" dirty="0"/>
              <a:t>88% of online users will </a:t>
            </a:r>
            <a:r>
              <a:rPr lang="en-AU" sz="2800" b="1" dirty="0"/>
              <a:t>NOT</a:t>
            </a:r>
            <a:r>
              <a:rPr lang="en-AU" sz="2800" dirty="0"/>
              <a:t> return to a website after </a:t>
            </a:r>
            <a:r>
              <a:rPr lang="en-AU" b="1" dirty="0">
                <a:solidFill>
                  <a:srgbClr val="C00000"/>
                </a:solidFill>
                <a:latin typeface="Fira Code" pitchFamily="49" charset="0"/>
                <a:ea typeface="Fira Code" pitchFamily="49" charset="0"/>
                <a:cs typeface="Fira Code" pitchFamily="49" charset="0"/>
              </a:rPr>
              <a:t>a bad experience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70F0D-6A0C-38AE-50D2-4ABEA2C06D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475" r="-1" b="12784"/>
          <a:stretch/>
        </p:blipFill>
        <p:spPr>
          <a:xfrm>
            <a:off x="20" y="10"/>
            <a:ext cx="6967738" cy="6857990"/>
          </a:xfrm>
          <a:prstGeom prst="rect">
            <a:avLst/>
          </a:prstGeom>
        </p:spPr>
      </p:pic>
      <p:sp>
        <p:nvSpPr>
          <p:cNvPr id="12" name="Cross 11">
            <a:extLst>
              <a:ext uri="{FF2B5EF4-FFF2-40B4-BE49-F238E27FC236}">
                <a16:creationId xmlns:a16="http://schemas.microsoft.com/office/drawing/2014/main" id="{A12C7CBA-A034-9548-BC45-D37C25C00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032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49ED22-D9F5-F848-A98A-7181D4EE7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3666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29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D4C32D-1A41-FD06-52C1-54CCDAD9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5066001" cy="1446550"/>
          </a:xfrm>
        </p:spPr>
        <p:txBody>
          <a:bodyPr>
            <a:normAutofit/>
          </a:bodyPr>
          <a:lstStyle/>
          <a:p>
            <a:r>
              <a:rPr lang="en-AU" dirty="0"/>
              <a:t>Design Subjectivity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0C549-A70C-5F43-55CC-DB790705E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8"/>
            <a:ext cx="5066001" cy="3719920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AU" sz="1500" b="1" dirty="0"/>
              <a:t>How can we judge &amp; compare one site from another, when much of it is based on our subjective tastes &amp; preferences?</a:t>
            </a:r>
          </a:p>
          <a:p>
            <a:pPr>
              <a:lnSpc>
                <a:spcPct val="90000"/>
              </a:lnSpc>
            </a:pPr>
            <a:r>
              <a:rPr lang="en-AU" sz="1500" dirty="0"/>
              <a:t>“Bad web design” </a:t>
            </a:r>
            <a:r>
              <a:rPr lang="en-AU" sz="1500" b="1" dirty="0">
                <a:solidFill>
                  <a:srgbClr val="C00000"/>
                </a:solidFill>
              </a:rPr>
              <a:t>≠</a:t>
            </a:r>
            <a:r>
              <a:rPr lang="en-AU" sz="1500" dirty="0"/>
              <a:t> what is a </a:t>
            </a:r>
            <a:r>
              <a:rPr lang="en-AU" sz="1500" i="1" dirty="0"/>
              <a:t>bad colour </a:t>
            </a:r>
          </a:p>
          <a:p>
            <a:pPr>
              <a:lnSpc>
                <a:spcPct val="90000"/>
              </a:lnSpc>
            </a:pPr>
            <a:r>
              <a:rPr lang="en-AU" sz="1500" dirty="0"/>
              <a:t>“Good web design” </a:t>
            </a:r>
            <a:r>
              <a:rPr lang="en-AU" sz="1500" b="1" dirty="0">
                <a:solidFill>
                  <a:srgbClr val="C00000"/>
                </a:solidFill>
              </a:rPr>
              <a:t>≠</a:t>
            </a:r>
            <a:r>
              <a:rPr lang="en-AU" sz="1500" dirty="0"/>
              <a:t> </a:t>
            </a:r>
            <a:r>
              <a:rPr lang="en-AU" sz="1500" i="1" dirty="0"/>
              <a:t>what </a:t>
            </a:r>
            <a:r>
              <a:rPr lang="en-AU" sz="1500" dirty="0"/>
              <a:t>makes</a:t>
            </a:r>
            <a:r>
              <a:rPr lang="en-AU" sz="1500" i="1" dirty="0"/>
              <a:t> good content</a:t>
            </a:r>
          </a:p>
          <a:p>
            <a:pPr>
              <a:lnSpc>
                <a:spcPct val="90000"/>
              </a:lnSpc>
            </a:pPr>
            <a:endParaRPr lang="en-AU" sz="1500" dirty="0"/>
          </a:p>
          <a:p>
            <a:pPr>
              <a:lnSpc>
                <a:spcPct val="90000"/>
              </a:lnSpc>
            </a:pPr>
            <a:r>
              <a:rPr lang="en-AU" sz="1500" dirty="0"/>
              <a:t>Web design is built on how we </a:t>
            </a:r>
            <a:r>
              <a:rPr lang="en-AU" sz="1500" b="1" dirty="0">
                <a:solidFill>
                  <a:srgbClr val="504FF6"/>
                </a:solidFill>
              </a:rPr>
              <a:t>present</a:t>
            </a:r>
            <a:r>
              <a:rPr lang="en-AU" sz="1500" dirty="0"/>
              <a:t> the information to the user &amp; if our presentation is </a:t>
            </a:r>
            <a:r>
              <a:rPr lang="en-AU" sz="1500" b="1" dirty="0">
                <a:solidFill>
                  <a:srgbClr val="504FF6"/>
                </a:solidFill>
              </a:rPr>
              <a:t>effective</a:t>
            </a:r>
            <a:r>
              <a:rPr lang="en-AU" sz="1500" dirty="0"/>
              <a:t> to our target audience</a:t>
            </a:r>
          </a:p>
          <a:p>
            <a:pPr>
              <a:lnSpc>
                <a:spcPct val="90000"/>
              </a:lnSpc>
            </a:pPr>
            <a:endParaRPr lang="en-AU" sz="1500" dirty="0"/>
          </a:p>
          <a:p>
            <a:pPr>
              <a:lnSpc>
                <a:spcPct val="90000"/>
              </a:lnSpc>
            </a:pPr>
            <a:r>
              <a:rPr lang="en-AU" sz="1500" i="1" dirty="0"/>
              <a:t>Most of us make judgment calls on websites ourselves, </a:t>
            </a:r>
            <a:r>
              <a:rPr lang="en-AU" sz="1500" i="1" dirty="0">
                <a:solidFill>
                  <a:srgbClr val="C00000"/>
                </a:solidFill>
              </a:rPr>
              <a:t>sometimes even subconsciously </a:t>
            </a:r>
            <a:r>
              <a:rPr lang="en-AU" sz="1500" i="1" dirty="0"/>
              <a:t>because of their design choices that </a:t>
            </a:r>
            <a:r>
              <a:rPr lang="en-AU" sz="1500" b="1" i="1" dirty="0"/>
              <a:t>conflict</a:t>
            </a:r>
            <a:r>
              <a:rPr lang="en-AU" sz="1500" i="1" dirty="0"/>
              <a:t> with what we want from the site!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CA26E1-44AC-8D60-77B9-EC04F73738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05" r="17154" b="-1"/>
          <a:stretch/>
        </p:blipFill>
        <p:spPr>
          <a:xfrm>
            <a:off x="6163734" y="1096772"/>
            <a:ext cx="5571066" cy="5761228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A27CA9A8-2E1B-1E43-B7A6-45B44037C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19990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094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D227D51-204B-ED48-AF9A-0BE9633FE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ross 31">
            <a:extLst>
              <a:ext uri="{FF2B5EF4-FFF2-40B4-BE49-F238E27FC236}">
                <a16:creationId xmlns:a16="http://schemas.microsoft.com/office/drawing/2014/main" id="{57A23F45-CDAE-8A40-8DE7-92A0BBC11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546383-CCC4-544B-B0D8-DE78DE39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4F048CC-17C9-B246-BF2A-29E51AD1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EF077E-8772-3C54-C607-FDF3B441AB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88000"/>
                    </a14:imgEffect>
                  </a14:imgLayer>
                </a14:imgProps>
              </a:ext>
            </a:extLst>
          </a:blip>
          <a:srcRect t="2698" b="1303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5" name="Rectangle">
            <a:extLst>
              <a:ext uri="{FF2B5EF4-FFF2-40B4-BE49-F238E27FC236}">
                <a16:creationId xmlns:a16="http://schemas.microsoft.com/office/drawing/2014/main" id="{53C4D10E-16D3-5D49-A995-1FD27619A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7883" y="1096771"/>
            <a:ext cx="4701054" cy="5761229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24124FF1-775D-AC4A-81D0-73FC0F54A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71505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69B13D-9437-C455-8EDF-E70366984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362" y="1625608"/>
            <a:ext cx="3882842" cy="272216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200" kern="1200" spc="-15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Golden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9D8F8-689B-C8BC-4178-248232FEC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362" y="4466845"/>
            <a:ext cx="3882842" cy="1152058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The user experience (“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UX</a:t>
            </a:r>
            <a:r>
              <a:rPr lang="en-US" dirty="0"/>
              <a:t>”) must </a:t>
            </a:r>
            <a:r>
              <a:rPr lang="en-US" b="1" i="1" dirty="0"/>
              <a:t>always</a:t>
            </a:r>
            <a:r>
              <a:rPr lang="en-US" dirty="0"/>
              <a:t> be prioritised when designing our website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CE363F-7361-A345-BB3D-2E8D88197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3666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7299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C1E23C-AB36-6E9F-E6DE-971AEC643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4114799" cy="1446550"/>
          </a:xfrm>
        </p:spPr>
        <p:txBody>
          <a:bodyPr>
            <a:normAutofit/>
          </a:bodyPr>
          <a:lstStyle/>
          <a:p>
            <a:r>
              <a:rPr lang="en-AU" dirty="0"/>
              <a:t>What makes up </a:t>
            </a:r>
            <a:r>
              <a:rPr lang="en-AU" b="1" dirty="0"/>
              <a:t>“UX”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2F640-A439-3F27-9DF6-2585DD1C5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8"/>
            <a:ext cx="4114799" cy="3188586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AU" sz="2000"/>
              <a:t>Over many years of analysing user preferences, these following areas improve useability when done right!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AU" sz="2000"/>
              <a:t>Functional Layout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AU" sz="2000"/>
              <a:t>Visual hierarchy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AU" sz="2000"/>
              <a:t>Navigability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AU" sz="2000"/>
              <a:t>Conventionality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AU" sz="2000"/>
              <a:t>Wide Useability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69961-FA80-2C37-7B1B-CB79B1A266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261" r="-1" b="-1"/>
          <a:stretch/>
        </p:blipFill>
        <p:spPr>
          <a:xfrm>
            <a:off x="5224242" y="10"/>
            <a:ext cx="6967758" cy="6857990"/>
          </a:xfrm>
          <a:prstGeom prst="rect">
            <a:avLst/>
          </a:prstGeom>
        </p:spPr>
      </p:pic>
      <p:sp>
        <p:nvSpPr>
          <p:cNvPr id="12" name="Cross 11">
            <a:extLst>
              <a:ext uri="{FF2B5EF4-FFF2-40B4-BE49-F238E27FC236}">
                <a16:creationId xmlns:a16="http://schemas.microsoft.com/office/drawing/2014/main" id="{EAB1217A-7C36-3A41-8536-BC68C4521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6810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91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D0AE-B746-CF23-1E66-6F3B54C2F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1. Functional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F1561-AE5B-C0DB-DDF6-9DDE6B5F7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AU" b="1" dirty="0"/>
              <a:t>A websites elements &amp; layouts must only be included to serve a functional purpose to the user</a:t>
            </a:r>
          </a:p>
          <a:p>
            <a:r>
              <a:rPr lang="en-AU" b="1" dirty="0">
                <a:solidFill>
                  <a:srgbClr val="504FF6"/>
                </a:solidFill>
              </a:rPr>
              <a:t>Simplicity</a:t>
            </a:r>
            <a:r>
              <a:rPr lang="en-AU" b="1" dirty="0"/>
              <a:t>: </a:t>
            </a:r>
            <a:r>
              <a:rPr lang="en-AU" dirty="0"/>
              <a:t>Unnecessary design elements should be discarded &amp; maintain tight selection of colours, fonts &amp; graphics.</a:t>
            </a:r>
          </a:p>
          <a:p>
            <a:r>
              <a:rPr lang="en-AU" b="1" dirty="0">
                <a:solidFill>
                  <a:srgbClr val="504FF6"/>
                </a:solidFill>
              </a:rPr>
              <a:t>Minimalist: </a:t>
            </a:r>
            <a:r>
              <a:rPr lang="en-AU" dirty="0"/>
              <a:t>Reduce aspects which unnecessarily lengthen the user wait time like animations, load times or auto—played media</a:t>
            </a:r>
          </a:p>
          <a:p>
            <a:r>
              <a:rPr lang="en-AU" b="1" dirty="0">
                <a:solidFill>
                  <a:srgbClr val="504FF6"/>
                </a:solidFill>
              </a:rPr>
              <a:t>Consistency: </a:t>
            </a:r>
            <a:r>
              <a:rPr lang="en-AU" dirty="0"/>
              <a:t>UI &amp; elements used across pages should feel similar and share combined CSS box models like background, colour schemes, borders/box shadows &amp; even wording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b="1" dirty="0"/>
              <a:t>The </a:t>
            </a:r>
            <a:r>
              <a:rPr lang="en-AU" b="1" dirty="0">
                <a:solidFill>
                  <a:srgbClr val="C00000"/>
                </a:solidFill>
              </a:rPr>
              <a:t>Sin</a:t>
            </a:r>
            <a:r>
              <a:rPr lang="en-AU" b="1" dirty="0"/>
              <a:t> Bin</a:t>
            </a:r>
          </a:p>
          <a:p>
            <a:pPr>
              <a:buFontTx/>
              <a:buChar char="-"/>
            </a:pPr>
            <a:r>
              <a:rPr lang="en-AU" b="1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 Perignon</a:t>
            </a:r>
            <a:r>
              <a:rPr lang="en-AU" dirty="0"/>
              <a:t> (</a:t>
            </a:r>
            <a:r>
              <a:rPr lang="en-AU" i="1" dirty="0"/>
              <a:t>Design &gt; Function, Odd Scroll functionality &amp; Too Many Unnecessary Elements</a:t>
            </a:r>
            <a:r>
              <a:rPr lang="en-AU" dirty="0"/>
              <a:t>)</a:t>
            </a:r>
          </a:p>
          <a:p>
            <a:pPr>
              <a:buFontTx/>
              <a:buChar char="-"/>
            </a:pPr>
            <a:r>
              <a:rPr lang="en-AU" b="1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Yale School of Art</a:t>
            </a:r>
            <a:r>
              <a:rPr lang="en-AU" dirty="0"/>
              <a:t> (</a:t>
            </a:r>
            <a:r>
              <a:rPr lang="en-AU" i="1" dirty="0"/>
              <a:t>No clear theme, very loud &amp; contrast issues everywhere)</a:t>
            </a:r>
          </a:p>
          <a:p>
            <a:pPr>
              <a:buFontTx/>
              <a:buChar char="-"/>
            </a:pPr>
            <a:r>
              <a:rPr lang="en-AU" b="1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Netflix</a:t>
            </a:r>
            <a:r>
              <a:rPr lang="en-AU" i="1" dirty="0"/>
              <a:t> (Auto-play of movies on hover leads to “sticky” navigation and trickier decision-making)</a:t>
            </a:r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9278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1D227D51-204B-ED48-AF9A-0BE9633FE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57A23F45-CDAE-8A40-8DE7-92A0BBC11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8546383-CCC4-544B-B0D8-DE78DE39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14F048CC-17C9-B246-BF2A-29E51AD1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45EDAC-5C4D-D453-415D-BF7269485C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79" b="1005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4" name="Rectangle">
            <a:extLst>
              <a:ext uri="{FF2B5EF4-FFF2-40B4-BE49-F238E27FC236}">
                <a16:creationId xmlns:a16="http://schemas.microsoft.com/office/drawing/2014/main" id="{53C4D10E-16D3-5D49-A995-1FD27619A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7883" y="1096771"/>
            <a:ext cx="4701054" cy="5761229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24124FF1-775D-AC4A-81D0-73FC0F54A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71505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4EB560-AC30-A1E5-A07C-E95BC8A97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362" y="1625608"/>
            <a:ext cx="3882842" cy="272216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8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Student Focus Test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BCE363F-7361-A345-BB3D-2E8D88197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3666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98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BE5A4E-0F80-26B6-FE5D-D505004D122D}"/>
              </a:ext>
            </a:extLst>
          </p:cNvPr>
          <p:cNvSpPr/>
          <p:nvPr/>
        </p:nvSpPr>
        <p:spPr>
          <a:xfrm>
            <a:off x="0" y="1"/>
            <a:ext cx="12192000" cy="1527586"/>
          </a:xfrm>
          <a:prstGeom prst="rect">
            <a:avLst/>
          </a:prstGeom>
          <a:solidFill>
            <a:srgbClr val="684F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B408FD-2903-FCAE-4FAC-803155CE9110}"/>
              </a:ext>
            </a:extLst>
          </p:cNvPr>
          <p:cNvSpPr/>
          <p:nvPr/>
        </p:nvSpPr>
        <p:spPr>
          <a:xfrm>
            <a:off x="0" y="1527586"/>
            <a:ext cx="12192000" cy="3030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8000" b="1" dirty="0">
              <a:solidFill>
                <a:schemeClr val="tx1"/>
              </a:solidFill>
              <a:latin typeface="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D09C5A-24D8-FFF4-0123-4B3E1549FC5E}"/>
              </a:ext>
            </a:extLst>
          </p:cNvPr>
          <p:cNvSpPr/>
          <p:nvPr/>
        </p:nvSpPr>
        <p:spPr>
          <a:xfrm>
            <a:off x="0" y="4558272"/>
            <a:ext cx="12192000" cy="2299728"/>
          </a:xfrm>
          <a:prstGeom prst="rect">
            <a:avLst/>
          </a:prstGeom>
          <a:solidFill>
            <a:srgbClr val="684F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981F-EE0E-2234-BDCB-7A1A48BFC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938" y="1718256"/>
            <a:ext cx="6782325" cy="2490948"/>
          </a:xfrm>
        </p:spPr>
        <p:txBody>
          <a:bodyPr>
            <a:noAutofit/>
          </a:bodyPr>
          <a:lstStyle/>
          <a:p>
            <a:r>
              <a:rPr lang="en-AU" sz="8000" b="1" dirty="0"/>
              <a:t>You will read this first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65E56B5-2CE6-3398-70EB-4862EEE27BFC}"/>
              </a:ext>
            </a:extLst>
          </p:cNvPr>
          <p:cNvSpPr txBox="1">
            <a:spLocks/>
          </p:cNvSpPr>
          <p:nvPr/>
        </p:nvSpPr>
        <p:spPr>
          <a:xfrm>
            <a:off x="973938" y="4765077"/>
            <a:ext cx="6231892" cy="7222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4000" b="1" dirty="0">
                <a:solidFill>
                  <a:schemeClr val="bg1"/>
                </a:solidFill>
              </a:rPr>
              <a:t>And then you will read this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9E60BE0-2701-E078-A6D9-E45DD9FA458D}"/>
              </a:ext>
            </a:extLst>
          </p:cNvPr>
          <p:cNvSpPr txBox="1">
            <a:spLocks/>
          </p:cNvSpPr>
          <p:nvPr/>
        </p:nvSpPr>
        <p:spPr>
          <a:xfrm>
            <a:off x="973938" y="5618822"/>
            <a:ext cx="6231892" cy="7222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500" b="1" dirty="0">
                <a:solidFill>
                  <a:schemeClr val="bg1"/>
                </a:solidFill>
              </a:rPr>
              <a:t>Then this one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2C84393-529A-5A40-6A17-317C29FC43DD}"/>
              </a:ext>
            </a:extLst>
          </p:cNvPr>
          <p:cNvSpPr txBox="1">
            <a:spLocks/>
          </p:cNvSpPr>
          <p:nvPr/>
        </p:nvSpPr>
        <p:spPr>
          <a:xfrm>
            <a:off x="973938" y="295629"/>
            <a:ext cx="6231892" cy="7222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1800" dirty="0">
                <a:solidFill>
                  <a:schemeClr val="bg1"/>
                </a:solidFill>
              </a:rPr>
              <a:t>And you will read this last</a:t>
            </a:r>
          </a:p>
        </p:txBody>
      </p:sp>
    </p:spTree>
    <p:extLst>
      <p:ext uri="{BB962C8B-B14F-4D97-AF65-F5344CB8AC3E}">
        <p14:creationId xmlns:p14="http://schemas.microsoft.com/office/powerpoint/2010/main" val="1917907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7AA72-17D6-893A-846C-A4E0188EC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2. Visual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71BBF-C215-A80B-5661-9D6C67D53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AU" b="1"/>
              <a:t>Websites need to arrange &amp; style their elements in a cohesive manner to implicitly indicate priorities on a page to a user</a:t>
            </a:r>
          </a:p>
          <a:p>
            <a:r>
              <a:rPr lang="en-AU" b="1">
                <a:solidFill>
                  <a:srgbClr val="504FF6"/>
                </a:solidFill>
              </a:rPr>
              <a:t>Important elements</a:t>
            </a:r>
            <a:r>
              <a:rPr lang="en-AU"/>
              <a:t>, </a:t>
            </a:r>
            <a:r>
              <a:rPr lang="en-AU" b="1" i="1"/>
              <a:t>critical</a:t>
            </a:r>
            <a:r>
              <a:rPr lang="en-AU"/>
              <a:t> to the sites purpose </a:t>
            </a:r>
            <a:r>
              <a:rPr lang="en-AU" sz="1800"/>
              <a:t>(</a:t>
            </a:r>
            <a:r>
              <a:rPr lang="en-AU" sz="1800" i="1"/>
              <a:t>like sales banners </a:t>
            </a:r>
            <a:r>
              <a:rPr lang="en-AU" sz="1800" b="1" i="1"/>
              <a:t>OR</a:t>
            </a:r>
            <a:r>
              <a:rPr lang="en-AU" sz="1800" i="1"/>
              <a:t> price plans</a:t>
            </a:r>
            <a:r>
              <a:rPr lang="en-AU" sz="1800"/>
              <a:t>) </a:t>
            </a:r>
            <a:r>
              <a:rPr lang="en-AU"/>
              <a:t>must be arranged to make users naturally gravitate to them</a:t>
            </a:r>
          </a:p>
          <a:p>
            <a:r>
              <a:rPr lang="en-AU" b="1">
                <a:solidFill>
                  <a:srgbClr val="504FF6"/>
                </a:solidFill>
              </a:rPr>
              <a:t>Aspects</a:t>
            </a:r>
            <a:r>
              <a:rPr lang="en-AU">
                <a:solidFill>
                  <a:srgbClr val="504FF6"/>
                </a:solidFill>
              </a:rPr>
              <a:t> </a:t>
            </a:r>
            <a:r>
              <a:rPr lang="en-AU"/>
              <a:t>such as page position, sizing/colour, background of the section/box are all used to split sections from the crowd</a:t>
            </a:r>
          </a:p>
          <a:p>
            <a:r>
              <a:rPr lang="en-AU" b="1">
                <a:solidFill>
                  <a:srgbClr val="504FF6"/>
                </a:solidFill>
              </a:rPr>
              <a:t>Scannability</a:t>
            </a:r>
            <a:r>
              <a:rPr lang="en-AU"/>
              <a:t> is of content critical – tests indicate 79% of users always scanned a new page, whereas only 16% read word-for-word </a:t>
            </a:r>
          </a:p>
          <a:p>
            <a:endParaRPr lang="en-AU"/>
          </a:p>
          <a:p>
            <a:pPr marL="0" indent="0">
              <a:buNone/>
            </a:pPr>
            <a:r>
              <a:rPr lang="en-AU" b="1"/>
              <a:t>The </a:t>
            </a:r>
            <a:r>
              <a:rPr lang="en-AU" b="1">
                <a:solidFill>
                  <a:srgbClr val="C00000"/>
                </a:solidFill>
              </a:rPr>
              <a:t>Sin</a:t>
            </a:r>
            <a:r>
              <a:rPr lang="en-AU" b="1"/>
              <a:t> Bin</a:t>
            </a:r>
          </a:p>
          <a:p>
            <a:pPr>
              <a:buFontTx/>
              <a:buChar char="-"/>
            </a:pPr>
            <a:r>
              <a:rPr lang="en-AU" b="1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NYU</a:t>
            </a:r>
            <a:r>
              <a:rPr lang="en-AU"/>
              <a:t> (</a:t>
            </a:r>
            <a:r>
              <a:rPr lang="en-AU" i="1"/>
              <a:t>Use of Colour &amp; Same UI Everywhere</a:t>
            </a:r>
            <a:r>
              <a:rPr lang="en-AU"/>
              <a:t>)</a:t>
            </a:r>
          </a:p>
          <a:p>
            <a:pPr>
              <a:buFontTx/>
              <a:buChar char="-"/>
            </a:pPr>
            <a:r>
              <a:rPr lang="en-AU" b="1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Wayfair</a:t>
            </a:r>
            <a:r>
              <a:rPr lang="en-AU"/>
              <a:t> (</a:t>
            </a:r>
            <a:r>
              <a:rPr lang="en-AU" i="1"/>
              <a:t>Use of Colour &amp; Too Many Same Priorities</a:t>
            </a:r>
            <a:r>
              <a:rPr lang="en-AU"/>
              <a:t>)</a:t>
            </a:r>
          </a:p>
          <a:p>
            <a:pPr>
              <a:buFontTx/>
              <a:buChar char="-"/>
            </a:pPr>
            <a:r>
              <a:rPr lang="en-AU" b="1">
                <a:solidFill>
                  <a:srgbClr val="C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AliExpress</a:t>
            </a:r>
            <a:r>
              <a:rPr lang="en-AU"/>
              <a:t> (</a:t>
            </a:r>
            <a:r>
              <a:rPr lang="en-AU" i="1"/>
              <a:t>popup galore &amp; extreme information density</a:t>
            </a:r>
            <a:r>
              <a:rPr lang="en-AU"/>
              <a:t>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0632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3E05-7B2B-7D9B-C21C-FB29B80CF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3. Navigability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F2B90-3B9C-DF56-3BB5-986FF0253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7"/>
            <a:ext cx="8267296" cy="34294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AU" b="1" dirty="0"/>
              <a:t>Websites require intuitive &amp; clear navigation on all pages to ensure visitors can find what they’re looking for</a:t>
            </a:r>
          </a:p>
          <a:p>
            <a:r>
              <a:rPr lang="en-AU" b="1" dirty="0">
                <a:solidFill>
                  <a:srgbClr val="504FF6"/>
                </a:solidFill>
              </a:rPr>
              <a:t>Primary navigation </a:t>
            </a:r>
            <a:r>
              <a:rPr lang="en-AU" dirty="0"/>
              <a:t>should be simple &amp; at the top, separated from main content &amp; visible!</a:t>
            </a:r>
          </a:p>
          <a:p>
            <a:r>
              <a:rPr lang="en-AU" dirty="0"/>
              <a:t>Consider </a:t>
            </a:r>
            <a:r>
              <a:rPr lang="en-AU" b="1" dirty="0">
                <a:solidFill>
                  <a:srgbClr val="504FF6"/>
                </a:solidFill>
              </a:rPr>
              <a:t>alternative navigation </a:t>
            </a:r>
            <a:r>
              <a:rPr lang="en-AU" dirty="0"/>
              <a:t>like </a:t>
            </a:r>
            <a:r>
              <a:rPr lang="en-AU" i="1" dirty="0"/>
              <a:t>breadcrumbs</a:t>
            </a:r>
            <a:r>
              <a:rPr lang="en-AU" dirty="0"/>
              <a:t> and </a:t>
            </a:r>
            <a:r>
              <a:rPr lang="en-AU" i="1" dirty="0"/>
              <a:t>search bars</a:t>
            </a:r>
            <a:r>
              <a:rPr lang="en-AU" dirty="0"/>
              <a:t>, where sitemaps are heavily nested</a:t>
            </a:r>
          </a:p>
          <a:p>
            <a:r>
              <a:rPr lang="en-AU" b="1" dirty="0">
                <a:solidFill>
                  <a:srgbClr val="504FF6"/>
                </a:solidFill>
              </a:rPr>
              <a:t>Sidebar navigation </a:t>
            </a:r>
            <a:r>
              <a:rPr lang="en-AU" dirty="0"/>
              <a:t>is generally associated with either mobile </a:t>
            </a:r>
            <a:r>
              <a:rPr lang="en-AU" dirty="0" err="1"/>
              <a:t>navs</a:t>
            </a:r>
            <a:r>
              <a:rPr lang="en-AU" dirty="0"/>
              <a:t> or shopping carts</a:t>
            </a:r>
          </a:p>
          <a:p>
            <a:r>
              <a:rPr lang="en-AU" b="1" dirty="0">
                <a:solidFill>
                  <a:srgbClr val="504FF6"/>
                </a:solidFill>
              </a:rPr>
              <a:t>Footer navigation </a:t>
            </a:r>
            <a:r>
              <a:rPr lang="en-AU" dirty="0"/>
              <a:t>should generally be included and can show complex content options where the main navbar cannot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b="1" dirty="0"/>
              <a:t>The </a:t>
            </a:r>
            <a:r>
              <a:rPr lang="en-AU" b="1" dirty="0">
                <a:solidFill>
                  <a:srgbClr val="C00000"/>
                </a:solidFill>
              </a:rPr>
              <a:t>Sin</a:t>
            </a:r>
            <a:r>
              <a:rPr lang="en-AU" b="1" dirty="0"/>
              <a:t> Bin</a:t>
            </a:r>
          </a:p>
          <a:p>
            <a:pPr>
              <a:buFontTx/>
              <a:buChar char="-"/>
            </a:pPr>
            <a:r>
              <a:rPr lang="en-AU" b="1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ZARA</a:t>
            </a:r>
            <a:r>
              <a:rPr lang="en-AU" dirty="0"/>
              <a:t> (</a:t>
            </a:r>
            <a:r>
              <a:rPr lang="en-AU" i="1" dirty="0"/>
              <a:t>Very Poor Navigation UI</a:t>
            </a:r>
            <a:r>
              <a:rPr lang="en-AU" dirty="0"/>
              <a:t>) </a:t>
            </a:r>
          </a:p>
          <a:p>
            <a:pPr>
              <a:buFontTx/>
              <a:buChar char="-"/>
            </a:pPr>
            <a:r>
              <a:rPr lang="en-AU" b="1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GoodReads</a:t>
            </a:r>
            <a:r>
              <a:rPr lang="en-AU" dirty="0"/>
              <a:t> (</a:t>
            </a:r>
            <a:r>
              <a:rPr lang="en-AU" i="1" dirty="0"/>
              <a:t>No Top Nav &amp; Difficulty Finding Navigation Areas</a:t>
            </a:r>
            <a:r>
              <a:rPr lang="en-A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84658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51B1D-9535-53A3-30E4-43AED3DFE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4. Conventionality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B7C2D-846A-704A-77EE-CC01A816A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AU" b="1" dirty="0"/>
              <a:t>Good websites typically play into the expectations &amp; prior web experiences of users</a:t>
            </a:r>
          </a:p>
          <a:p>
            <a:r>
              <a:rPr lang="en-AU" b="1" dirty="0">
                <a:solidFill>
                  <a:srgbClr val="504FF6"/>
                </a:solidFill>
              </a:rPr>
              <a:t>Novelty</a:t>
            </a:r>
            <a:r>
              <a:rPr lang="en-AU" dirty="0"/>
              <a:t> is important but not at the expense of good, conventional UX</a:t>
            </a:r>
          </a:p>
          <a:p>
            <a:r>
              <a:rPr lang="en-AU" dirty="0"/>
              <a:t>Breaking from convention can </a:t>
            </a:r>
            <a:r>
              <a:rPr lang="en-AU" b="1" dirty="0">
                <a:solidFill>
                  <a:srgbClr val="504FF6"/>
                </a:solidFill>
              </a:rPr>
              <a:t>confuse</a:t>
            </a:r>
            <a:r>
              <a:rPr lang="en-AU" dirty="0"/>
              <a:t> or </a:t>
            </a:r>
            <a:r>
              <a:rPr lang="en-AU" b="1" dirty="0">
                <a:solidFill>
                  <a:srgbClr val="504FF6"/>
                </a:solidFill>
              </a:rPr>
              <a:t>frustrate</a:t>
            </a:r>
            <a:r>
              <a:rPr lang="en-AU" dirty="0"/>
              <a:t> users</a:t>
            </a:r>
          </a:p>
          <a:p>
            <a:r>
              <a:rPr lang="en-AU" i="1" dirty="0"/>
              <a:t>You need a good reason to break from what users understand &amp; feel comfortable with!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The </a:t>
            </a:r>
            <a:r>
              <a:rPr lang="en-AU" b="1" dirty="0">
                <a:solidFill>
                  <a:srgbClr val="C00000"/>
                </a:solidFill>
              </a:rPr>
              <a:t>Sin</a:t>
            </a:r>
            <a:r>
              <a:rPr lang="en-AU" b="1" dirty="0"/>
              <a:t> Bin</a:t>
            </a:r>
          </a:p>
          <a:p>
            <a:r>
              <a:rPr lang="en-AU" b="1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Wix Studio</a:t>
            </a:r>
            <a:r>
              <a:rPr lang="en-AU" dirty="0"/>
              <a:t> (</a:t>
            </a:r>
            <a:r>
              <a:rPr lang="en-AU" i="1" dirty="0"/>
              <a:t>In-Page Navigation is “Questionable” &amp; Dreaded Horizontal Scroll</a:t>
            </a:r>
            <a:r>
              <a:rPr lang="en-AU" dirty="0"/>
              <a:t>)</a:t>
            </a:r>
          </a:p>
          <a:p>
            <a:r>
              <a:rPr lang="en-AU" b="1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SCTI</a:t>
            </a:r>
            <a:r>
              <a:rPr lang="en-AU" dirty="0"/>
              <a:t> (</a:t>
            </a:r>
            <a:r>
              <a:rPr lang="en-AU" i="1" dirty="0"/>
              <a:t>Buttons that do not work as CTAs</a:t>
            </a:r>
            <a:r>
              <a:rPr lang="en-AU" dirty="0"/>
              <a:t>)</a:t>
            </a:r>
          </a:p>
          <a:p>
            <a:r>
              <a:rPr lang="en-AU" b="1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UI</a:t>
            </a:r>
            <a:r>
              <a:rPr lang="en-AU" dirty="0"/>
              <a:t> (</a:t>
            </a:r>
            <a:r>
              <a:rPr lang="en-AU" i="1" dirty="0"/>
              <a:t>on-purpose example of how FRUSTRATING UI can be if designed </a:t>
            </a:r>
            <a:r>
              <a:rPr lang="en-AU" b="1" i="1" dirty="0"/>
              <a:t>AGAINST</a:t>
            </a:r>
            <a:r>
              <a:rPr lang="en-AU" i="1" dirty="0"/>
              <a:t> convention</a:t>
            </a:r>
            <a:r>
              <a:rPr lang="en-AU" dirty="0"/>
              <a:t>)</a:t>
            </a:r>
          </a:p>
          <a:p>
            <a:r>
              <a:rPr lang="en-AU" b="1" dirty="0">
                <a:solidFill>
                  <a:srgbClr val="C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PasswordGame</a:t>
            </a:r>
            <a:r>
              <a:rPr lang="en-AU" dirty="0"/>
              <a:t> (</a:t>
            </a:r>
            <a:r>
              <a:rPr lang="en-AU" i="1" dirty="0"/>
              <a:t>even functional &amp; conventional UI can be taken too far</a:t>
            </a:r>
            <a:r>
              <a:rPr lang="en-A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46981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0DBED-DAC4-B10E-269F-B9D57D219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6002798" cy="1446550"/>
          </a:xfrm>
        </p:spPr>
        <p:txBody>
          <a:bodyPr>
            <a:normAutofit/>
          </a:bodyPr>
          <a:lstStyle/>
          <a:p>
            <a:r>
              <a:rPr lang="en-AU" dirty="0"/>
              <a:t>Common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1A1E2-A10D-4C7A-741E-A867513D7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7"/>
            <a:ext cx="6002798" cy="354779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AU" sz="1500" b="1" dirty="0"/>
              <a:t>Main navigation bar </a:t>
            </a:r>
            <a:r>
              <a:rPr lang="en-AU" sz="1500" dirty="0"/>
              <a:t>at top of the screen, separated from content &amp; visible</a:t>
            </a:r>
          </a:p>
          <a:p>
            <a:pPr>
              <a:lnSpc>
                <a:spcPct val="90000"/>
              </a:lnSpc>
            </a:pPr>
            <a:r>
              <a:rPr lang="en-AU" sz="1500" b="1" dirty="0"/>
              <a:t>Logo</a:t>
            </a:r>
            <a:r>
              <a:rPr lang="en-AU" sz="1500" dirty="0"/>
              <a:t> displayed in top-left of page &amp; clickable as anchor</a:t>
            </a:r>
          </a:p>
          <a:p>
            <a:pPr>
              <a:lnSpc>
                <a:spcPct val="90000"/>
              </a:lnSpc>
            </a:pPr>
            <a:r>
              <a:rPr lang="en-AU" sz="1500" b="1" dirty="0"/>
              <a:t>Videos/media </a:t>
            </a:r>
            <a:r>
              <a:rPr lang="en-AU" sz="1500" dirty="0"/>
              <a:t>only plays when clicked</a:t>
            </a:r>
          </a:p>
          <a:p>
            <a:pPr>
              <a:lnSpc>
                <a:spcPct val="90000"/>
              </a:lnSpc>
            </a:pPr>
            <a:r>
              <a:rPr lang="en-AU" sz="1500" b="1" dirty="0"/>
              <a:t>Hover</a:t>
            </a:r>
            <a:r>
              <a:rPr lang="en-AU" sz="1500" dirty="0"/>
              <a:t> </a:t>
            </a:r>
            <a:r>
              <a:rPr lang="en-AU" sz="1500" b="1" dirty="0"/>
              <a:t>effects</a:t>
            </a:r>
            <a:r>
              <a:rPr lang="en-AU" sz="1500" dirty="0"/>
              <a:t> on buttons/links</a:t>
            </a:r>
          </a:p>
          <a:p>
            <a:pPr>
              <a:lnSpc>
                <a:spcPct val="90000"/>
              </a:lnSpc>
            </a:pPr>
            <a:r>
              <a:rPr lang="en-AU" sz="1500" b="1" dirty="0"/>
              <a:t>Shopping cart icon </a:t>
            </a:r>
            <a:r>
              <a:rPr lang="en-AU" sz="1500" dirty="0"/>
              <a:t>to indicate ecommerce functionality</a:t>
            </a:r>
          </a:p>
          <a:p>
            <a:pPr>
              <a:lnSpc>
                <a:spcPct val="90000"/>
              </a:lnSpc>
            </a:pPr>
            <a:r>
              <a:rPr lang="en-AU" sz="1500" b="1" dirty="0"/>
              <a:t>Image sliders </a:t>
            </a:r>
            <a:r>
              <a:rPr lang="en-AU" sz="1500" dirty="0"/>
              <a:t>contain buttons to navigate slider manually</a:t>
            </a:r>
          </a:p>
          <a:p>
            <a:pPr>
              <a:lnSpc>
                <a:spcPct val="90000"/>
              </a:lnSpc>
            </a:pPr>
            <a:r>
              <a:rPr lang="en-AU" sz="1500" b="1" dirty="0"/>
              <a:t>Minimise popups &amp; “aggressive” UI </a:t>
            </a:r>
            <a:r>
              <a:rPr lang="en-AU" sz="1500" dirty="0"/>
              <a:t>that interferes with user’s experience</a:t>
            </a:r>
          </a:p>
          <a:p>
            <a:pPr marL="0" indent="0">
              <a:lnSpc>
                <a:spcPct val="90000"/>
              </a:lnSpc>
              <a:buNone/>
            </a:pPr>
            <a:endParaRPr lang="en-AU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AU" sz="1500" i="1" dirty="0"/>
              <a:t>… where each convention allows for clear &amp; easy function – diverging from this may only serve to counteract the functionality!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8FA6C-4D46-1112-22F9-5EE8249F2E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312" r="10210" b="-2"/>
          <a:stretch/>
        </p:blipFill>
        <p:spPr>
          <a:xfrm>
            <a:off x="7494078" y="1096772"/>
            <a:ext cx="4240722" cy="5761228"/>
          </a:xfrm>
          <a:prstGeom prst="rect">
            <a:avLst/>
          </a:prstGeom>
        </p:spPr>
      </p:pic>
      <p:sp>
        <p:nvSpPr>
          <p:cNvPr id="12" name="Cross 11">
            <a:extLst>
              <a:ext uri="{FF2B5EF4-FFF2-40B4-BE49-F238E27FC236}">
                <a16:creationId xmlns:a16="http://schemas.microsoft.com/office/drawing/2014/main" id="{DA7B3086-613B-B44B-8231-1C082E4A6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2736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5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20D6-C5F0-BDA2-CB45-D4527E087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5. Wide Useability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92348-D41F-CFB5-5B9F-FADB05DCC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AU" b="1" dirty="0"/>
              <a:t>Websites need to target users with a wide array of access requirements &amp; avoid denying access</a:t>
            </a:r>
          </a:p>
          <a:p>
            <a:r>
              <a:rPr lang="en-AU" b="1" dirty="0">
                <a:solidFill>
                  <a:srgbClr val="504FF6"/>
                </a:solidFill>
              </a:rPr>
              <a:t>Accessibility</a:t>
            </a:r>
            <a:r>
              <a:rPr lang="en-AU" b="1" dirty="0"/>
              <a:t>: </a:t>
            </a:r>
            <a:r>
              <a:rPr lang="en-AU" dirty="0"/>
              <a:t>Website modifies elements/UI that would otherwise negatively impact those with disability or access issues</a:t>
            </a:r>
          </a:p>
          <a:p>
            <a:r>
              <a:rPr lang="en-AU" b="1" dirty="0">
                <a:solidFill>
                  <a:srgbClr val="504FF6"/>
                </a:solidFill>
              </a:rPr>
              <a:t>Responsiveness: </a:t>
            </a:r>
            <a:r>
              <a:rPr lang="en-AU" dirty="0"/>
              <a:t>Addition of CSS &amp; UI that targets users on different device sizes &amp; prevents a website breaking on smaller screens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i="1" dirty="0"/>
              <a:t>* We have covered this already &amp; many sites commonly suffer from these issues &amp; are probably the easiest to spot when they occur!</a:t>
            </a:r>
          </a:p>
        </p:txBody>
      </p:sp>
    </p:spTree>
    <p:extLst>
      <p:ext uri="{BB962C8B-B14F-4D97-AF65-F5344CB8AC3E}">
        <p14:creationId xmlns:p14="http://schemas.microsoft.com/office/powerpoint/2010/main" val="3046517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7FB85-6C62-4CB8-90A0-F54797D8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6002798" cy="1446550"/>
          </a:xfrm>
        </p:spPr>
        <p:txBody>
          <a:bodyPr>
            <a:normAutofit/>
          </a:bodyPr>
          <a:lstStyle/>
          <a:p>
            <a:r>
              <a:rPr lang="en-AU" dirty="0"/>
              <a:t>The Depths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B4623-5B50-D295-573F-2B4CFA68D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8"/>
            <a:ext cx="6002798" cy="3655374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AU" sz="1800" b="1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DailyMailUK Sports</a:t>
            </a:r>
            <a:r>
              <a:rPr lang="en-AU" sz="1800" b="1" dirty="0">
                <a:solidFill>
                  <a:srgbClr val="C00000"/>
                </a:solidFill>
              </a:rPr>
              <a:t> </a:t>
            </a:r>
            <a:r>
              <a:rPr lang="en-AU" sz="1800" dirty="0"/>
              <a:t>– Loud visual hierarchy, insane information </a:t>
            </a:r>
            <a:r>
              <a:rPr lang="en-AU" sz="1800" dirty="0" err="1"/>
              <a:t>densite</a:t>
            </a:r>
            <a:r>
              <a:rPr lang="en-AU" sz="1800" dirty="0"/>
              <a:t> &amp; </a:t>
            </a:r>
            <a:r>
              <a:rPr lang="en-AU" sz="1800" i="1" dirty="0"/>
              <a:t>terrible convention of masses of ad </a:t>
            </a:r>
            <a:r>
              <a:rPr lang="en-AU" sz="1800" i="1" dirty="0" err="1"/>
              <a:t>popus</a:t>
            </a:r>
            <a:r>
              <a:rPr lang="en-AU" sz="1800" i="1" dirty="0"/>
              <a:t> &amp; auto-playing ads circa 1995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endParaRPr lang="en-AU" sz="1800" dirty="0"/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AU" sz="1800" b="1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Alibaba</a:t>
            </a:r>
            <a:r>
              <a:rPr lang="en-AU" sz="1800" dirty="0"/>
              <a:t> – Extremely frustrating/intrusive navbar, odd auto-generated wording &amp; </a:t>
            </a:r>
            <a:r>
              <a:rPr lang="en-AU" sz="1800" i="1" dirty="0"/>
              <a:t>shop section showing very bland UI with over-compressed information density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endParaRPr lang="en-AU" sz="1800" i="1" dirty="0"/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AU" sz="1800" b="1" dirty="0">
                <a:solidFill>
                  <a:srgbClr val="C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Reddit ReDesign</a:t>
            </a:r>
            <a:r>
              <a:rPr lang="en-AU" sz="1800" dirty="0"/>
              <a:t> - </a:t>
            </a:r>
            <a:r>
              <a:rPr lang="en-AU" sz="1800" i="1" dirty="0"/>
              <a:t>Reduced information density </a:t>
            </a:r>
            <a:r>
              <a:rPr lang="en-AU" sz="1800" dirty="0"/>
              <a:t>which is actually BAD for news aggregator, meaning current users use </a:t>
            </a:r>
            <a:r>
              <a:rPr lang="en-AU" sz="1800" b="1" dirty="0">
                <a:solidFill>
                  <a:srgbClr val="504FF6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old site domain</a:t>
            </a:r>
            <a:r>
              <a:rPr lang="en-AU" sz="1800" dirty="0"/>
              <a:t> instead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endParaRPr lang="en-AU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AU" sz="1800" i="1" dirty="0"/>
              <a:t>But also note – </a:t>
            </a:r>
            <a:r>
              <a:rPr lang="en-AU" sz="1800" b="1" i="1" dirty="0">
                <a:hlinkClick r:id="rId7"/>
              </a:rPr>
              <a:t>how far we have come </a:t>
            </a:r>
            <a:r>
              <a:rPr lang="en-AU" sz="1800" i="1" dirty="0"/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0C2D54-6B1F-7469-5D1B-70653BD1A49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183" r="1" b="8134"/>
          <a:stretch/>
        </p:blipFill>
        <p:spPr>
          <a:xfrm>
            <a:off x="7494078" y="1096772"/>
            <a:ext cx="4240722" cy="5761228"/>
          </a:xfrm>
          <a:prstGeom prst="rect">
            <a:avLst/>
          </a:prstGeom>
        </p:spPr>
      </p:pic>
      <p:sp>
        <p:nvSpPr>
          <p:cNvPr id="20" name="Cross 19">
            <a:extLst>
              <a:ext uri="{FF2B5EF4-FFF2-40B4-BE49-F238E27FC236}">
                <a16:creationId xmlns:a16="http://schemas.microsoft.com/office/drawing/2014/main" id="{DA7B3086-613B-B44B-8231-1C082E4A6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2736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54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2321A-F563-E67C-54A8-2CD6ED056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4" y="1204721"/>
            <a:ext cx="5992956" cy="1446550"/>
          </a:xfrm>
        </p:spPr>
        <p:txBody>
          <a:bodyPr>
            <a:normAutofit/>
          </a:bodyPr>
          <a:lstStyle/>
          <a:p>
            <a:r>
              <a:rPr lang="en-AU" dirty="0"/>
              <a:t>Final Word on</a:t>
            </a:r>
            <a:br>
              <a:rPr lang="en-AU" dirty="0"/>
            </a:br>
            <a:r>
              <a:rPr lang="en-AU" dirty="0"/>
              <a:t>Trends &amp;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463AF-D6D6-1198-14EC-78BE3E4C6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0817" y="2955249"/>
            <a:ext cx="5992956" cy="346706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AU" sz="1500" b="1" dirty="0"/>
              <a:t>Fonts</a:t>
            </a:r>
            <a:r>
              <a:rPr lang="en-AU" sz="1500" dirty="0"/>
              <a:t> should match content </a:t>
            </a:r>
            <a:r>
              <a:rPr lang="en-AU" sz="1500" i="1" dirty="0"/>
              <a:t>BUT ALAWAYS </a:t>
            </a:r>
            <a:r>
              <a:rPr lang="en-AU" sz="1500" dirty="0"/>
              <a:t>encourage scannability</a:t>
            </a:r>
          </a:p>
          <a:p>
            <a:pPr>
              <a:lnSpc>
                <a:spcPct val="90000"/>
              </a:lnSpc>
            </a:pPr>
            <a:r>
              <a:rPr lang="en-AU" sz="1500" b="1" dirty="0"/>
              <a:t>Colour schemes </a:t>
            </a:r>
            <a:r>
              <a:rPr lang="en-AU" sz="1500" dirty="0"/>
              <a:t>should have more than three main colour “tokens” WITHOUT good reason</a:t>
            </a:r>
          </a:p>
          <a:p>
            <a:pPr>
              <a:lnSpc>
                <a:spcPct val="90000"/>
              </a:lnSpc>
            </a:pPr>
            <a:r>
              <a:rPr lang="en-AU" sz="1500" b="1" dirty="0"/>
              <a:t>Padding &amp; whitespace </a:t>
            </a:r>
            <a:r>
              <a:rPr lang="en-AU" sz="1500" dirty="0"/>
              <a:t>should be used to let content breathe &amp; separate content sections</a:t>
            </a:r>
          </a:p>
          <a:p>
            <a:pPr>
              <a:lnSpc>
                <a:spcPct val="90000"/>
              </a:lnSpc>
            </a:pPr>
            <a:r>
              <a:rPr lang="en-AU" sz="1500" b="1" dirty="0"/>
              <a:t>Images</a:t>
            </a:r>
            <a:r>
              <a:rPr lang="en-AU" sz="1500" dirty="0"/>
              <a:t> should be used to engage, complement &amp; break-up text</a:t>
            </a:r>
          </a:p>
          <a:p>
            <a:pPr>
              <a:lnSpc>
                <a:spcPct val="90000"/>
              </a:lnSpc>
            </a:pPr>
            <a:r>
              <a:rPr lang="en-AU" sz="1500" b="1" dirty="0"/>
              <a:t>Navbars</a:t>
            </a:r>
            <a:r>
              <a:rPr lang="en-AU" sz="1500" dirty="0"/>
              <a:t> should be simple </a:t>
            </a:r>
            <a:r>
              <a:rPr lang="en-AU" sz="1500" u="sng" dirty="0"/>
              <a:t>BUT</a:t>
            </a:r>
            <a:r>
              <a:rPr lang="en-AU" sz="1500" dirty="0"/>
              <a:t> bow to convention</a:t>
            </a:r>
          </a:p>
          <a:p>
            <a:pPr>
              <a:lnSpc>
                <a:spcPct val="90000"/>
              </a:lnSpc>
            </a:pPr>
            <a:r>
              <a:rPr lang="en-AU" sz="1500" dirty="0"/>
              <a:t>Do not present users more than a few core </a:t>
            </a:r>
            <a:r>
              <a:rPr lang="en-AU" sz="1500" b="1" dirty="0"/>
              <a:t>options</a:t>
            </a:r>
            <a:endParaRPr lang="en-AU" sz="1500" dirty="0"/>
          </a:p>
          <a:p>
            <a:pPr>
              <a:lnSpc>
                <a:spcPct val="90000"/>
              </a:lnSpc>
            </a:pPr>
            <a:r>
              <a:rPr lang="en-AU" sz="1500" b="1" dirty="0"/>
              <a:t>Only use buttons for Calls to Action </a:t>
            </a:r>
            <a:r>
              <a:rPr lang="en-AU" sz="1500" dirty="0"/>
              <a:t>(use </a:t>
            </a:r>
            <a:r>
              <a:rPr lang="en-AU" sz="1500" i="1" dirty="0"/>
              <a:t>carefully</a:t>
            </a:r>
            <a:r>
              <a:rPr lang="en-AU" sz="1500" dirty="0"/>
              <a:t> - visual hierarchy)</a:t>
            </a:r>
          </a:p>
          <a:p>
            <a:pPr>
              <a:lnSpc>
                <a:spcPct val="90000"/>
              </a:lnSpc>
            </a:pPr>
            <a:endParaRPr lang="en-AU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AU" sz="1500" dirty="0"/>
              <a:t>… and per the </a:t>
            </a:r>
            <a:r>
              <a:rPr lang="en-AU" sz="1500" b="1" i="1" dirty="0">
                <a:solidFill>
                  <a:srgbClr val="CA9811"/>
                </a:solidFill>
              </a:rPr>
              <a:t>Golden Rule </a:t>
            </a:r>
            <a:r>
              <a:rPr lang="en-AU" sz="1500" dirty="0"/>
              <a:t>– </a:t>
            </a:r>
            <a:r>
              <a:rPr lang="en-AU" sz="1500" b="1" dirty="0"/>
              <a:t>ALWAYS</a:t>
            </a:r>
            <a:r>
              <a:rPr lang="en-AU" sz="1500" dirty="0"/>
              <a:t> put </a:t>
            </a:r>
            <a:r>
              <a:rPr lang="en-AU" sz="1500" b="1" dirty="0">
                <a:solidFill>
                  <a:srgbClr val="504FF6"/>
                </a:solidFill>
              </a:rPr>
              <a:t>user</a:t>
            </a:r>
            <a:r>
              <a:rPr lang="en-AU" sz="1500" dirty="0"/>
              <a:t> </a:t>
            </a:r>
            <a:r>
              <a:rPr lang="en-AU" sz="1500" b="1" dirty="0">
                <a:solidFill>
                  <a:srgbClr val="504FF6"/>
                </a:solidFill>
              </a:rPr>
              <a:t>experience</a:t>
            </a:r>
            <a:r>
              <a:rPr lang="en-AU" sz="1500" dirty="0"/>
              <a:t> </a:t>
            </a:r>
            <a:r>
              <a:rPr lang="en-AU" sz="1500" b="1" dirty="0"/>
              <a:t>FIRST</a:t>
            </a:r>
            <a:r>
              <a:rPr lang="en-AU" sz="1500" dirty="0"/>
              <a:t>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31130A-7D49-BBAB-0B82-4D030EF61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9318"/>
          <a:stretch/>
        </p:blipFill>
        <p:spPr>
          <a:xfrm>
            <a:off x="464577" y="1096772"/>
            <a:ext cx="4240722" cy="5761228"/>
          </a:xfrm>
          <a:prstGeom prst="rect">
            <a:avLst/>
          </a:prstGeom>
        </p:spPr>
      </p:pic>
      <p:sp>
        <p:nvSpPr>
          <p:cNvPr id="17" name="Cross 16">
            <a:extLst>
              <a:ext uri="{FF2B5EF4-FFF2-40B4-BE49-F238E27FC236}">
                <a16:creationId xmlns:a16="http://schemas.microsoft.com/office/drawing/2014/main" id="{70E25BEE-39F9-8149-A935-2E812D0E8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7867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DC122B-D3D5-6240-868F-3B1415AD6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3666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8546"/>
      </p:ext>
    </p:extLst>
  </p:cSld>
  <p:clrMapOvr>
    <a:masterClrMapping/>
  </p:clrMapOvr>
</p:sld>
</file>

<file path=ppt/theme/theme1.xml><?xml version="1.0" encoding="utf-8"?>
<a:theme xmlns:a="http://schemas.openxmlformats.org/drawingml/2006/main" name="MadridVTI">
  <a:themeElements>
    <a:clrScheme name="Madrid R3">
      <a:dk1>
        <a:srgbClr val="000000"/>
      </a:dk1>
      <a:lt1>
        <a:srgbClr val="FFFFFF"/>
      </a:lt1>
      <a:dk2>
        <a:srgbClr val="3A3C45"/>
      </a:dk2>
      <a:lt2>
        <a:srgbClr val="E9EFF1"/>
      </a:lt2>
      <a:accent1>
        <a:srgbClr val="E24400"/>
      </a:accent1>
      <a:accent2>
        <a:srgbClr val="F38E00"/>
      </a:accent2>
      <a:accent3>
        <a:srgbClr val="89B336"/>
      </a:accent3>
      <a:accent4>
        <a:srgbClr val="30B9B9"/>
      </a:accent4>
      <a:accent5>
        <a:srgbClr val="748CF4"/>
      </a:accent5>
      <a:accent6>
        <a:srgbClr val="A673F4"/>
      </a:accent6>
      <a:hlink>
        <a:srgbClr val="008EE6"/>
      </a:hlink>
      <a:folHlink>
        <a:srgbClr val="C1A187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1171</Words>
  <Application>Microsoft Macintosh PowerPoint</Application>
  <PresentationFormat>Widescreen</PresentationFormat>
  <Paragraphs>113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Avenir Next</vt:lpstr>
      <vt:lpstr>Fira Code</vt:lpstr>
      <vt:lpstr>Seaford Display</vt:lpstr>
      <vt:lpstr>System Font Regular</vt:lpstr>
      <vt:lpstr>Tenorite</vt:lpstr>
      <vt:lpstr>MadridVTI</vt:lpstr>
      <vt:lpstr>Modern Web Design –  Aspects, Trends &amp; The Golden Rule</vt:lpstr>
      <vt:lpstr>The Web Observed in Seconds …</vt:lpstr>
      <vt:lpstr>PowerPoint Presentation</vt:lpstr>
      <vt:lpstr>Design Subjectivity</vt:lpstr>
      <vt:lpstr>The Golden Rule</vt:lpstr>
      <vt:lpstr>What makes up “UX”</vt:lpstr>
      <vt:lpstr>1. Functional Layout</vt:lpstr>
      <vt:lpstr>Student Focus Test</vt:lpstr>
      <vt:lpstr>You will read this first</vt:lpstr>
      <vt:lpstr>2. Visual Hierarchy</vt:lpstr>
      <vt:lpstr>3. Navigability</vt:lpstr>
      <vt:lpstr>4. Conventionality</vt:lpstr>
      <vt:lpstr>Common Conventions</vt:lpstr>
      <vt:lpstr>5. Wide Useability</vt:lpstr>
      <vt:lpstr>The Depths</vt:lpstr>
      <vt:lpstr>Final Word on Trends &amp;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Web Design –  Aspects, Trends &amp; The Golden Rule</dc:title>
  <dc:creator>Alex Bicknell</dc:creator>
  <cp:lastModifiedBy>Alex Bicknell</cp:lastModifiedBy>
  <cp:revision>110</cp:revision>
  <dcterms:created xsi:type="dcterms:W3CDTF">2024-03-20T11:49:21Z</dcterms:created>
  <dcterms:modified xsi:type="dcterms:W3CDTF">2024-03-20T15:13:12Z</dcterms:modified>
</cp:coreProperties>
</file>