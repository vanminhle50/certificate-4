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1" r:id="rId3"/>
    <p:sldId id="280" r:id="rId4"/>
    <p:sldId id="282" r:id="rId5"/>
    <p:sldId id="259" r:id="rId6"/>
    <p:sldId id="260" r:id="rId7"/>
    <p:sldId id="283" r:id="rId8"/>
    <p:sldId id="279" r:id="rId9"/>
    <p:sldId id="277" r:id="rId10"/>
    <p:sldId id="288" r:id="rId11"/>
    <p:sldId id="284" r:id="rId12"/>
    <p:sldId id="265" r:id="rId13"/>
    <p:sldId id="268" r:id="rId14"/>
    <p:sldId id="269" r:id="rId15"/>
    <p:sldId id="289" r:id="rId16"/>
    <p:sldId id="270" r:id="rId17"/>
    <p:sldId id="285" r:id="rId18"/>
    <p:sldId id="266" r:id="rId19"/>
    <p:sldId id="271" r:id="rId20"/>
    <p:sldId id="286" r:id="rId21"/>
    <p:sldId id="267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291"/>
  </p:normalViewPr>
  <p:slideViewPr>
    <p:cSldViewPr snapToGrid="0">
      <p:cViewPr varScale="1">
        <p:scale>
          <a:sx n="127" d="100"/>
          <a:sy n="127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97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F48A55-EB60-48C1-983C-5723D7A93006}" type="doc">
      <dgm:prSet loTypeId="urn:microsoft.com/office/officeart/2005/8/layout/cycle3" loCatId="cycle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EC6846B-3219-4FAC-909D-B9B3F65D0A62}">
      <dgm:prSet/>
      <dgm:spPr/>
      <dgm:t>
        <a:bodyPr/>
        <a:lstStyle/>
        <a:p>
          <a:r>
            <a:rPr lang="en-AU"/>
            <a:t>Beta testing</a:t>
          </a:r>
          <a:endParaRPr lang="en-US"/>
        </a:p>
      </dgm:t>
    </dgm:pt>
    <dgm:pt modelId="{A7750E04-DBFF-42A2-B80D-E9534E613D39}" type="parTrans" cxnId="{63FF722F-5CA0-4B27-ADA3-12E0A501B264}">
      <dgm:prSet/>
      <dgm:spPr/>
      <dgm:t>
        <a:bodyPr/>
        <a:lstStyle/>
        <a:p>
          <a:endParaRPr lang="en-US"/>
        </a:p>
      </dgm:t>
    </dgm:pt>
    <dgm:pt modelId="{0AF6A436-669B-4E22-AFCB-EAA1F36C1D7A}" type="sibTrans" cxnId="{63FF722F-5CA0-4B27-ADA3-12E0A501B264}">
      <dgm:prSet/>
      <dgm:spPr/>
      <dgm:t>
        <a:bodyPr/>
        <a:lstStyle/>
        <a:p>
          <a:endParaRPr lang="en-US"/>
        </a:p>
      </dgm:t>
    </dgm:pt>
    <dgm:pt modelId="{A034CA0D-3389-441B-B825-4EA5BFF134D8}">
      <dgm:prSet/>
      <dgm:spPr/>
      <dgm:t>
        <a:bodyPr/>
        <a:lstStyle/>
        <a:p>
          <a:r>
            <a:rPr lang="en-AU"/>
            <a:t>Mobile-friendly testing</a:t>
          </a:r>
          <a:endParaRPr lang="en-US"/>
        </a:p>
      </dgm:t>
    </dgm:pt>
    <dgm:pt modelId="{3592FB1B-E317-4528-9008-8DF7349123B9}" type="parTrans" cxnId="{45A80EBC-791B-476D-892D-C8946F9F12C4}">
      <dgm:prSet/>
      <dgm:spPr/>
      <dgm:t>
        <a:bodyPr/>
        <a:lstStyle/>
        <a:p>
          <a:endParaRPr lang="en-US"/>
        </a:p>
      </dgm:t>
    </dgm:pt>
    <dgm:pt modelId="{AC3863FE-5647-405B-8031-60C31BFC1255}" type="sibTrans" cxnId="{45A80EBC-791B-476D-892D-C8946F9F12C4}">
      <dgm:prSet/>
      <dgm:spPr/>
      <dgm:t>
        <a:bodyPr/>
        <a:lstStyle/>
        <a:p>
          <a:endParaRPr lang="en-US"/>
        </a:p>
      </dgm:t>
    </dgm:pt>
    <dgm:pt modelId="{F3EF8C72-2137-4F44-BAA9-B842D421E428}">
      <dgm:prSet/>
      <dgm:spPr/>
      <dgm:t>
        <a:bodyPr/>
        <a:lstStyle/>
        <a:p>
          <a:r>
            <a:rPr lang="en-AU" dirty="0"/>
            <a:t>Change related testing</a:t>
          </a:r>
          <a:endParaRPr lang="en-US" dirty="0"/>
        </a:p>
      </dgm:t>
    </dgm:pt>
    <dgm:pt modelId="{1C40EA4B-A24E-4B94-8B08-9F80F22D9FE1}" type="parTrans" cxnId="{F4A5DAB4-F9CC-4604-BAE0-003027509CEA}">
      <dgm:prSet/>
      <dgm:spPr/>
      <dgm:t>
        <a:bodyPr/>
        <a:lstStyle/>
        <a:p>
          <a:endParaRPr lang="en-US"/>
        </a:p>
      </dgm:t>
    </dgm:pt>
    <dgm:pt modelId="{93DCCA27-E8AF-45FD-B1A0-55824D73F45D}" type="sibTrans" cxnId="{F4A5DAB4-F9CC-4604-BAE0-003027509CEA}">
      <dgm:prSet/>
      <dgm:spPr/>
      <dgm:t>
        <a:bodyPr/>
        <a:lstStyle/>
        <a:p>
          <a:endParaRPr lang="en-US"/>
        </a:p>
      </dgm:t>
    </dgm:pt>
    <dgm:pt modelId="{D0D9B6CF-965A-4C90-BF3F-760C9D34EE4F}">
      <dgm:prSet/>
      <dgm:spPr/>
      <dgm:t>
        <a:bodyPr/>
        <a:lstStyle/>
        <a:p>
          <a:r>
            <a:rPr lang="en-AU"/>
            <a:t>Security testing</a:t>
          </a:r>
          <a:endParaRPr lang="en-US"/>
        </a:p>
      </dgm:t>
    </dgm:pt>
    <dgm:pt modelId="{638F9F78-12B8-499B-A1D2-ED6C29A2DCD0}" type="parTrans" cxnId="{5FEDDD97-28DC-494B-9C18-E08E4F7A8C15}">
      <dgm:prSet/>
      <dgm:spPr/>
      <dgm:t>
        <a:bodyPr/>
        <a:lstStyle/>
        <a:p>
          <a:endParaRPr lang="en-US"/>
        </a:p>
      </dgm:t>
    </dgm:pt>
    <dgm:pt modelId="{248C88F8-B087-471C-90F7-CEB2927A7FF8}" type="sibTrans" cxnId="{5FEDDD97-28DC-494B-9C18-E08E4F7A8C15}">
      <dgm:prSet/>
      <dgm:spPr/>
      <dgm:t>
        <a:bodyPr/>
        <a:lstStyle/>
        <a:p>
          <a:endParaRPr lang="en-US"/>
        </a:p>
      </dgm:t>
    </dgm:pt>
    <dgm:pt modelId="{B7CCA148-8107-429C-91E3-5C9D5C5C5F29}">
      <dgm:prSet/>
      <dgm:spPr/>
      <dgm:t>
        <a:bodyPr/>
        <a:lstStyle/>
        <a:p>
          <a:r>
            <a:rPr lang="en-AU" dirty="0"/>
            <a:t>Performance testing</a:t>
          </a:r>
          <a:endParaRPr lang="en-US" dirty="0"/>
        </a:p>
      </dgm:t>
    </dgm:pt>
    <dgm:pt modelId="{EDA5C7F1-5C65-4586-A0A3-833DB489CB6C}" type="parTrans" cxnId="{56AA5464-932E-4D5E-8216-397E041C774D}">
      <dgm:prSet/>
      <dgm:spPr/>
      <dgm:t>
        <a:bodyPr/>
        <a:lstStyle/>
        <a:p>
          <a:endParaRPr lang="en-US"/>
        </a:p>
      </dgm:t>
    </dgm:pt>
    <dgm:pt modelId="{D8FC12A4-E0F6-48CC-AC17-A9775BEAECFF}" type="sibTrans" cxnId="{56AA5464-932E-4D5E-8216-397E041C774D}">
      <dgm:prSet/>
      <dgm:spPr/>
      <dgm:t>
        <a:bodyPr/>
        <a:lstStyle/>
        <a:p>
          <a:endParaRPr lang="en-US"/>
        </a:p>
      </dgm:t>
    </dgm:pt>
    <dgm:pt modelId="{FCE7E2B3-B63B-4851-BCC2-4B6EAE358F05}">
      <dgm:prSet/>
      <dgm:spPr/>
      <dgm:t>
        <a:bodyPr/>
        <a:lstStyle/>
        <a:p>
          <a:r>
            <a:rPr lang="en-AU"/>
            <a:t>Documentation testing</a:t>
          </a:r>
          <a:endParaRPr lang="en-US"/>
        </a:p>
      </dgm:t>
    </dgm:pt>
    <dgm:pt modelId="{E7F29BD4-46E5-42DB-9878-F19BFA0D8CFF}" type="parTrans" cxnId="{BB50AE11-570D-4428-BD53-ACAE34033643}">
      <dgm:prSet/>
      <dgm:spPr/>
      <dgm:t>
        <a:bodyPr/>
        <a:lstStyle/>
        <a:p>
          <a:endParaRPr lang="en-US"/>
        </a:p>
      </dgm:t>
    </dgm:pt>
    <dgm:pt modelId="{342CC607-567C-4198-A1A2-1BB384749168}" type="sibTrans" cxnId="{BB50AE11-570D-4428-BD53-ACAE34033643}">
      <dgm:prSet/>
      <dgm:spPr/>
      <dgm:t>
        <a:bodyPr/>
        <a:lstStyle/>
        <a:p>
          <a:endParaRPr lang="en-US"/>
        </a:p>
      </dgm:t>
    </dgm:pt>
    <dgm:pt modelId="{24DE7303-FC84-400B-8852-4166743D9C01}">
      <dgm:prSet/>
      <dgm:spPr/>
      <dgm:t>
        <a:bodyPr/>
        <a:lstStyle/>
        <a:p>
          <a:r>
            <a:rPr lang="en-AU"/>
            <a:t>Functional testing</a:t>
          </a:r>
          <a:endParaRPr lang="en-US"/>
        </a:p>
      </dgm:t>
    </dgm:pt>
    <dgm:pt modelId="{E8E9AD83-0A0C-478B-BD62-9EAD78248634}" type="parTrans" cxnId="{A790C25B-FD90-41E1-B759-FADD06CA8292}">
      <dgm:prSet/>
      <dgm:spPr/>
      <dgm:t>
        <a:bodyPr/>
        <a:lstStyle/>
        <a:p>
          <a:endParaRPr lang="en-US"/>
        </a:p>
      </dgm:t>
    </dgm:pt>
    <dgm:pt modelId="{B895E24A-3828-426A-8A4B-FE1642BD0277}" type="sibTrans" cxnId="{A790C25B-FD90-41E1-B759-FADD06CA8292}">
      <dgm:prSet/>
      <dgm:spPr/>
      <dgm:t>
        <a:bodyPr/>
        <a:lstStyle/>
        <a:p>
          <a:endParaRPr lang="en-US"/>
        </a:p>
      </dgm:t>
    </dgm:pt>
    <dgm:pt modelId="{0CED0562-3E76-414D-BEBD-9032DC85AAA8}">
      <dgm:prSet/>
      <dgm:spPr/>
      <dgm:t>
        <a:bodyPr/>
        <a:lstStyle/>
        <a:p>
          <a:r>
            <a:rPr lang="en-AU" dirty="0"/>
            <a:t>Usability testing</a:t>
          </a:r>
          <a:endParaRPr lang="en-US" dirty="0"/>
        </a:p>
      </dgm:t>
    </dgm:pt>
    <dgm:pt modelId="{E4D599F6-8F80-4AD0-91BD-C49100C881FB}" type="parTrans" cxnId="{C008206F-9D69-4ED2-861E-3C9832173E2E}">
      <dgm:prSet/>
      <dgm:spPr/>
      <dgm:t>
        <a:bodyPr/>
        <a:lstStyle/>
        <a:p>
          <a:endParaRPr lang="en-US"/>
        </a:p>
      </dgm:t>
    </dgm:pt>
    <dgm:pt modelId="{72E3D545-C90F-42A6-A951-0915786B98D8}" type="sibTrans" cxnId="{C008206F-9D69-4ED2-861E-3C9832173E2E}">
      <dgm:prSet/>
      <dgm:spPr/>
      <dgm:t>
        <a:bodyPr/>
        <a:lstStyle/>
        <a:p>
          <a:endParaRPr lang="en-US"/>
        </a:p>
      </dgm:t>
    </dgm:pt>
    <dgm:pt modelId="{C7F50E54-1152-4965-9DCF-DD3E0133F7A0}">
      <dgm:prSet/>
      <dgm:spPr/>
      <dgm:t>
        <a:bodyPr/>
        <a:lstStyle/>
        <a:p>
          <a:r>
            <a:rPr lang="en-AU"/>
            <a:t>UI testing</a:t>
          </a:r>
          <a:endParaRPr lang="en-US"/>
        </a:p>
      </dgm:t>
    </dgm:pt>
    <dgm:pt modelId="{ACE7AB2E-CC4C-42C7-A9D3-6B102B971422}" type="parTrans" cxnId="{7DD0CB3D-70BB-47C8-B21B-CBDFF6D3B4CA}">
      <dgm:prSet/>
      <dgm:spPr/>
      <dgm:t>
        <a:bodyPr/>
        <a:lstStyle/>
        <a:p>
          <a:endParaRPr lang="en-US"/>
        </a:p>
      </dgm:t>
    </dgm:pt>
    <dgm:pt modelId="{AA1229BD-5149-4751-8E46-2688F0C5DE43}" type="sibTrans" cxnId="{7DD0CB3D-70BB-47C8-B21B-CBDFF6D3B4CA}">
      <dgm:prSet/>
      <dgm:spPr/>
      <dgm:t>
        <a:bodyPr/>
        <a:lstStyle/>
        <a:p>
          <a:endParaRPr lang="en-US"/>
        </a:p>
      </dgm:t>
    </dgm:pt>
    <dgm:pt modelId="{A30AB289-4E0F-469A-A4F4-15793824D668}">
      <dgm:prSet/>
      <dgm:spPr/>
      <dgm:t>
        <a:bodyPr/>
        <a:lstStyle/>
        <a:p>
          <a:r>
            <a:rPr lang="en-AU"/>
            <a:t>Compatibility (Configuration) testing </a:t>
          </a:r>
          <a:endParaRPr lang="en-US"/>
        </a:p>
      </dgm:t>
    </dgm:pt>
    <dgm:pt modelId="{77333E3A-B226-477F-A59D-92E7145E03F1}" type="parTrans" cxnId="{A1352B94-13FB-4F13-B287-A2CB24790BD5}">
      <dgm:prSet/>
      <dgm:spPr/>
      <dgm:t>
        <a:bodyPr/>
        <a:lstStyle/>
        <a:p>
          <a:endParaRPr lang="en-US"/>
        </a:p>
      </dgm:t>
    </dgm:pt>
    <dgm:pt modelId="{BC543CF5-A7DB-4925-ADE8-922F17DD6EA5}" type="sibTrans" cxnId="{A1352B94-13FB-4F13-B287-A2CB24790BD5}">
      <dgm:prSet/>
      <dgm:spPr/>
      <dgm:t>
        <a:bodyPr/>
        <a:lstStyle/>
        <a:p>
          <a:endParaRPr lang="en-US"/>
        </a:p>
      </dgm:t>
    </dgm:pt>
    <dgm:pt modelId="{07F6DA5D-1A70-8A4D-A5D3-C135A7DA75D9}" type="pres">
      <dgm:prSet presAssocID="{3BF48A55-EB60-48C1-983C-5723D7A93006}" presName="Name0" presStyleCnt="0">
        <dgm:presLayoutVars>
          <dgm:dir/>
          <dgm:resizeHandles val="exact"/>
        </dgm:presLayoutVars>
      </dgm:prSet>
      <dgm:spPr/>
    </dgm:pt>
    <dgm:pt modelId="{6E834184-9E92-CC4A-88EA-127433DE97FC}" type="pres">
      <dgm:prSet presAssocID="{3BF48A55-EB60-48C1-983C-5723D7A93006}" presName="cycle" presStyleCnt="0"/>
      <dgm:spPr/>
    </dgm:pt>
    <dgm:pt modelId="{F251EF1F-7104-6045-A956-C3928536E3F2}" type="pres">
      <dgm:prSet presAssocID="{3EC6846B-3219-4FAC-909D-B9B3F65D0A62}" presName="nodeFirstNode" presStyleLbl="node1" presStyleIdx="0" presStyleCnt="10">
        <dgm:presLayoutVars>
          <dgm:bulletEnabled val="1"/>
        </dgm:presLayoutVars>
      </dgm:prSet>
      <dgm:spPr/>
    </dgm:pt>
    <dgm:pt modelId="{D43FBD2D-0988-0141-A957-447CE7BAB95A}" type="pres">
      <dgm:prSet presAssocID="{0AF6A436-669B-4E22-AFCB-EAA1F36C1D7A}" presName="sibTransFirstNode" presStyleLbl="bgShp" presStyleIdx="0" presStyleCnt="1"/>
      <dgm:spPr/>
    </dgm:pt>
    <dgm:pt modelId="{1FA64BC2-2678-E144-8814-A88AED6D8CE4}" type="pres">
      <dgm:prSet presAssocID="{A034CA0D-3389-441B-B825-4EA5BFF134D8}" presName="nodeFollowingNodes" presStyleLbl="node1" presStyleIdx="1" presStyleCnt="10">
        <dgm:presLayoutVars>
          <dgm:bulletEnabled val="1"/>
        </dgm:presLayoutVars>
      </dgm:prSet>
      <dgm:spPr/>
    </dgm:pt>
    <dgm:pt modelId="{8FBC2351-11FE-5A4E-9E6F-BA9DE34CB7D6}" type="pres">
      <dgm:prSet presAssocID="{F3EF8C72-2137-4F44-BAA9-B842D421E428}" presName="nodeFollowingNodes" presStyleLbl="node1" presStyleIdx="2" presStyleCnt="10">
        <dgm:presLayoutVars>
          <dgm:bulletEnabled val="1"/>
        </dgm:presLayoutVars>
      </dgm:prSet>
      <dgm:spPr/>
    </dgm:pt>
    <dgm:pt modelId="{392A0604-FC0A-824B-837D-584B441E877A}" type="pres">
      <dgm:prSet presAssocID="{D0D9B6CF-965A-4C90-BF3F-760C9D34EE4F}" presName="nodeFollowingNodes" presStyleLbl="node1" presStyleIdx="3" presStyleCnt="10">
        <dgm:presLayoutVars>
          <dgm:bulletEnabled val="1"/>
        </dgm:presLayoutVars>
      </dgm:prSet>
      <dgm:spPr/>
    </dgm:pt>
    <dgm:pt modelId="{F8357749-E403-0444-8E00-AEF7DA651600}" type="pres">
      <dgm:prSet presAssocID="{B7CCA148-8107-429C-91E3-5C9D5C5C5F29}" presName="nodeFollowingNodes" presStyleLbl="node1" presStyleIdx="4" presStyleCnt="10">
        <dgm:presLayoutVars>
          <dgm:bulletEnabled val="1"/>
        </dgm:presLayoutVars>
      </dgm:prSet>
      <dgm:spPr/>
    </dgm:pt>
    <dgm:pt modelId="{C09756C7-0213-274C-87A3-2C4D47E09F80}" type="pres">
      <dgm:prSet presAssocID="{FCE7E2B3-B63B-4851-BCC2-4B6EAE358F05}" presName="nodeFollowingNodes" presStyleLbl="node1" presStyleIdx="5" presStyleCnt="10">
        <dgm:presLayoutVars>
          <dgm:bulletEnabled val="1"/>
        </dgm:presLayoutVars>
      </dgm:prSet>
      <dgm:spPr/>
    </dgm:pt>
    <dgm:pt modelId="{2509C959-E014-3E43-85FC-F34E92ECB20E}" type="pres">
      <dgm:prSet presAssocID="{24DE7303-FC84-400B-8852-4166743D9C01}" presName="nodeFollowingNodes" presStyleLbl="node1" presStyleIdx="6" presStyleCnt="10">
        <dgm:presLayoutVars>
          <dgm:bulletEnabled val="1"/>
        </dgm:presLayoutVars>
      </dgm:prSet>
      <dgm:spPr/>
    </dgm:pt>
    <dgm:pt modelId="{F9F40D65-9334-9849-8247-A6C83A9DF376}" type="pres">
      <dgm:prSet presAssocID="{0CED0562-3E76-414D-BEBD-9032DC85AAA8}" presName="nodeFollowingNodes" presStyleLbl="node1" presStyleIdx="7" presStyleCnt="10">
        <dgm:presLayoutVars>
          <dgm:bulletEnabled val="1"/>
        </dgm:presLayoutVars>
      </dgm:prSet>
      <dgm:spPr/>
    </dgm:pt>
    <dgm:pt modelId="{86450B7E-DAA0-3744-83DB-6260E20E7EAA}" type="pres">
      <dgm:prSet presAssocID="{C7F50E54-1152-4965-9DCF-DD3E0133F7A0}" presName="nodeFollowingNodes" presStyleLbl="node1" presStyleIdx="8" presStyleCnt="10">
        <dgm:presLayoutVars>
          <dgm:bulletEnabled val="1"/>
        </dgm:presLayoutVars>
      </dgm:prSet>
      <dgm:spPr/>
    </dgm:pt>
    <dgm:pt modelId="{3FDC4AA6-D51D-7048-9475-AC9F9DD71071}" type="pres">
      <dgm:prSet presAssocID="{A30AB289-4E0F-469A-A4F4-15793824D668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7CA14E08-CE01-1B4A-A584-8E996FDBF01F}" type="presOf" srcId="{0CED0562-3E76-414D-BEBD-9032DC85AAA8}" destId="{F9F40D65-9334-9849-8247-A6C83A9DF376}" srcOrd="0" destOrd="0" presId="urn:microsoft.com/office/officeart/2005/8/layout/cycle3"/>
    <dgm:cxn modelId="{BB50AE11-570D-4428-BD53-ACAE34033643}" srcId="{3BF48A55-EB60-48C1-983C-5723D7A93006}" destId="{FCE7E2B3-B63B-4851-BCC2-4B6EAE358F05}" srcOrd="5" destOrd="0" parTransId="{E7F29BD4-46E5-42DB-9878-F19BFA0D8CFF}" sibTransId="{342CC607-567C-4198-A1A2-1BB384749168}"/>
    <dgm:cxn modelId="{48BD5117-3ED1-F74A-9155-6B2DFAA83550}" type="presOf" srcId="{FCE7E2B3-B63B-4851-BCC2-4B6EAE358F05}" destId="{C09756C7-0213-274C-87A3-2C4D47E09F80}" srcOrd="0" destOrd="0" presId="urn:microsoft.com/office/officeart/2005/8/layout/cycle3"/>
    <dgm:cxn modelId="{0808C924-6EB2-A24A-AF77-0DCC85FC540D}" type="presOf" srcId="{C7F50E54-1152-4965-9DCF-DD3E0133F7A0}" destId="{86450B7E-DAA0-3744-83DB-6260E20E7EAA}" srcOrd="0" destOrd="0" presId="urn:microsoft.com/office/officeart/2005/8/layout/cycle3"/>
    <dgm:cxn modelId="{63FF722F-5CA0-4B27-ADA3-12E0A501B264}" srcId="{3BF48A55-EB60-48C1-983C-5723D7A93006}" destId="{3EC6846B-3219-4FAC-909D-B9B3F65D0A62}" srcOrd="0" destOrd="0" parTransId="{A7750E04-DBFF-42A2-B80D-E9534E613D39}" sibTransId="{0AF6A436-669B-4E22-AFCB-EAA1F36C1D7A}"/>
    <dgm:cxn modelId="{7DD0CB3D-70BB-47C8-B21B-CBDFF6D3B4CA}" srcId="{3BF48A55-EB60-48C1-983C-5723D7A93006}" destId="{C7F50E54-1152-4965-9DCF-DD3E0133F7A0}" srcOrd="8" destOrd="0" parTransId="{ACE7AB2E-CC4C-42C7-A9D3-6B102B971422}" sibTransId="{AA1229BD-5149-4751-8E46-2688F0C5DE43}"/>
    <dgm:cxn modelId="{790BF747-6976-C54E-B93D-86D14CB7B0B0}" type="presOf" srcId="{A30AB289-4E0F-469A-A4F4-15793824D668}" destId="{3FDC4AA6-D51D-7048-9475-AC9F9DD71071}" srcOrd="0" destOrd="0" presId="urn:microsoft.com/office/officeart/2005/8/layout/cycle3"/>
    <dgm:cxn modelId="{FE5DDB55-7C38-5A4F-97ED-FBA888834435}" type="presOf" srcId="{0AF6A436-669B-4E22-AFCB-EAA1F36C1D7A}" destId="{D43FBD2D-0988-0141-A957-447CE7BAB95A}" srcOrd="0" destOrd="0" presId="urn:microsoft.com/office/officeart/2005/8/layout/cycle3"/>
    <dgm:cxn modelId="{A790C25B-FD90-41E1-B759-FADD06CA8292}" srcId="{3BF48A55-EB60-48C1-983C-5723D7A93006}" destId="{24DE7303-FC84-400B-8852-4166743D9C01}" srcOrd="6" destOrd="0" parTransId="{E8E9AD83-0A0C-478B-BD62-9EAD78248634}" sibTransId="{B895E24A-3828-426A-8A4B-FE1642BD0277}"/>
    <dgm:cxn modelId="{9E74D063-36B6-C64D-98AB-615E0D6B9350}" type="presOf" srcId="{D0D9B6CF-965A-4C90-BF3F-760C9D34EE4F}" destId="{392A0604-FC0A-824B-837D-584B441E877A}" srcOrd="0" destOrd="0" presId="urn:microsoft.com/office/officeart/2005/8/layout/cycle3"/>
    <dgm:cxn modelId="{56AA5464-932E-4D5E-8216-397E041C774D}" srcId="{3BF48A55-EB60-48C1-983C-5723D7A93006}" destId="{B7CCA148-8107-429C-91E3-5C9D5C5C5F29}" srcOrd="4" destOrd="0" parTransId="{EDA5C7F1-5C65-4586-A0A3-833DB489CB6C}" sibTransId="{D8FC12A4-E0F6-48CC-AC17-A9775BEAECFF}"/>
    <dgm:cxn modelId="{B1EB0869-22E3-9844-90AA-54AEB3B29B96}" type="presOf" srcId="{24DE7303-FC84-400B-8852-4166743D9C01}" destId="{2509C959-E014-3E43-85FC-F34E92ECB20E}" srcOrd="0" destOrd="0" presId="urn:microsoft.com/office/officeart/2005/8/layout/cycle3"/>
    <dgm:cxn modelId="{C008206F-9D69-4ED2-861E-3C9832173E2E}" srcId="{3BF48A55-EB60-48C1-983C-5723D7A93006}" destId="{0CED0562-3E76-414D-BEBD-9032DC85AAA8}" srcOrd="7" destOrd="0" parTransId="{E4D599F6-8F80-4AD0-91BD-C49100C881FB}" sibTransId="{72E3D545-C90F-42A6-A951-0915786B98D8}"/>
    <dgm:cxn modelId="{5D204B7E-9423-6D42-8A64-379FCAC74984}" type="presOf" srcId="{B7CCA148-8107-429C-91E3-5C9D5C5C5F29}" destId="{F8357749-E403-0444-8E00-AEF7DA651600}" srcOrd="0" destOrd="0" presId="urn:microsoft.com/office/officeart/2005/8/layout/cycle3"/>
    <dgm:cxn modelId="{A1352B94-13FB-4F13-B287-A2CB24790BD5}" srcId="{3BF48A55-EB60-48C1-983C-5723D7A93006}" destId="{A30AB289-4E0F-469A-A4F4-15793824D668}" srcOrd="9" destOrd="0" parTransId="{77333E3A-B226-477F-A59D-92E7145E03F1}" sibTransId="{BC543CF5-A7DB-4925-ADE8-922F17DD6EA5}"/>
    <dgm:cxn modelId="{5FEDDD97-28DC-494B-9C18-E08E4F7A8C15}" srcId="{3BF48A55-EB60-48C1-983C-5723D7A93006}" destId="{D0D9B6CF-965A-4C90-BF3F-760C9D34EE4F}" srcOrd="3" destOrd="0" parTransId="{638F9F78-12B8-499B-A1D2-ED6C29A2DCD0}" sibTransId="{248C88F8-B087-471C-90F7-CEB2927A7FF8}"/>
    <dgm:cxn modelId="{20ABD99E-B892-4C44-B42B-5B8FB30EE2CE}" type="presOf" srcId="{A034CA0D-3389-441B-B825-4EA5BFF134D8}" destId="{1FA64BC2-2678-E144-8814-A88AED6D8CE4}" srcOrd="0" destOrd="0" presId="urn:microsoft.com/office/officeart/2005/8/layout/cycle3"/>
    <dgm:cxn modelId="{F9A8E3A7-6599-F944-B936-37825F0258F9}" type="presOf" srcId="{F3EF8C72-2137-4F44-BAA9-B842D421E428}" destId="{8FBC2351-11FE-5A4E-9E6F-BA9DE34CB7D6}" srcOrd="0" destOrd="0" presId="urn:microsoft.com/office/officeart/2005/8/layout/cycle3"/>
    <dgm:cxn modelId="{F4A5DAB4-F9CC-4604-BAE0-003027509CEA}" srcId="{3BF48A55-EB60-48C1-983C-5723D7A93006}" destId="{F3EF8C72-2137-4F44-BAA9-B842D421E428}" srcOrd="2" destOrd="0" parTransId="{1C40EA4B-A24E-4B94-8B08-9F80F22D9FE1}" sibTransId="{93DCCA27-E8AF-45FD-B1A0-55824D73F45D}"/>
    <dgm:cxn modelId="{45A80EBC-791B-476D-892D-C8946F9F12C4}" srcId="{3BF48A55-EB60-48C1-983C-5723D7A93006}" destId="{A034CA0D-3389-441B-B825-4EA5BFF134D8}" srcOrd="1" destOrd="0" parTransId="{3592FB1B-E317-4528-9008-8DF7349123B9}" sibTransId="{AC3863FE-5647-405B-8031-60C31BFC1255}"/>
    <dgm:cxn modelId="{32304BDB-208E-E749-8105-DC194B1495D9}" type="presOf" srcId="{3EC6846B-3219-4FAC-909D-B9B3F65D0A62}" destId="{F251EF1F-7104-6045-A956-C3928536E3F2}" srcOrd="0" destOrd="0" presId="urn:microsoft.com/office/officeart/2005/8/layout/cycle3"/>
    <dgm:cxn modelId="{E2E906ED-EFA4-0043-93C7-F082F281CF1D}" type="presOf" srcId="{3BF48A55-EB60-48C1-983C-5723D7A93006}" destId="{07F6DA5D-1A70-8A4D-A5D3-C135A7DA75D9}" srcOrd="0" destOrd="0" presId="urn:microsoft.com/office/officeart/2005/8/layout/cycle3"/>
    <dgm:cxn modelId="{3D8B6C19-936A-024F-BDCA-EFF3AFBC2527}" type="presParOf" srcId="{07F6DA5D-1A70-8A4D-A5D3-C135A7DA75D9}" destId="{6E834184-9E92-CC4A-88EA-127433DE97FC}" srcOrd="0" destOrd="0" presId="urn:microsoft.com/office/officeart/2005/8/layout/cycle3"/>
    <dgm:cxn modelId="{5935CB43-E0C4-0A42-BEA3-00B21FE16396}" type="presParOf" srcId="{6E834184-9E92-CC4A-88EA-127433DE97FC}" destId="{F251EF1F-7104-6045-A956-C3928536E3F2}" srcOrd="0" destOrd="0" presId="urn:microsoft.com/office/officeart/2005/8/layout/cycle3"/>
    <dgm:cxn modelId="{A5A2926C-DFE8-3341-96D2-F8897CD547DA}" type="presParOf" srcId="{6E834184-9E92-CC4A-88EA-127433DE97FC}" destId="{D43FBD2D-0988-0141-A957-447CE7BAB95A}" srcOrd="1" destOrd="0" presId="urn:microsoft.com/office/officeart/2005/8/layout/cycle3"/>
    <dgm:cxn modelId="{7672FCA3-B1D6-E04C-9442-7B429D01E954}" type="presParOf" srcId="{6E834184-9E92-CC4A-88EA-127433DE97FC}" destId="{1FA64BC2-2678-E144-8814-A88AED6D8CE4}" srcOrd="2" destOrd="0" presId="urn:microsoft.com/office/officeart/2005/8/layout/cycle3"/>
    <dgm:cxn modelId="{574D4ED5-4D69-7E46-B8DA-51494E706FF2}" type="presParOf" srcId="{6E834184-9E92-CC4A-88EA-127433DE97FC}" destId="{8FBC2351-11FE-5A4E-9E6F-BA9DE34CB7D6}" srcOrd="3" destOrd="0" presId="urn:microsoft.com/office/officeart/2005/8/layout/cycle3"/>
    <dgm:cxn modelId="{773A4A06-AA92-D445-9C0C-0D8596EA5F4D}" type="presParOf" srcId="{6E834184-9E92-CC4A-88EA-127433DE97FC}" destId="{392A0604-FC0A-824B-837D-584B441E877A}" srcOrd="4" destOrd="0" presId="urn:microsoft.com/office/officeart/2005/8/layout/cycle3"/>
    <dgm:cxn modelId="{D7CD88C8-9312-6045-9C56-3C6DD83A0BD6}" type="presParOf" srcId="{6E834184-9E92-CC4A-88EA-127433DE97FC}" destId="{F8357749-E403-0444-8E00-AEF7DA651600}" srcOrd="5" destOrd="0" presId="urn:microsoft.com/office/officeart/2005/8/layout/cycle3"/>
    <dgm:cxn modelId="{2C9EC85A-873B-0B4D-90B3-8790B9BA91E4}" type="presParOf" srcId="{6E834184-9E92-CC4A-88EA-127433DE97FC}" destId="{C09756C7-0213-274C-87A3-2C4D47E09F80}" srcOrd="6" destOrd="0" presId="urn:microsoft.com/office/officeart/2005/8/layout/cycle3"/>
    <dgm:cxn modelId="{C156490C-3EA4-0845-A337-625D3D20EE98}" type="presParOf" srcId="{6E834184-9E92-CC4A-88EA-127433DE97FC}" destId="{2509C959-E014-3E43-85FC-F34E92ECB20E}" srcOrd="7" destOrd="0" presId="urn:microsoft.com/office/officeart/2005/8/layout/cycle3"/>
    <dgm:cxn modelId="{85A2F94A-263B-9540-B09A-8601BD37A0B5}" type="presParOf" srcId="{6E834184-9E92-CC4A-88EA-127433DE97FC}" destId="{F9F40D65-9334-9849-8247-A6C83A9DF376}" srcOrd="8" destOrd="0" presId="urn:microsoft.com/office/officeart/2005/8/layout/cycle3"/>
    <dgm:cxn modelId="{835B16C5-2396-9348-897C-EA01CFE50377}" type="presParOf" srcId="{6E834184-9E92-CC4A-88EA-127433DE97FC}" destId="{86450B7E-DAA0-3744-83DB-6260E20E7EAA}" srcOrd="9" destOrd="0" presId="urn:microsoft.com/office/officeart/2005/8/layout/cycle3"/>
    <dgm:cxn modelId="{DA9F59FB-28B2-134D-B02B-7DD9A6F92E1E}" type="presParOf" srcId="{6E834184-9E92-CC4A-88EA-127433DE97FC}" destId="{3FDC4AA6-D51D-7048-9475-AC9F9DD71071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F48A55-EB60-48C1-983C-5723D7A93006}" type="doc">
      <dgm:prSet loTypeId="urn:microsoft.com/office/officeart/2005/8/layout/cycle3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EC6846B-3219-4FAC-909D-B9B3F65D0A62}">
      <dgm:prSet/>
      <dgm:spPr/>
      <dgm:t>
        <a:bodyPr/>
        <a:lstStyle/>
        <a:p>
          <a:r>
            <a:rPr lang="en-AU"/>
            <a:t>Beta testing</a:t>
          </a:r>
          <a:endParaRPr lang="en-US"/>
        </a:p>
      </dgm:t>
    </dgm:pt>
    <dgm:pt modelId="{A7750E04-DBFF-42A2-B80D-E9534E613D39}" type="parTrans" cxnId="{63FF722F-5CA0-4B27-ADA3-12E0A501B264}">
      <dgm:prSet/>
      <dgm:spPr/>
      <dgm:t>
        <a:bodyPr/>
        <a:lstStyle/>
        <a:p>
          <a:endParaRPr lang="en-US"/>
        </a:p>
      </dgm:t>
    </dgm:pt>
    <dgm:pt modelId="{0AF6A436-669B-4E22-AFCB-EAA1F36C1D7A}" type="sibTrans" cxnId="{63FF722F-5CA0-4B27-ADA3-12E0A501B264}">
      <dgm:prSet/>
      <dgm:spPr/>
      <dgm:t>
        <a:bodyPr/>
        <a:lstStyle/>
        <a:p>
          <a:endParaRPr lang="en-US"/>
        </a:p>
      </dgm:t>
    </dgm:pt>
    <dgm:pt modelId="{A034CA0D-3389-441B-B825-4EA5BFF134D8}">
      <dgm:prSet/>
      <dgm:spPr/>
      <dgm:t>
        <a:bodyPr/>
        <a:lstStyle/>
        <a:p>
          <a:r>
            <a:rPr lang="en-AU"/>
            <a:t>Mobile-friendly testing</a:t>
          </a:r>
          <a:endParaRPr lang="en-US"/>
        </a:p>
      </dgm:t>
    </dgm:pt>
    <dgm:pt modelId="{3592FB1B-E317-4528-9008-8DF7349123B9}" type="parTrans" cxnId="{45A80EBC-791B-476D-892D-C8946F9F12C4}">
      <dgm:prSet/>
      <dgm:spPr/>
      <dgm:t>
        <a:bodyPr/>
        <a:lstStyle/>
        <a:p>
          <a:endParaRPr lang="en-US"/>
        </a:p>
      </dgm:t>
    </dgm:pt>
    <dgm:pt modelId="{AC3863FE-5647-405B-8031-60C31BFC1255}" type="sibTrans" cxnId="{45A80EBC-791B-476D-892D-C8946F9F12C4}">
      <dgm:prSet/>
      <dgm:spPr/>
      <dgm:t>
        <a:bodyPr/>
        <a:lstStyle/>
        <a:p>
          <a:endParaRPr lang="en-US"/>
        </a:p>
      </dgm:t>
    </dgm:pt>
    <dgm:pt modelId="{F3EF8C72-2137-4F44-BAA9-B842D421E428}">
      <dgm:prSet/>
      <dgm:spPr/>
      <dgm:t>
        <a:bodyPr/>
        <a:lstStyle/>
        <a:p>
          <a:r>
            <a:rPr lang="en-AU" dirty="0"/>
            <a:t>Change related testing</a:t>
          </a:r>
          <a:endParaRPr lang="en-US" dirty="0"/>
        </a:p>
      </dgm:t>
    </dgm:pt>
    <dgm:pt modelId="{1C40EA4B-A24E-4B94-8B08-9F80F22D9FE1}" type="parTrans" cxnId="{F4A5DAB4-F9CC-4604-BAE0-003027509CEA}">
      <dgm:prSet/>
      <dgm:spPr/>
      <dgm:t>
        <a:bodyPr/>
        <a:lstStyle/>
        <a:p>
          <a:endParaRPr lang="en-US"/>
        </a:p>
      </dgm:t>
    </dgm:pt>
    <dgm:pt modelId="{93DCCA27-E8AF-45FD-B1A0-55824D73F45D}" type="sibTrans" cxnId="{F4A5DAB4-F9CC-4604-BAE0-003027509CEA}">
      <dgm:prSet/>
      <dgm:spPr/>
      <dgm:t>
        <a:bodyPr/>
        <a:lstStyle/>
        <a:p>
          <a:endParaRPr lang="en-US"/>
        </a:p>
      </dgm:t>
    </dgm:pt>
    <dgm:pt modelId="{D0D9B6CF-965A-4C90-BF3F-760C9D34EE4F}">
      <dgm:prSet/>
      <dgm:spPr/>
      <dgm:t>
        <a:bodyPr/>
        <a:lstStyle/>
        <a:p>
          <a:r>
            <a:rPr lang="en-AU"/>
            <a:t>Security testing</a:t>
          </a:r>
          <a:endParaRPr lang="en-US"/>
        </a:p>
      </dgm:t>
    </dgm:pt>
    <dgm:pt modelId="{638F9F78-12B8-499B-A1D2-ED6C29A2DCD0}" type="parTrans" cxnId="{5FEDDD97-28DC-494B-9C18-E08E4F7A8C15}">
      <dgm:prSet/>
      <dgm:spPr/>
      <dgm:t>
        <a:bodyPr/>
        <a:lstStyle/>
        <a:p>
          <a:endParaRPr lang="en-US"/>
        </a:p>
      </dgm:t>
    </dgm:pt>
    <dgm:pt modelId="{248C88F8-B087-471C-90F7-CEB2927A7FF8}" type="sibTrans" cxnId="{5FEDDD97-28DC-494B-9C18-E08E4F7A8C15}">
      <dgm:prSet/>
      <dgm:spPr/>
      <dgm:t>
        <a:bodyPr/>
        <a:lstStyle/>
        <a:p>
          <a:endParaRPr lang="en-US"/>
        </a:p>
      </dgm:t>
    </dgm:pt>
    <dgm:pt modelId="{B7CCA148-8107-429C-91E3-5C9D5C5C5F29}">
      <dgm:prSet/>
      <dgm:spPr>
        <a:solidFill>
          <a:srgbClr val="FFC000"/>
        </a:solidFill>
        <a:ln>
          <a:solidFill>
            <a:schemeClr val="tx2"/>
          </a:solidFill>
        </a:ln>
      </dgm:spPr>
      <dgm:t>
        <a:bodyPr/>
        <a:lstStyle/>
        <a:p>
          <a:r>
            <a:rPr lang="en-AU" dirty="0">
              <a:solidFill>
                <a:schemeClr val="tx2"/>
              </a:solidFill>
            </a:rPr>
            <a:t>Performance testing</a:t>
          </a:r>
          <a:endParaRPr lang="en-US" dirty="0">
            <a:solidFill>
              <a:schemeClr val="tx2"/>
            </a:solidFill>
          </a:endParaRPr>
        </a:p>
      </dgm:t>
    </dgm:pt>
    <dgm:pt modelId="{EDA5C7F1-5C65-4586-A0A3-833DB489CB6C}" type="parTrans" cxnId="{56AA5464-932E-4D5E-8216-397E041C774D}">
      <dgm:prSet/>
      <dgm:spPr/>
      <dgm:t>
        <a:bodyPr/>
        <a:lstStyle/>
        <a:p>
          <a:endParaRPr lang="en-US"/>
        </a:p>
      </dgm:t>
    </dgm:pt>
    <dgm:pt modelId="{D8FC12A4-E0F6-48CC-AC17-A9775BEAECFF}" type="sibTrans" cxnId="{56AA5464-932E-4D5E-8216-397E041C774D}">
      <dgm:prSet/>
      <dgm:spPr/>
      <dgm:t>
        <a:bodyPr/>
        <a:lstStyle/>
        <a:p>
          <a:endParaRPr lang="en-US"/>
        </a:p>
      </dgm:t>
    </dgm:pt>
    <dgm:pt modelId="{FCE7E2B3-B63B-4851-BCC2-4B6EAE358F05}">
      <dgm:prSet/>
      <dgm:spPr/>
      <dgm:t>
        <a:bodyPr/>
        <a:lstStyle/>
        <a:p>
          <a:r>
            <a:rPr lang="en-AU"/>
            <a:t>Documentation testing</a:t>
          </a:r>
          <a:endParaRPr lang="en-US"/>
        </a:p>
      </dgm:t>
    </dgm:pt>
    <dgm:pt modelId="{E7F29BD4-46E5-42DB-9878-F19BFA0D8CFF}" type="parTrans" cxnId="{BB50AE11-570D-4428-BD53-ACAE34033643}">
      <dgm:prSet/>
      <dgm:spPr/>
      <dgm:t>
        <a:bodyPr/>
        <a:lstStyle/>
        <a:p>
          <a:endParaRPr lang="en-US"/>
        </a:p>
      </dgm:t>
    </dgm:pt>
    <dgm:pt modelId="{342CC607-567C-4198-A1A2-1BB384749168}" type="sibTrans" cxnId="{BB50AE11-570D-4428-BD53-ACAE34033643}">
      <dgm:prSet/>
      <dgm:spPr/>
      <dgm:t>
        <a:bodyPr/>
        <a:lstStyle/>
        <a:p>
          <a:endParaRPr lang="en-US"/>
        </a:p>
      </dgm:t>
    </dgm:pt>
    <dgm:pt modelId="{24DE7303-FC84-400B-8852-4166743D9C01}">
      <dgm:prSet/>
      <dgm:spPr>
        <a:solidFill>
          <a:srgbClr val="FFC000"/>
        </a:solidFill>
        <a:ln>
          <a:solidFill>
            <a:schemeClr val="tx2"/>
          </a:solidFill>
        </a:ln>
      </dgm:spPr>
      <dgm:t>
        <a:bodyPr/>
        <a:lstStyle/>
        <a:p>
          <a:r>
            <a:rPr lang="en-AU">
              <a:solidFill>
                <a:schemeClr val="tx2"/>
              </a:solidFill>
            </a:rPr>
            <a:t>Functional testing</a:t>
          </a:r>
          <a:endParaRPr lang="en-US">
            <a:solidFill>
              <a:schemeClr val="tx2"/>
            </a:solidFill>
          </a:endParaRPr>
        </a:p>
      </dgm:t>
    </dgm:pt>
    <dgm:pt modelId="{E8E9AD83-0A0C-478B-BD62-9EAD78248634}" type="parTrans" cxnId="{A790C25B-FD90-41E1-B759-FADD06CA8292}">
      <dgm:prSet/>
      <dgm:spPr/>
      <dgm:t>
        <a:bodyPr/>
        <a:lstStyle/>
        <a:p>
          <a:endParaRPr lang="en-US"/>
        </a:p>
      </dgm:t>
    </dgm:pt>
    <dgm:pt modelId="{B895E24A-3828-426A-8A4B-FE1642BD0277}" type="sibTrans" cxnId="{A790C25B-FD90-41E1-B759-FADD06CA8292}">
      <dgm:prSet/>
      <dgm:spPr/>
      <dgm:t>
        <a:bodyPr/>
        <a:lstStyle/>
        <a:p>
          <a:endParaRPr lang="en-US"/>
        </a:p>
      </dgm:t>
    </dgm:pt>
    <dgm:pt modelId="{0CED0562-3E76-414D-BEBD-9032DC85AAA8}">
      <dgm:prSet/>
      <dgm:spPr>
        <a:solidFill>
          <a:srgbClr val="FFC000"/>
        </a:solidFill>
        <a:ln>
          <a:solidFill>
            <a:schemeClr val="tx2"/>
          </a:solidFill>
        </a:ln>
      </dgm:spPr>
      <dgm:t>
        <a:bodyPr/>
        <a:lstStyle/>
        <a:p>
          <a:r>
            <a:rPr lang="en-AU" dirty="0">
              <a:solidFill>
                <a:schemeClr val="tx2"/>
              </a:solidFill>
            </a:rPr>
            <a:t>Usability testing</a:t>
          </a:r>
          <a:endParaRPr lang="en-US" dirty="0">
            <a:solidFill>
              <a:schemeClr val="tx2"/>
            </a:solidFill>
          </a:endParaRPr>
        </a:p>
      </dgm:t>
    </dgm:pt>
    <dgm:pt modelId="{E4D599F6-8F80-4AD0-91BD-C49100C881FB}" type="parTrans" cxnId="{C008206F-9D69-4ED2-861E-3C9832173E2E}">
      <dgm:prSet/>
      <dgm:spPr/>
      <dgm:t>
        <a:bodyPr/>
        <a:lstStyle/>
        <a:p>
          <a:endParaRPr lang="en-US"/>
        </a:p>
      </dgm:t>
    </dgm:pt>
    <dgm:pt modelId="{72E3D545-C90F-42A6-A951-0915786B98D8}" type="sibTrans" cxnId="{C008206F-9D69-4ED2-861E-3C9832173E2E}">
      <dgm:prSet/>
      <dgm:spPr/>
      <dgm:t>
        <a:bodyPr/>
        <a:lstStyle/>
        <a:p>
          <a:endParaRPr lang="en-US"/>
        </a:p>
      </dgm:t>
    </dgm:pt>
    <dgm:pt modelId="{C7F50E54-1152-4965-9DCF-DD3E0133F7A0}">
      <dgm:prSet/>
      <dgm:spPr/>
      <dgm:t>
        <a:bodyPr/>
        <a:lstStyle/>
        <a:p>
          <a:r>
            <a:rPr lang="en-AU"/>
            <a:t>UI testing</a:t>
          </a:r>
          <a:endParaRPr lang="en-US"/>
        </a:p>
      </dgm:t>
    </dgm:pt>
    <dgm:pt modelId="{ACE7AB2E-CC4C-42C7-A9D3-6B102B971422}" type="parTrans" cxnId="{7DD0CB3D-70BB-47C8-B21B-CBDFF6D3B4CA}">
      <dgm:prSet/>
      <dgm:spPr/>
      <dgm:t>
        <a:bodyPr/>
        <a:lstStyle/>
        <a:p>
          <a:endParaRPr lang="en-US"/>
        </a:p>
      </dgm:t>
    </dgm:pt>
    <dgm:pt modelId="{AA1229BD-5149-4751-8E46-2688F0C5DE43}" type="sibTrans" cxnId="{7DD0CB3D-70BB-47C8-B21B-CBDFF6D3B4CA}">
      <dgm:prSet/>
      <dgm:spPr/>
      <dgm:t>
        <a:bodyPr/>
        <a:lstStyle/>
        <a:p>
          <a:endParaRPr lang="en-US"/>
        </a:p>
      </dgm:t>
    </dgm:pt>
    <dgm:pt modelId="{A30AB289-4E0F-469A-A4F4-15793824D668}">
      <dgm:prSet/>
      <dgm:spPr/>
      <dgm:t>
        <a:bodyPr/>
        <a:lstStyle/>
        <a:p>
          <a:r>
            <a:rPr lang="en-AU"/>
            <a:t>Compatibility (Configuration) testing </a:t>
          </a:r>
          <a:endParaRPr lang="en-US"/>
        </a:p>
      </dgm:t>
    </dgm:pt>
    <dgm:pt modelId="{77333E3A-B226-477F-A59D-92E7145E03F1}" type="parTrans" cxnId="{A1352B94-13FB-4F13-B287-A2CB24790BD5}">
      <dgm:prSet/>
      <dgm:spPr/>
      <dgm:t>
        <a:bodyPr/>
        <a:lstStyle/>
        <a:p>
          <a:endParaRPr lang="en-US"/>
        </a:p>
      </dgm:t>
    </dgm:pt>
    <dgm:pt modelId="{BC543CF5-A7DB-4925-ADE8-922F17DD6EA5}" type="sibTrans" cxnId="{A1352B94-13FB-4F13-B287-A2CB24790BD5}">
      <dgm:prSet/>
      <dgm:spPr/>
      <dgm:t>
        <a:bodyPr/>
        <a:lstStyle/>
        <a:p>
          <a:endParaRPr lang="en-US"/>
        </a:p>
      </dgm:t>
    </dgm:pt>
    <dgm:pt modelId="{706A0F04-B220-4249-B437-0C3E797AD708}" type="pres">
      <dgm:prSet presAssocID="{3BF48A55-EB60-48C1-983C-5723D7A93006}" presName="Name0" presStyleCnt="0">
        <dgm:presLayoutVars>
          <dgm:dir/>
          <dgm:resizeHandles val="exact"/>
        </dgm:presLayoutVars>
      </dgm:prSet>
      <dgm:spPr/>
    </dgm:pt>
    <dgm:pt modelId="{26AA34FF-0B40-694D-AAA2-8F083CA8F670}" type="pres">
      <dgm:prSet presAssocID="{3BF48A55-EB60-48C1-983C-5723D7A93006}" presName="cycle" presStyleCnt="0"/>
      <dgm:spPr/>
    </dgm:pt>
    <dgm:pt modelId="{1744DA4B-93C3-9548-89E8-AD20E73F8C5C}" type="pres">
      <dgm:prSet presAssocID="{3EC6846B-3219-4FAC-909D-B9B3F65D0A62}" presName="nodeFirstNode" presStyleLbl="node1" presStyleIdx="0" presStyleCnt="10">
        <dgm:presLayoutVars>
          <dgm:bulletEnabled val="1"/>
        </dgm:presLayoutVars>
      </dgm:prSet>
      <dgm:spPr/>
    </dgm:pt>
    <dgm:pt modelId="{5C998ACB-B448-FD4B-868D-613C5941F63E}" type="pres">
      <dgm:prSet presAssocID="{0AF6A436-669B-4E22-AFCB-EAA1F36C1D7A}" presName="sibTransFirstNode" presStyleLbl="bgShp" presStyleIdx="0" presStyleCnt="1"/>
      <dgm:spPr/>
    </dgm:pt>
    <dgm:pt modelId="{E151D71C-FCD7-294E-A50D-2412054BFC7D}" type="pres">
      <dgm:prSet presAssocID="{A034CA0D-3389-441B-B825-4EA5BFF134D8}" presName="nodeFollowingNodes" presStyleLbl="node1" presStyleIdx="1" presStyleCnt="10">
        <dgm:presLayoutVars>
          <dgm:bulletEnabled val="1"/>
        </dgm:presLayoutVars>
      </dgm:prSet>
      <dgm:spPr/>
    </dgm:pt>
    <dgm:pt modelId="{2EABBE1A-754F-9E4F-815B-F4A6118DD7E1}" type="pres">
      <dgm:prSet presAssocID="{F3EF8C72-2137-4F44-BAA9-B842D421E428}" presName="nodeFollowingNodes" presStyleLbl="node1" presStyleIdx="2" presStyleCnt="10">
        <dgm:presLayoutVars>
          <dgm:bulletEnabled val="1"/>
        </dgm:presLayoutVars>
      </dgm:prSet>
      <dgm:spPr/>
    </dgm:pt>
    <dgm:pt modelId="{B0C58105-3A71-9246-B066-9340D4263F89}" type="pres">
      <dgm:prSet presAssocID="{D0D9B6CF-965A-4C90-BF3F-760C9D34EE4F}" presName="nodeFollowingNodes" presStyleLbl="node1" presStyleIdx="3" presStyleCnt="10">
        <dgm:presLayoutVars>
          <dgm:bulletEnabled val="1"/>
        </dgm:presLayoutVars>
      </dgm:prSet>
      <dgm:spPr/>
    </dgm:pt>
    <dgm:pt modelId="{9D0A7EB9-F817-C443-9622-4036904A735E}" type="pres">
      <dgm:prSet presAssocID="{B7CCA148-8107-429C-91E3-5C9D5C5C5F29}" presName="nodeFollowingNodes" presStyleLbl="node1" presStyleIdx="4" presStyleCnt="10">
        <dgm:presLayoutVars>
          <dgm:bulletEnabled val="1"/>
        </dgm:presLayoutVars>
      </dgm:prSet>
      <dgm:spPr/>
    </dgm:pt>
    <dgm:pt modelId="{153DB413-97DC-B94C-9F07-F6812548F324}" type="pres">
      <dgm:prSet presAssocID="{FCE7E2B3-B63B-4851-BCC2-4B6EAE358F05}" presName="nodeFollowingNodes" presStyleLbl="node1" presStyleIdx="5" presStyleCnt="10">
        <dgm:presLayoutVars>
          <dgm:bulletEnabled val="1"/>
        </dgm:presLayoutVars>
      </dgm:prSet>
      <dgm:spPr/>
    </dgm:pt>
    <dgm:pt modelId="{084CF626-6CB9-974C-BF14-DF741173F04F}" type="pres">
      <dgm:prSet presAssocID="{24DE7303-FC84-400B-8852-4166743D9C01}" presName="nodeFollowingNodes" presStyleLbl="node1" presStyleIdx="6" presStyleCnt="10">
        <dgm:presLayoutVars>
          <dgm:bulletEnabled val="1"/>
        </dgm:presLayoutVars>
      </dgm:prSet>
      <dgm:spPr/>
    </dgm:pt>
    <dgm:pt modelId="{96FAD97F-5520-2B4C-879A-44ACCFA15AB4}" type="pres">
      <dgm:prSet presAssocID="{0CED0562-3E76-414D-BEBD-9032DC85AAA8}" presName="nodeFollowingNodes" presStyleLbl="node1" presStyleIdx="7" presStyleCnt="10">
        <dgm:presLayoutVars>
          <dgm:bulletEnabled val="1"/>
        </dgm:presLayoutVars>
      </dgm:prSet>
      <dgm:spPr/>
    </dgm:pt>
    <dgm:pt modelId="{8FF11557-0950-E141-BA1C-26B6BE95D7DB}" type="pres">
      <dgm:prSet presAssocID="{C7F50E54-1152-4965-9DCF-DD3E0133F7A0}" presName="nodeFollowingNodes" presStyleLbl="node1" presStyleIdx="8" presStyleCnt="10">
        <dgm:presLayoutVars>
          <dgm:bulletEnabled val="1"/>
        </dgm:presLayoutVars>
      </dgm:prSet>
      <dgm:spPr/>
    </dgm:pt>
    <dgm:pt modelId="{88C0B419-7359-4A4A-92EF-26BDBC9BB834}" type="pres">
      <dgm:prSet presAssocID="{A30AB289-4E0F-469A-A4F4-15793824D668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BB50AE11-570D-4428-BD53-ACAE34033643}" srcId="{3BF48A55-EB60-48C1-983C-5723D7A93006}" destId="{FCE7E2B3-B63B-4851-BCC2-4B6EAE358F05}" srcOrd="5" destOrd="0" parTransId="{E7F29BD4-46E5-42DB-9878-F19BFA0D8CFF}" sibTransId="{342CC607-567C-4198-A1A2-1BB384749168}"/>
    <dgm:cxn modelId="{8D558725-65B6-B946-8187-75B328BC8FC9}" type="presOf" srcId="{B7CCA148-8107-429C-91E3-5C9D5C5C5F29}" destId="{9D0A7EB9-F817-C443-9622-4036904A735E}" srcOrd="0" destOrd="0" presId="urn:microsoft.com/office/officeart/2005/8/layout/cycle3"/>
    <dgm:cxn modelId="{E9215829-2B31-DC4D-B052-93C0EDC752FE}" type="presOf" srcId="{3EC6846B-3219-4FAC-909D-B9B3F65D0A62}" destId="{1744DA4B-93C3-9548-89E8-AD20E73F8C5C}" srcOrd="0" destOrd="0" presId="urn:microsoft.com/office/officeart/2005/8/layout/cycle3"/>
    <dgm:cxn modelId="{13BEB52B-077E-1C45-BD5D-E1E9B2942D23}" type="presOf" srcId="{FCE7E2B3-B63B-4851-BCC2-4B6EAE358F05}" destId="{153DB413-97DC-B94C-9F07-F6812548F324}" srcOrd="0" destOrd="0" presId="urn:microsoft.com/office/officeart/2005/8/layout/cycle3"/>
    <dgm:cxn modelId="{63FF722F-5CA0-4B27-ADA3-12E0A501B264}" srcId="{3BF48A55-EB60-48C1-983C-5723D7A93006}" destId="{3EC6846B-3219-4FAC-909D-B9B3F65D0A62}" srcOrd="0" destOrd="0" parTransId="{A7750E04-DBFF-42A2-B80D-E9534E613D39}" sibTransId="{0AF6A436-669B-4E22-AFCB-EAA1F36C1D7A}"/>
    <dgm:cxn modelId="{7DD0CB3D-70BB-47C8-B21B-CBDFF6D3B4CA}" srcId="{3BF48A55-EB60-48C1-983C-5723D7A93006}" destId="{C7F50E54-1152-4965-9DCF-DD3E0133F7A0}" srcOrd="8" destOrd="0" parTransId="{ACE7AB2E-CC4C-42C7-A9D3-6B102B971422}" sibTransId="{AA1229BD-5149-4751-8E46-2688F0C5DE43}"/>
    <dgm:cxn modelId="{A790C25B-FD90-41E1-B759-FADD06CA8292}" srcId="{3BF48A55-EB60-48C1-983C-5723D7A93006}" destId="{24DE7303-FC84-400B-8852-4166743D9C01}" srcOrd="6" destOrd="0" parTransId="{E8E9AD83-0A0C-478B-BD62-9EAD78248634}" sibTransId="{B895E24A-3828-426A-8A4B-FE1642BD0277}"/>
    <dgm:cxn modelId="{56AA5464-932E-4D5E-8216-397E041C774D}" srcId="{3BF48A55-EB60-48C1-983C-5723D7A93006}" destId="{B7CCA148-8107-429C-91E3-5C9D5C5C5F29}" srcOrd="4" destOrd="0" parTransId="{EDA5C7F1-5C65-4586-A0A3-833DB489CB6C}" sibTransId="{D8FC12A4-E0F6-48CC-AC17-A9775BEAECFF}"/>
    <dgm:cxn modelId="{C008206F-9D69-4ED2-861E-3C9832173E2E}" srcId="{3BF48A55-EB60-48C1-983C-5723D7A93006}" destId="{0CED0562-3E76-414D-BEBD-9032DC85AAA8}" srcOrd="7" destOrd="0" parTransId="{E4D599F6-8F80-4AD0-91BD-C49100C881FB}" sibTransId="{72E3D545-C90F-42A6-A951-0915786B98D8}"/>
    <dgm:cxn modelId="{AE294C76-DDB5-9A43-9676-436B8EEEC130}" type="presOf" srcId="{D0D9B6CF-965A-4C90-BF3F-760C9D34EE4F}" destId="{B0C58105-3A71-9246-B066-9340D4263F89}" srcOrd="0" destOrd="0" presId="urn:microsoft.com/office/officeart/2005/8/layout/cycle3"/>
    <dgm:cxn modelId="{C94A4B80-0566-8F42-8E72-254AC3E99A72}" type="presOf" srcId="{A30AB289-4E0F-469A-A4F4-15793824D668}" destId="{88C0B419-7359-4A4A-92EF-26BDBC9BB834}" srcOrd="0" destOrd="0" presId="urn:microsoft.com/office/officeart/2005/8/layout/cycle3"/>
    <dgm:cxn modelId="{A1352B94-13FB-4F13-B287-A2CB24790BD5}" srcId="{3BF48A55-EB60-48C1-983C-5723D7A93006}" destId="{A30AB289-4E0F-469A-A4F4-15793824D668}" srcOrd="9" destOrd="0" parTransId="{77333E3A-B226-477F-A59D-92E7145E03F1}" sibTransId="{BC543CF5-A7DB-4925-ADE8-922F17DD6EA5}"/>
    <dgm:cxn modelId="{5FEDDD97-28DC-494B-9C18-E08E4F7A8C15}" srcId="{3BF48A55-EB60-48C1-983C-5723D7A93006}" destId="{D0D9B6CF-965A-4C90-BF3F-760C9D34EE4F}" srcOrd="3" destOrd="0" parTransId="{638F9F78-12B8-499B-A1D2-ED6C29A2DCD0}" sibTransId="{248C88F8-B087-471C-90F7-CEB2927A7FF8}"/>
    <dgm:cxn modelId="{676750B2-02AD-B84C-9014-FD74A740DB6B}" type="presOf" srcId="{A034CA0D-3389-441B-B825-4EA5BFF134D8}" destId="{E151D71C-FCD7-294E-A50D-2412054BFC7D}" srcOrd="0" destOrd="0" presId="urn:microsoft.com/office/officeart/2005/8/layout/cycle3"/>
    <dgm:cxn modelId="{F4A5DAB4-F9CC-4604-BAE0-003027509CEA}" srcId="{3BF48A55-EB60-48C1-983C-5723D7A93006}" destId="{F3EF8C72-2137-4F44-BAA9-B842D421E428}" srcOrd="2" destOrd="0" parTransId="{1C40EA4B-A24E-4B94-8B08-9F80F22D9FE1}" sibTransId="{93DCCA27-E8AF-45FD-B1A0-55824D73F45D}"/>
    <dgm:cxn modelId="{4B42AAB8-596E-5441-BB7F-27AEB86F3F12}" type="presOf" srcId="{0CED0562-3E76-414D-BEBD-9032DC85AAA8}" destId="{96FAD97F-5520-2B4C-879A-44ACCFA15AB4}" srcOrd="0" destOrd="0" presId="urn:microsoft.com/office/officeart/2005/8/layout/cycle3"/>
    <dgm:cxn modelId="{45A80EBC-791B-476D-892D-C8946F9F12C4}" srcId="{3BF48A55-EB60-48C1-983C-5723D7A93006}" destId="{A034CA0D-3389-441B-B825-4EA5BFF134D8}" srcOrd="1" destOrd="0" parTransId="{3592FB1B-E317-4528-9008-8DF7349123B9}" sibTransId="{AC3863FE-5647-405B-8031-60C31BFC1255}"/>
    <dgm:cxn modelId="{29AB66BC-D94B-9441-B523-EDCFEB936D3E}" type="presOf" srcId="{24DE7303-FC84-400B-8852-4166743D9C01}" destId="{084CF626-6CB9-974C-BF14-DF741173F04F}" srcOrd="0" destOrd="0" presId="urn:microsoft.com/office/officeart/2005/8/layout/cycle3"/>
    <dgm:cxn modelId="{6B10D2C1-1496-CA4F-A35A-583E7CCA896F}" type="presOf" srcId="{3BF48A55-EB60-48C1-983C-5723D7A93006}" destId="{706A0F04-B220-4249-B437-0C3E797AD708}" srcOrd="0" destOrd="0" presId="urn:microsoft.com/office/officeart/2005/8/layout/cycle3"/>
    <dgm:cxn modelId="{4F865BD7-DE8A-0746-B853-C7FB58BBB759}" type="presOf" srcId="{F3EF8C72-2137-4F44-BAA9-B842D421E428}" destId="{2EABBE1A-754F-9E4F-815B-F4A6118DD7E1}" srcOrd="0" destOrd="0" presId="urn:microsoft.com/office/officeart/2005/8/layout/cycle3"/>
    <dgm:cxn modelId="{4F2A7EEC-7F61-D647-9C91-75E37FC3BC21}" type="presOf" srcId="{0AF6A436-669B-4E22-AFCB-EAA1F36C1D7A}" destId="{5C998ACB-B448-FD4B-868D-613C5941F63E}" srcOrd="0" destOrd="0" presId="urn:microsoft.com/office/officeart/2005/8/layout/cycle3"/>
    <dgm:cxn modelId="{3FCAC0FF-19A3-AE46-81D3-AAF92C5B7BBE}" type="presOf" srcId="{C7F50E54-1152-4965-9DCF-DD3E0133F7A0}" destId="{8FF11557-0950-E141-BA1C-26B6BE95D7DB}" srcOrd="0" destOrd="0" presId="urn:microsoft.com/office/officeart/2005/8/layout/cycle3"/>
    <dgm:cxn modelId="{53461309-A19A-3D42-A276-6DDD872FCA3B}" type="presParOf" srcId="{706A0F04-B220-4249-B437-0C3E797AD708}" destId="{26AA34FF-0B40-694D-AAA2-8F083CA8F670}" srcOrd="0" destOrd="0" presId="urn:microsoft.com/office/officeart/2005/8/layout/cycle3"/>
    <dgm:cxn modelId="{2A2031F8-FCBB-7F43-80CC-630781C8315B}" type="presParOf" srcId="{26AA34FF-0B40-694D-AAA2-8F083CA8F670}" destId="{1744DA4B-93C3-9548-89E8-AD20E73F8C5C}" srcOrd="0" destOrd="0" presId="urn:microsoft.com/office/officeart/2005/8/layout/cycle3"/>
    <dgm:cxn modelId="{A93E828F-F589-CC41-A505-C0836DE5E53A}" type="presParOf" srcId="{26AA34FF-0B40-694D-AAA2-8F083CA8F670}" destId="{5C998ACB-B448-FD4B-868D-613C5941F63E}" srcOrd="1" destOrd="0" presId="urn:microsoft.com/office/officeart/2005/8/layout/cycle3"/>
    <dgm:cxn modelId="{8DBC319E-641D-364D-8745-73C4996D4ED6}" type="presParOf" srcId="{26AA34FF-0B40-694D-AAA2-8F083CA8F670}" destId="{E151D71C-FCD7-294E-A50D-2412054BFC7D}" srcOrd="2" destOrd="0" presId="urn:microsoft.com/office/officeart/2005/8/layout/cycle3"/>
    <dgm:cxn modelId="{B31289D2-2311-8849-A911-BA8D165ED982}" type="presParOf" srcId="{26AA34FF-0B40-694D-AAA2-8F083CA8F670}" destId="{2EABBE1A-754F-9E4F-815B-F4A6118DD7E1}" srcOrd="3" destOrd="0" presId="urn:microsoft.com/office/officeart/2005/8/layout/cycle3"/>
    <dgm:cxn modelId="{D2ABF07B-7761-B249-B407-344C9194880B}" type="presParOf" srcId="{26AA34FF-0B40-694D-AAA2-8F083CA8F670}" destId="{B0C58105-3A71-9246-B066-9340D4263F89}" srcOrd="4" destOrd="0" presId="urn:microsoft.com/office/officeart/2005/8/layout/cycle3"/>
    <dgm:cxn modelId="{936AC318-6137-BA42-9268-55FD4D7FD0E4}" type="presParOf" srcId="{26AA34FF-0B40-694D-AAA2-8F083CA8F670}" destId="{9D0A7EB9-F817-C443-9622-4036904A735E}" srcOrd="5" destOrd="0" presId="urn:microsoft.com/office/officeart/2005/8/layout/cycle3"/>
    <dgm:cxn modelId="{D5B9C1DD-56AB-D54B-828E-01B1D5FF548E}" type="presParOf" srcId="{26AA34FF-0B40-694D-AAA2-8F083CA8F670}" destId="{153DB413-97DC-B94C-9F07-F6812548F324}" srcOrd="6" destOrd="0" presId="urn:microsoft.com/office/officeart/2005/8/layout/cycle3"/>
    <dgm:cxn modelId="{9FAFAA23-5723-E647-A570-7E484955D881}" type="presParOf" srcId="{26AA34FF-0B40-694D-AAA2-8F083CA8F670}" destId="{084CF626-6CB9-974C-BF14-DF741173F04F}" srcOrd="7" destOrd="0" presId="urn:microsoft.com/office/officeart/2005/8/layout/cycle3"/>
    <dgm:cxn modelId="{A4470A1B-7F4E-F545-AC85-81DD73DE3E73}" type="presParOf" srcId="{26AA34FF-0B40-694D-AAA2-8F083CA8F670}" destId="{96FAD97F-5520-2B4C-879A-44ACCFA15AB4}" srcOrd="8" destOrd="0" presId="urn:microsoft.com/office/officeart/2005/8/layout/cycle3"/>
    <dgm:cxn modelId="{6FC408D0-1044-074A-83B4-7AD217A8144B}" type="presParOf" srcId="{26AA34FF-0B40-694D-AAA2-8F083CA8F670}" destId="{8FF11557-0950-E141-BA1C-26B6BE95D7DB}" srcOrd="9" destOrd="0" presId="urn:microsoft.com/office/officeart/2005/8/layout/cycle3"/>
    <dgm:cxn modelId="{0A14312F-9AF6-1E41-A21F-0280E8D74A44}" type="presParOf" srcId="{26AA34FF-0B40-694D-AAA2-8F083CA8F670}" destId="{88C0B419-7359-4A4A-92EF-26BDBC9BB834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FBD2D-0988-0141-A957-447CE7BAB95A}">
      <dsp:nvSpPr>
        <dsp:cNvPr id="0" name=""/>
        <dsp:cNvSpPr/>
      </dsp:nvSpPr>
      <dsp:spPr>
        <a:xfrm>
          <a:off x="296627" y="-73408"/>
          <a:ext cx="5670384" cy="5670384"/>
        </a:xfrm>
        <a:prstGeom prst="circularArrow">
          <a:avLst>
            <a:gd name="adj1" fmla="val 5544"/>
            <a:gd name="adj2" fmla="val 330680"/>
            <a:gd name="adj3" fmla="val 14871158"/>
            <a:gd name="adj4" fmla="val 16749240"/>
            <a:gd name="adj5" fmla="val 5757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1EF1F-7104-6045-A956-C3928536E3F2}">
      <dsp:nvSpPr>
        <dsp:cNvPr id="0" name=""/>
        <dsp:cNvSpPr/>
      </dsp:nvSpPr>
      <dsp:spPr>
        <a:xfrm>
          <a:off x="2475024" y="5872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Beta testing</a:t>
          </a:r>
          <a:endParaRPr lang="en-US" sz="1100" kern="1200"/>
        </a:p>
      </dsp:txBody>
      <dsp:txXfrm>
        <a:off x="2507086" y="37934"/>
        <a:ext cx="1249466" cy="592671"/>
      </dsp:txXfrm>
    </dsp:sp>
    <dsp:sp modelId="{1FA64BC2-2678-E144-8814-A88AED6D8CE4}">
      <dsp:nvSpPr>
        <dsp:cNvPr id="0" name=""/>
        <dsp:cNvSpPr/>
      </dsp:nvSpPr>
      <dsp:spPr>
        <a:xfrm>
          <a:off x="3896333" y="467683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Mobile-friendly testing</a:t>
          </a:r>
          <a:endParaRPr lang="en-US" sz="1100" kern="1200"/>
        </a:p>
      </dsp:txBody>
      <dsp:txXfrm>
        <a:off x="3928395" y="499745"/>
        <a:ext cx="1249466" cy="592671"/>
      </dsp:txXfrm>
    </dsp:sp>
    <dsp:sp modelId="{8FBC2351-11FE-5A4E-9E6F-BA9DE34CB7D6}">
      <dsp:nvSpPr>
        <dsp:cNvPr id="0" name=""/>
        <dsp:cNvSpPr/>
      </dsp:nvSpPr>
      <dsp:spPr>
        <a:xfrm>
          <a:off x="4774750" y="1676720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Change related testing</a:t>
          </a:r>
          <a:endParaRPr lang="en-US" sz="1100" kern="1200" dirty="0"/>
        </a:p>
      </dsp:txBody>
      <dsp:txXfrm>
        <a:off x="4806812" y="1708782"/>
        <a:ext cx="1249466" cy="592671"/>
      </dsp:txXfrm>
    </dsp:sp>
    <dsp:sp modelId="{392A0604-FC0A-824B-837D-584B441E877A}">
      <dsp:nvSpPr>
        <dsp:cNvPr id="0" name=""/>
        <dsp:cNvSpPr/>
      </dsp:nvSpPr>
      <dsp:spPr>
        <a:xfrm>
          <a:off x="4774750" y="3171172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Security testing</a:t>
          </a:r>
          <a:endParaRPr lang="en-US" sz="1100" kern="1200"/>
        </a:p>
      </dsp:txBody>
      <dsp:txXfrm>
        <a:off x="4806812" y="3203234"/>
        <a:ext cx="1249466" cy="592671"/>
      </dsp:txXfrm>
    </dsp:sp>
    <dsp:sp modelId="{F8357749-E403-0444-8E00-AEF7DA651600}">
      <dsp:nvSpPr>
        <dsp:cNvPr id="0" name=""/>
        <dsp:cNvSpPr/>
      </dsp:nvSpPr>
      <dsp:spPr>
        <a:xfrm>
          <a:off x="3896333" y="4380209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Performance testing</a:t>
          </a:r>
          <a:endParaRPr lang="en-US" sz="1100" kern="1200" dirty="0"/>
        </a:p>
      </dsp:txBody>
      <dsp:txXfrm>
        <a:off x="3928395" y="4412271"/>
        <a:ext cx="1249466" cy="592671"/>
      </dsp:txXfrm>
    </dsp:sp>
    <dsp:sp modelId="{C09756C7-0213-274C-87A3-2C4D47E09F80}">
      <dsp:nvSpPr>
        <dsp:cNvPr id="0" name=""/>
        <dsp:cNvSpPr/>
      </dsp:nvSpPr>
      <dsp:spPr>
        <a:xfrm>
          <a:off x="2475024" y="4842020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Documentation testing</a:t>
          </a:r>
          <a:endParaRPr lang="en-US" sz="1100" kern="1200"/>
        </a:p>
      </dsp:txBody>
      <dsp:txXfrm>
        <a:off x="2507086" y="4874082"/>
        <a:ext cx="1249466" cy="592671"/>
      </dsp:txXfrm>
    </dsp:sp>
    <dsp:sp modelId="{2509C959-E014-3E43-85FC-F34E92ECB20E}">
      <dsp:nvSpPr>
        <dsp:cNvPr id="0" name=""/>
        <dsp:cNvSpPr/>
      </dsp:nvSpPr>
      <dsp:spPr>
        <a:xfrm>
          <a:off x="1053716" y="4380209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Functional testing</a:t>
          </a:r>
          <a:endParaRPr lang="en-US" sz="1100" kern="1200"/>
        </a:p>
      </dsp:txBody>
      <dsp:txXfrm>
        <a:off x="1085778" y="4412271"/>
        <a:ext cx="1249466" cy="592671"/>
      </dsp:txXfrm>
    </dsp:sp>
    <dsp:sp modelId="{F9F40D65-9334-9849-8247-A6C83A9DF376}">
      <dsp:nvSpPr>
        <dsp:cNvPr id="0" name=""/>
        <dsp:cNvSpPr/>
      </dsp:nvSpPr>
      <dsp:spPr>
        <a:xfrm>
          <a:off x="175299" y="3171172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Usability testing</a:t>
          </a:r>
          <a:endParaRPr lang="en-US" sz="1100" kern="1200" dirty="0"/>
        </a:p>
      </dsp:txBody>
      <dsp:txXfrm>
        <a:off x="207361" y="3203234"/>
        <a:ext cx="1249466" cy="592671"/>
      </dsp:txXfrm>
    </dsp:sp>
    <dsp:sp modelId="{86450B7E-DAA0-3744-83DB-6260E20E7EAA}">
      <dsp:nvSpPr>
        <dsp:cNvPr id="0" name=""/>
        <dsp:cNvSpPr/>
      </dsp:nvSpPr>
      <dsp:spPr>
        <a:xfrm>
          <a:off x="175299" y="1676720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UI testing</a:t>
          </a:r>
          <a:endParaRPr lang="en-US" sz="1100" kern="1200"/>
        </a:p>
      </dsp:txBody>
      <dsp:txXfrm>
        <a:off x="207361" y="1708782"/>
        <a:ext cx="1249466" cy="592671"/>
      </dsp:txXfrm>
    </dsp:sp>
    <dsp:sp modelId="{3FDC4AA6-D51D-7048-9475-AC9F9DD71071}">
      <dsp:nvSpPr>
        <dsp:cNvPr id="0" name=""/>
        <dsp:cNvSpPr/>
      </dsp:nvSpPr>
      <dsp:spPr>
        <a:xfrm>
          <a:off x="1053716" y="467683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Compatibility (Configuration) testing </a:t>
          </a:r>
          <a:endParaRPr lang="en-US" sz="1100" kern="1200"/>
        </a:p>
      </dsp:txBody>
      <dsp:txXfrm>
        <a:off x="1085778" y="499745"/>
        <a:ext cx="1249466" cy="5926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98ACB-B448-FD4B-868D-613C5941F63E}">
      <dsp:nvSpPr>
        <dsp:cNvPr id="0" name=""/>
        <dsp:cNvSpPr/>
      </dsp:nvSpPr>
      <dsp:spPr>
        <a:xfrm>
          <a:off x="296627" y="-73408"/>
          <a:ext cx="5670384" cy="5670384"/>
        </a:xfrm>
        <a:prstGeom prst="circularArrow">
          <a:avLst>
            <a:gd name="adj1" fmla="val 5544"/>
            <a:gd name="adj2" fmla="val 330680"/>
            <a:gd name="adj3" fmla="val 14871158"/>
            <a:gd name="adj4" fmla="val 16749240"/>
            <a:gd name="adj5" fmla="val 5757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4DA4B-93C3-9548-89E8-AD20E73F8C5C}">
      <dsp:nvSpPr>
        <dsp:cNvPr id="0" name=""/>
        <dsp:cNvSpPr/>
      </dsp:nvSpPr>
      <dsp:spPr>
        <a:xfrm>
          <a:off x="2475024" y="5872"/>
          <a:ext cx="1313590" cy="65679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Beta testing</a:t>
          </a:r>
          <a:endParaRPr lang="en-US" sz="1100" kern="1200"/>
        </a:p>
      </dsp:txBody>
      <dsp:txXfrm>
        <a:off x="2507086" y="37934"/>
        <a:ext cx="1249466" cy="592671"/>
      </dsp:txXfrm>
    </dsp:sp>
    <dsp:sp modelId="{E151D71C-FCD7-294E-A50D-2412054BFC7D}">
      <dsp:nvSpPr>
        <dsp:cNvPr id="0" name=""/>
        <dsp:cNvSpPr/>
      </dsp:nvSpPr>
      <dsp:spPr>
        <a:xfrm>
          <a:off x="3896333" y="467683"/>
          <a:ext cx="1313590" cy="65679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Mobile-friendly testing</a:t>
          </a:r>
          <a:endParaRPr lang="en-US" sz="1100" kern="1200"/>
        </a:p>
      </dsp:txBody>
      <dsp:txXfrm>
        <a:off x="3928395" y="499745"/>
        <a:ext cx="1249466" cy="592671"/>
      </dsp:txXfrm>
    </dsp:sp>
    <dsp:sp modelId="{2EABBE1A-754F-9E4F-815B-F4A6118DD7E1}">
      <dsp:nvSpPr>
        <dsp:cNvPr id="0" name=""/>
        <dsp:cNvSpPr/>
      </dsp:nvSpPr>
      <dsp:spPr>
        <a:xfrm>
          <a:off x="4774750" y="1676720"/>
          <a:ext cx="1313590" cy="65679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Change related testing</a:t>
          </a:r>
          <a:endParaRPr lang="en-US" sz="1100" kern="1200" dirty="0"/>
        </a:p>
      </dsp:txBody>
      <dsp:txXfrm>
        <a:off x="4806812" y="1708782"/>
        <a:ext cx="1249466" cy="592671"/>
      </dsp:txXfrm>
    </dsp:sp>
    <dsp:sp modelId="{B0C58105-3A71-9246-B066-9340D4263F89}">
      <dsp:nvSpPr>
        <dsp:cNvPr id="0" name=""/>
        <dsp:cNvSpPr/>
      </dsp:nvSpPr>
      <dsp:spPr>
        <a:xfrm>
          <a:off x="4774750" y="3171172"/>
          <a:ext cx="1313590" cy="65679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Security testing</a:t>
          </a:r>
          <a:endParaRPr lang="en-US" sz="1100" kern="1200"/>
        </a:p>
      </dsp:txBody>
      <dsp:txXfrm>
        <a:off x="4806812" y="3203234"/>
        <a:ext cx="1249466" cy="592671"/>
      </dsp:txXfrm>
    </dsp:sp>
    <dsp:sp modelId="{9D0A7EB9-F817-C443-9622-4036904A735E}">
      <dsp:nvSpPr>
        <dsp:cNvPr id="0" name=""/>
        <dsp:cNvSpPr/>
      </dsp:nvSpPr>
      <dsp:spPr>
        <a:xfrm>
          <a:off x="3896333" y="4380209"/>
          <a:ext cx="1313590" cy="656795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2"/>
              </a:solidFill>
            </a:rPr>
            <a:t>Performance testing</a:t>
          </a:r>
          <a:endParaRPr lang="en-US" sz="1100" kern="1200" dirty="0">
            <a:solidFill>
              <a:schemeClr val="tx2"/>
            </a:solidFill>
          </a:endParaRPr>
        </a:p>
      </dsp:txBody>
      <dsp:txXfrm>
        <a:off x="3928395" y="4412271"/>
        <a:ext cx="1249466" cy="592671"/>
      </dsp:txXfrm>
    </dsp:sp>
    <dsp:sp modelId="{153DB413-97DC-B94C-9F07-F6812548F324}">
      <dsp:nvSpPr>
        <dsp:cNvPr id="0" name=""/>
        <dsp:cNvSpPr/>
      </dsp:nvSpPr>
      <dsp:spPr>
        <a:xfrm>
          <a:off x="2475024" y="4842020"/>
          <a:ext cx="1313590" cy="65679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Documentation testing</a:t>
          </a:r>
          <a:endParaRPr lang="en-US" sz="1100" kern="1200"/>
        </a:p>
      </dsp:txBody>
      <dsp:txXfrm>
        <a:off x="2507086" y="4874082"/>
        <a:ext cx="1249466" cy="592671"/>
      </dsp:txXfrm>
    </dsp:sp>
    <dsp:sp modelId="{084CF626-6CB9-974C-BF14-DF741173F04F}">
      <dsp:nvSpPr>
        <dsp:cNvPr id="0" name=""/>
        <dsp:cNvSpPr/>
      </dsp:nvSpPr>
      <dsp:spPr>
        <a:xfrm>
          <a:off x="1053716" y="4380209"/>
          <a:ext cx="1313590" cy="656795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>
              <a:solidFill>
                <a:schemeClr val="tx2"/>
              </a:solidFill>
            </a:rPr>
            <a:t>Functional testing</a:t>
          </a:r>
          <a:endParaRPr lang="en-US" sz="1100" kern="1200">
            <a:solidFill>
              <a:schemeClr val="tx2"/>
            </a:solidFill>
          </a:endParaRPr>
        </a:p>
      </dsp:txBody>
      <dsp:txXfrm>
        <a:off x="1085778" y="4412271"/>
        <a:ext cx="1249466" cy="592671"/>
      </dsp:txXfrm>
    </dsp:sp>
    <dsp:sp modelId="{96FAD97F-5520-2B4C-879A-44ACCFA15AB4}">
      <dsp:nvSpPr>
        <dsp:cNvPr id="0" name=""/>
        <dsp:cNvSpPr/>
      </dsp:nvSpPr>
      <dsp:spPr>
        <a:xfrm>
          <a:off x="175299" y="3171172"/>
          <a:ext cx="1313590" cy="656795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2"/>
              </a:solidFill>
            </a:rPr>
            <a:t>Usability testing</a:t>
          </a:r>
          <a:endParaRPr lang="en-US" sz="1100" kern="1200" dirty="0">
            <a:solidFill>
              <a:schemeClr val="tx2"/>
            </a:solidFill>
          </a:endParaRPr>
        </a:p>
      </dsp:txBody>
      <dsp:txXfrm>
        <a:off x="207361" y="3203234"/>
        <a:ext cx="1249466" cy="592671"/>
      </dsp:txXfrm>
    </dsp:sp>
    <dsp:sp modelId="{8FF11557-0950-E141-BA1C-26B6BE95D7DB}">
      <dsp:nvSpPr>
        <dsp:cNvPr id="0" name=""/>
        <dsp:cNvSpPr/>
      </dsp:nvSpPr>
      <dsp:spPr>
        <a:xfrm>
          <a:off x="175299" y="1676720"/>
          <a:ext cx="1313590" cy="65679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UI testing</a:t>
          </a:r>
          <a:endParaRPr lang="en-US" sz="1100" kern="1200"/>
        </a:p>
      </dsp:txBody>
      <dsp:txXfrm>
        <a:off x="207361" y="1708782"/>
        <a:ext cx="1249466" cy="592671"/>
      </dsp:txXfrm>
    </dsp:sp>
    <dsp:sp modelId="{88C0B419-7359-4A4A-92EF-26BDBC9BB834}">
      <dsp:nvSpPr>
        <dsp:cNvPr id="0" name=""/>
        <dsp:cNvSpPr/>
      </dsp:nvSpPr>
      <dsp:spPr>
        <a:xfrm>
          <a:off x="1053716" y="467683"/>
          <a:ext cx="1313590" cy="65679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Compatibility (Configuration) testing </a:t>
          </a:r>
          <a:endParaRPr lang="en-US" sz="1100" kern="1200"/>
        </a:p>
      </dsp:txBody>
      <dsp:txXfrm>
        <a:off x="1085778" y="499745"/>
        <a:ext cx="1249466" cy="592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980B44-54C8-2B17-520C-09FED0FFB8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7D1EDE-E149-AADE-EDDF-2597E323D5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E0000A-C3B3-A74B-A888-0A64818369CE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C6355-F6E7-60F6-C312-6181352D78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2C1DF-B488-FF82-499B-E8E7AE0DC7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3D3E3-667E-DD49-ACBD-E6F96FA74D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4327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660A8-F793-D947-827B-05BC20A13583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AEC9F-5E23-D94E-ABAA-23D055F9E0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286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F0CA-F346-08E7-01CD-B70FE22E8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1107-C7F0-280E-BD92-B7D88845A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F29AD94D-B18D-1DAB-EF90-109DBB602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30364E7-B321-273E-5DE2-B2B37FB9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3CF24D3-8153-1A96-ACB1-8BEAF008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05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9BEC-88FB-5BD5-77BB-A0A7BAC1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166FA-B052-D55C-B020-AAC2A2C8C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20473-ECE9-2345-6257-364A4E0C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2593A-993E-40F1-7BFA-66401A65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50904-7D1A-4D8D-DAAD-2983B720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780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65C4-9EEF-6702-9719-A67D2343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83F6A-A600-405A-1AAB-5A067F998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F01C9-AEAC-7443-822E-5682E3A67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0FEBA-FEE2-FA92-977E-295C0E4B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43801-9280-FB1E-7763-4357459B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4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A450-AD76-9225-BA57-8EBC66DA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3F20D-B6D8-853F-D37C-7890946B0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6D4B0-FCFB-9342-00F7-CD38A2069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32063-EB5E-A3F4-264A-F65381B87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B9857-AA70-8471-D332-54C62827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E03B7-6B52-35A9-946D-E159400D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73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8E012-3C18-B4ED-8DC8-A2850DE6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00E25-88D1-E62D-7758-AFCEF2D99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CE65-5817-7B0B-CD95-907FFBA74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784CE-3BD9-E490-CF70-1A80FF21D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BD2975-C41F-AACE-7448-55A18F9B6F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A2DFEC-5C1F-5D30-F98F-A57717E2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E4282-698D-8E18-579C-243FF7CD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0E9566-D94A-B019-EA03-D8724A8A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2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64EA-B3A3-27CE-9188-EA589576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49C76-69F3-1CB1-559E-B8EADFBA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EE98D-8950-7098-7CE3-D30E9720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5312B-87F8-4F84-4B02-9A11EC8B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0571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0D010-7B2F-BA0D-44FE-4A16C02D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49D9B-CFCE-0ADD-29B8-5A3E447F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E4B5F-8A26-23C2-029F-D32700FC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461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7D306-5D24-9DA5-2BFC-4E7B1FD6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B09A8-F160-ADF5-3EBD-588331155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20B7C-6A6D-743A-20B1-7AC0395C2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042FA-ED16-762C-90CD-065DFC10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D9F46-D878-CA94-1342-0BD300C4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62007-19FE-D1FB-CE05-A3DB5629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158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D843E-7743-58CF-8978-276361BED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55C73E-86A3-ECBB-048D-67492511B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C522E-A141-0175-0961-4473DF8D4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8ED9E-E089-94A0-82B5-91F75C6D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AD757-F6AE-B8FF-4C9C-9E3DA106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10487-4563-24BD-0544-510DF6EB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225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EACA-6F0E-F92B-4871-5FAF8727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44F32-74B7-ED32-55DD-7CB15B71D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C6CE-87D6-3E51-171D-32D44EA8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2669-ADF4-21E2-4DF9-034D773C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47502-1C93-B496-A6D4-641A9383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3894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0F05DA-CEB7-9CA4-AB53-978FFA0DD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297CCB-82B1-B3F7-3EA3-675627417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ED9D3-CA2F-A139-4F6C-7AE159E31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444B2-6027-1856-B5AC-73CC9930D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75920-2050-124A-8987-F3753C13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341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8657E-96B4-6A5E-6BA0-A948EB68D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F45DA-3031-AA7C-CC92-DC9702C7C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8679C-63B9-3149-81C9-A0E5680F9AD5}" type="datetimeFigureOut">
              <a:rPr lang="en-AU" smtClean="0"/>
              <a:t>11/3/2024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7121C-AB5D-F3A4-F02C-C65A8B820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46A19-468D-3E48-94EE-43007A505897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1328B-6D89-1A11-BE58-B79A933BB4B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44350" y="6626860"/>
            <a:ext cx="5349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724D8905-C026-29E4-2B50-EEA60DE32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383F16E-B015-D3BC-5C34-67982E262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11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Style/CSS/Overview.en.html" TargetMode="External"/><Relationship Id="rId2" Type="http://schemas.openxmlformats.org/officeDocument/2006/relationships/hyperlink" Target="https://html.spec.whatwg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www.a11yproject.com/checklist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www.a11yproject.com/checklist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.adobe.com/create/color-contrast-analyzer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alidator.w3.org/" TargetMode="External"/><Relationship Id="rId4" Type="http://schemas.openxmlformats.org/officeDocument/2006/relationships/hyperlink" Target="https://chromewebstore.google.com/detail/read-aloud-a-text-to-spee/hdhinadidafjejdhmfkjgnolgimiaplp?pli=1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validator.w3.org/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igsaw.w3.org/css-validator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2336C-C407-C8AB-FA63-4E8E2E81A7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39031" b="471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1D66D-EAAC-C321-CD43-7CB919C6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en-AU" sz="8000" dirty="0">
                <a:solidFill>
                  <a:schemeClr val="tx2"/>
                </a:solidFill>
              </a:rPr>
              <a:t>Post-Build Considerations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1ECE2-C1BD-8BF8-93CD-EF3602C63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r>
              <a:rPr lang="en-AU" sz="2200">
                <a:solidFill>
                  <a:schemeClr val="tx2"/>
                </a:solidFill>
              </a:rPr>
              <a:t>HTML &amp; CSS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839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1082-8B95-7F21-A7C0-55A2235B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AU" sz="3200"/>
              <a:t>What is “post-build”?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64111-D107-3CAA-A3FC-DB56F2B08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63" r="24963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1E2DC-1126-9D97-FB26-E17887BD5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600" b="1" dirty="0"/>
              <a:t>When developing a website / web application, we typically develop the site in “development”</a:t>
            </a:r>
          </a:p>
          <a:p>
            <a:pPr lvl="1"/>
            <a:r>
              <a:rPr lang="en-AU" sz="1600" dirty="0"/>
              <a:t>Means the version we are working on is private </a:t>
            </a:r>
          </a:p>
          <a:p>
            <a:pPr lvl="1"/>
            <a:r>
              <a:rPr lang="en-AU" sz="1600" dirty="0"/>
              <a:t>Our code is not publicly available or open on a webhost</a:t>
            </a:r>
          </a:p>
          <a:p>
            <a:pPr lvl="1"/>
            <a:r>
              <a:rPr lang="en-AU" sz="1600" dirty="0"/>
              <a:t>Ensures any errors occur in a controlled environment</a:t>
            </a:r>
          </a:p>
          <a:p>
            <a:pPr lvl="1"/>
            <a:r>
              <a:rPr lang="en-AU" sz="1600" dirty="0"/>
              <a:t>We can focus solely on required features</a:t>
            </a:r>
          </a:p>
          <a:p>
            <a:pPr lvl="1"/>
            <a:endParaRPr lang="en-AU" sz="1600" dirty="0"/>
          </a:p>
          <a:p>
            <a:pPr marL="0" indent="0">
              <a:buNone/>
            </a:pPr>
            <a:r>
              <a:rPr lang="en-AU" sz="1600" b="1" dirty="0"/>
              <a:t>When we finish this initial build, our job is NOT done</a:t>
            </a:r>
          </a:p>
          <a:p>
            <a:pPr lvl="1"/>
            <a:r>
              <a:rPr lang="en-AU" sz="1600" dirty="0"/>
              <a:t>We now need to test &amp; enhance this build before making it ready for “production”</a:t>
            </a:r>
          </a:p>
        </p:txBody>
      </p:sp>
    </p:spTree>
    <p:extLst>
      <p:ext uri="{BB962C8B-B14F-4D97-AF65-F5344CB8AC3E}">
        <p14:creationId xmlns:p14="http://schemas.microsoft.com/office/powerpoint/2010/main" val="206450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FB29-1582-E630-7BC5-A284086F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AU" sz="3200"/>
              <a:t>Post-build step prior to launch</a:t>
            </a:r>
          </a:p>
        </p:txBody>
      </p:sp>
      <p:pic>
        <p:nvPicPr>
          <p:cNvPr id="5" name="Picture 4" descr="Large skydiving group mid-air">
            <a:extLst>
              <a:ext uri="{FF2B5EF4-FFF2-40B4-BE49-F238E27FC236}">
                <a16:creationId xmlns:a16="http://schemas.microsoft.com/office/drawing/2014/main" id="{5E29E0C5-54C5-B719-7B99-60D63EAECA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09" r="2444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EE943-1331-9916-2505-9D22F1A5F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200590"/>
            <a:ext cx="5444382" cy="41399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000" b="1" dirty="0"/>
              <a:t>Once we have built all required features – we want to ensure the site works consistently before launching:</a:t>
            </a:r>
          </a:p>
          <a:p>
            <a:pPr lvl="1"/>
            <a:endParaRPr lang="en-AU" sz="2000" dirty="0"/>
          </a:p>
          <a:p>
            <a:pPr lvl="1"/>
            <a:r>
              <a:rPr lang="en-AU" sz="2000" dirty="0"/>
              <a:t>This post-build process (</a:t>
            </a:r>
            <a:r>
              <a:rPr lang="en-AU" sz="2000" i="1" dirty="0"/>
              <a:t>alpha</a:t>
            </a:r>
            <a:r>
              <a:rPr lang="en-AU" sz="2000" dirty="0"/>
              <a:t> &amp; </a:t>
            </a:r>
            <a:r>
              <a:rPr lang="en-AU" sz="2000" i="1" dirty="0"/>
              <a:t>beta</a:t>
            </a:r>
            <a:r>
              <a:rPr lang="en-AU" sz="2000" dirty="0"/>
              <a:t>) will test the source code against several metrics &amp; tools </a:t>
            </a:r>
          </a:p>
          <a:p>
            <a:pPr lvl="1"/>
            <a:endParaRPr lang="en-AU" sz="2000" dirty="0"/>
          </a:p>
          <a:p>
            <a:pPr lvl="1"/>
            <a:r>
              <a:rPr lang="en-AU" sz="2000" dirty="0"/>
              <a:t>We need to ensure we “take a breath” before we migrate the application to a live environment</a:t>
            </a:r>
          </a:p>
          <a:p>
            <a:pPr lvl="1"/>
            <a:endParaRPr lang="en-AU" sz="2000" dirty="0"/>
          </a:p>
          <a:p>
            <a:pPr lvl="1"/>
            <a:r>
              <a:rPr lang="en-AU" sz="2000" dirty="0"/>
              <a:t>We want to remove errors, inconsistencies and buggy features before the end-user sees them!</a:t>
            </a:r>
          </a:p>
        </p:txBody>
      </p:sp>
    </p:spTree>
    <p:extLst>
      <p:ext uri="{BB962C8B-B14F-4D97-AF65-F5344CB8AC3E}">
        <p14:creationId xmlns:p14="http://schemas.microsoft.com/office/powerpoint/2010/main" val="87345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2336C-C407-C8AB-FA63-4E8E2E81A7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39031" b="471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1D66D-EAAC-C321-CD43-7CB919C6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875" y="2922774"/>
            <a:ext cx="10530318" cy="1012447"/>
          </a:xfrm>
        </p:spPr>
        <p:txBody>
          <a:bodyPr anchor="b">
            <a:norm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Standards &amp; Guidelines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800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5460-AA9D-BF01-0B8E-AF92CECC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6693877" cy="1402470"/>
          </a:xfrm>
        </p:spPr>
        <p:txBody>
          <a:bodyPr anchor="t">
            <a:normAutofit/>
          </a:bodyPr>
          <a:lstStyle/>
          <a:p>
            <a:r>
              <a:rPr lang="en-AU" sz="3200" dirty="0"/>
              <a:t>Web standards (recap)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90615-21EF-CA68-3538-EDD75BC5C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330113"/>
            <a:ext cx="6693877" cy="39601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600" b="1" dirty="0"/>
              <a:t>HTML – </a:t>
            </a:r>
            <a:r>
              <a:rPr lang="en-AU" sz="1600" b="1" dirty="0" err="1"/>
              <a:t>HyperText</a:t>
            </a:r>
            <a:r>
              <a:rPr lang="en-AU" sz="1600" b="1" dirty="0"/>
              <a:t> Markup language </a:t>
            </a:r>
          </a:p>
          <a:p>
            <a:pPr lvl="1"/>
            <a:r>
              <a:rPr lang="en-AU" sz="1600" dirty="0"/>
              <a:t>Used to structure web pages using its’ tag-element system</a:t>
            </a:r>
          </a:p>
          <a:p>
            <a:pPr lvl="1"/>
            <a:r>
              <a:rPr lang="en-AU" sz="1600" dirty="0"/>
              <a:t>Group managing the standard: </a:t>
            </a:r>
            <a:r>
              <a:rPr lang="en-AU" sz="1600" dirty="0">
                <a:hlinkClick r:id="rId2"/>
              </a:rPr>
              <a:t>WHATWG</a:t>
            </a:r>
            <a:endParaRPr lang="en-AU" sz="1600" dirty="0"/>
          </a:p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r>
              <a:rPr lang="en-AU" sz="1600" b="1" dirty="0"/>
              <a:t>CSS – Cascading Stylesheet language</a:t>
            </a:r>
          </a:p>
          <a:p>
            <a:pPr lvl="1"/>
            <a:r>
              <a:rPr lang="en-AU" sz="1600" dirty="0"/>
              <a:t>Used to design the presentation/layout of a markup web document</a:t>
            </a:r>
          </a:p>
          <a:p>
            <a:pPr lvl="1"/>
            <a:r>
              <a:rPr lang="en-AU" sz="1600" dirty="0"/>
              <a:t>Group managing the standard: </a:t>
            </a:r>
            <a:r>
              <a:rPr lang="en-AU" sz="1600" dirty="0">
                <a:hlinkClick r:id="rId3"/>
              </a:rPr>
              <a:t>W3C</a:t>
            </a:r>
            <a:endParaRPr lang="en-AU" sz="1600" dirty="0"/>
          </a:p>
          <a:p>
            <a:pPr marL="0" indent="0">
              <a:buNone/>
            </a:pPr>
            <a:r>
              <a:rPr lang="en-AU" sz="1600" dirty="0"/>
              <a:t> </a:t>
            </a:r>
          </a:p>
          <a:p>
            <a:pPr marL="0" indent="0">
              <a:buNone/>
            </a:pPr>
            <a:r>
              <a:rPr lang="en-AU" sz="1600" b="1" dirty="0"/>
              <a:t>HTTP/S – Hypertext Transfer Protocol</a:t>
            </a:r>
          </a:p>
          <a:p>
            <a:pPr lvl="1"/>
            <a:r>
              <a:rPr lang="en-AU" sz="1600" dirty="0"/>
              <a:t>Foundation communication protocol for the modern web, using a system of requests &amp; responses</a:t>
            </a:r>
          </a:p>
          <a:p>
            <a:pPr lvl="1"/>
            <a:r>
              <a:rPr lang="en-AU" sz="1600" dirty="0"/>
              <a:t>The added “s” to HTTPS, is the secure version of HTTP which uses encryption to secure the communication over the web</a:t>
            </a:r>
          </a:p>
        </p:txBody>
      </p:sp>
      <p:pic>
        <p:nvPicPr>
          <p:cNvPr id="15" name="Picture 14" descr="Periodic table illustration">
            <a:extLst>
              <a:ext uri="{FF2B5EF4-FFF2-40B4-BE49-F238E27FC236}">
                <a16:creationId xmlns:a16="http://schemas.microsoft.com/office/drawing/2014/main" id="{60F14FA2-6B1C-1485-08D2-CEE89B8957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23" r="24402"/>
          <a:stretch/>
        </p:blipFill>
        <p:spPr>
          <a:xfrm>
            <a:off x="8106334" y="10"/>
            <a:ext cx="408566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3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DB91-F3C3-4D8E-33F5-9C3ABF2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6573297" cy="1402470"/>
          </a:xfrm>
        </p:spPr>
        <p:txBody>
          <a:bodyPr anchor="t">
            <a:normAutofit/>
          </a:bodyPr>
          <a:lstStyle/>
          <a:p>
            <a:r>
              <a:rPr lang="en-AU" sz="3200" dirty="0"/>
              <a:t>Accessibility Guidelines (recap)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79AF3-4C92-E84F-6DA9-5BC248383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370308"/>
            <a:ext cx="6573297" cy="41410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400" b="1" dirty="0"/>
              <a:t>WCAG – Web Content Accessibility Guidelines</a:t>
            </a:r>
          </a:p>
          <a:p>
            <a:pPr lvl="1"/>
            <a:r>
              <a:rPr lang="en-AU" sz="1400" dirty="0"/>
              <a:t>Core guideline defining how to broadly make web content more accessible to people with disabilities or disadvantaged access</a:t>
            </a:r>
          </a:p>
          <a:p>
            <a:pPr marL="0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sz="1400" b="1" dirty="0"/>
              <a:t>WAI-ARIA - Accessible Rich Internet Applications Suite</a:t>
            </a:r>
          </a:p>
          <a:p>
            <a:pPr lvl="1"/>
            <a:r>
              <a:rPr lang="en-AU" sz="1400" dirty="0"/>
              <a:t>Guidelines/technologies to make “</a:t>
            </a:r>
            <a:r>
              <a:rPr lang="en-AU" sz="1400" dirty="0" err="1"/>
              <a:t>unsemantic</a:t>
            </a:r>
            <a:r>
              <a:rPr lang="en-AU" sz="1400" dirty="0"/>
              <a:t>” HTML more readable to browsers &amp; assistive tools, like screen readers</a:t>
            </a:r>
          </a:p>
          <a:p>
            <a:pPr marL="0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sz="1400" b="1" dirty="0"/>
              <a:t>UAAG</a:t>
            </a:r>
            <a:r>
              <a:rPr lang="en-AU" sz="1400" dirty="0"/>
              <a:t> </a:t>
            </a:r>
            <a:r>
              <a:rPr lang="en-AU" sz="1400" b="1" dirty="0"/>
              <a:t>- User Agent Accessibility Guidelines</a:t>
            </a:r>
          </a:p>
          <a:p>
            <a:pPr lvl="1"/>
            <a:r>
              <a:rPr lang="en-AU" sz="1400" dirty="0"/>
              <a:t>Guidelines explaining how to make “user agents” accessible, which includes browsers, browser extensions, media players &amp; readers</a:t>
            </a:r>
          </a:p>
          <a:p>
            <a:pPr marL="0" indent="0">
              <a:buNone/>
            </a:pPr>
            <a:endParaRPr lang="en-AU" sz="1400" dirty="0"/>
          </a:p>
          <a:p>
            <a:pPr marL="0" indent="0">
              <a:buNone/>
            </a:pPr>
            <a:r>
              <a:rPr lang="en-AU" sz="1400" b="1" dirty="0"/>
              <a:t>ATAG - Authoring Tool Accessibility Guidelines</a:t>
            </a:r>
          </a:p>
          <a:p>
            <a:pPr lvl="1"/>
            <a:r>
              <a:rPr lang="en-AU" sz="1400" dirty="0"/>
              <a:t>Guidelines to check that the web developer’s tools are also accessible and support them in authoring accessible content to the web</a:t>
            </a:r>
          </a:p>
        </p:txBody>
      </p:sp>
      <p:pic>
        <p:nvPicPr>
          <p:cNvPr id="5" name="Picture 4" descr="Sphere of mesh and nodes">
            <a:extLst>
              <a:ext uri="{FF2B5EF4-FFF2-40B4-BE49-F238E27FC236}">
                <a16:creationId xmlns:a16="http://schemas.microsoft.com/office/drawing/2014/main" id="{ED314CC1-B152-4A92-98AC-88C7C64565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319"/>
          <a:stretch/>
        </p:blipFill>
        <p:spPr>
          <a:xfrm>
            <a:off x="8106334" y="10"/>
            <a:ext cx="408566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2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2336C-C407-C8AB-FA63-4E8E2E81A7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39031" b="471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1D66D-EAAC-C321-CD43-7CB919C6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841" y="2912726"/>
            <a:ext cx="10530318" cy="1032543"/>
          </a:xfrm>
        </p:spPr>
        <p:txBody>
          <a:bodyPr anchor="b">
            <a:norm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Website Testing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48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D8FA7-EE55-B7BF-6765-055AF14B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6995527" cy="1708242"/>
          </a:xfrm>
        </p:spPr>
        <p:txBody>
          <a:bodyPr anchor="ctr">
            <a:normAutofit/>
          </a:bodyPr>
          <a:lstStyle/>
          <a:p>
            <a:r>
              <a:rPr lang="en-AU" sz="4000" dirty="0"/>
              <a:t>Testing websites before “production”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6CC78-C988-EC63-F94F-EA9FB62B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6995527" cy="3769835"/>
          </a:xfrm>
        </p:spPr>
        <p:txBody>
          <a:bodyPr anchor="ctr">
            <a:normAutofit/>
          </a:bodyPr>
          <a:lstStyle/>
          <a:p>
            <a:r>
              <a:rPr lang="en-AU" sz="1700" b="1" dirty="0"/>
              <a:t>Once we have built all required features – we want to ensure the site works consistently before launching</a:t>
            </a:r>
          </a:p>
          <a:p>
            <a:pPr lvl="1"/>
            <a:r>
              <a:rPr lang="en-AU" sz="1700" dirty="0"/>
              <a:t>This post-build process (</a:t>
            </a:r>
            <a:r>
              <a:rPr lang="en-AU" sz="1700" i="1" dirty="0"/>
              <a:t>alpha</a:t>
            </a:r>
            <a:r>
              <a:rPr lang="en-AU" sz="1700" dirty="0"/>
              <a:t> &amp; </a:t>
            </a:r>
            <a:r>
              <a:rPr lang="en-AU" sz="1700" i="1" dirty="0"/>
              <a:t>beta</a:t>
            </a:r>
            <a:r>
              <a:rPr lang="en-AU" sz="1700" dirty="0"/>
              <a:t>) will test the source code against several metrics &amp; tools </a:t>
            </a:r>
          </a:p>
          <a:p>
            <a:pPr lvl="1"/>
            <a:r>
              <a:rPr lang="en-AU" sz="1700" dirty="0"/>
              <a:t>We need to ensure we “take a breath” before we migrate the application to a live environment</a:t>
            </a:r>
          </a:p>
          <a:p>
            <a:pPr lvl="1"/>
            <a:r>
              <a:rPr lang="en-AU" sz="1700" dirty="0"/>
              <a:t>We want to remove errors, inconsistencies and buggy features before the end-user sees them!</a:t>
            </a:r>
          </a:p>
          <a:p>
            <a:endParaRPr lang="en-AU" sz="1700" dirty="0"/>
          </a:p>
          <a:p>
            <a:r>
              <a:rPr lang="en-AU" sz="1700" i="1" dirty="0"/>
              <a:t>Whilst our sites our relatively small, once we start building bigger sites, post-build processes </a:t>
            </a:r>
            <a:r>
              <a:rPr lang="en-AU" sz="1700" b="1" i="1" dirty="0"/>
              <a:t>can get pretty complex </a:t>
            </a:r>
            <a:r>
              <a:rPr lang="en-AU" sz="1700" i="1" dirty="0"/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A8D99-1BEB-873F-4D2B-CA9599B33C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48" r="5748"/>
          <a:stretch/>
        </p:blipFill>
        <p:spPr>
          <a:xfrm>
            <a:off x="8139165" y="-10886"/>
            <a:ext cx="4052836" cy="6868886"/>
          </a:xfrm>
          <a:prstGeom prst="rect">
            <a:avLst/>
          </a:prstGeom>
          <a:effectLst>
            <a:outerShdw sx="1000" sy="1000" algn="r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320357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996CE-DF0C-281D-F3F1-8193454A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kern="1200" dirty="0">
                <a:latin typeface="+mj-lt"/>
                <a:ea typeface="+mj-ea"/>
                <a:cs typeface="+mj-cs"/>
              </a:rPr>
              <a:t>How complex can testing get?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D9A4A72-E91B-553D-BE7A-AA80260C6D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68378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8228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996CE-DF0C-281D-F3F1-8193454A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200" kern="1200">
                <a:latin typeface="+mj-lt"/>
                <a:ea typeface="+mj-ea"/>
                <a:cs typeface="+mj-cs"/>
              </a:rPr>
              <a:t>Our focus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D9A4A72-E91B-553D-BE7A-AA80260C6D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934955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762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2336C-C407-C8AB-FA63-4E8E2E81A7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39031" b="471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1D66D-EAAC-C321-CD43-7CB919C6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en-AU" sz="8000" dirty="0">
                <a:solidFill>
                  <a:schemeClr val="tx2"/>
                </a:solidFill>
              </a:rPr>
              <a:t>Accessibility </a:t>
            </a:r>
            <a:br>
              <a:rPr lang="en-AU" sz="8000" dirty="0">
                <a:solidFill>
                  <a:schemeClr val="tx2"/>
                </a:solidFill>
              </a:rPr>
            </a:br>
            <a:r>
              <a:rPr lang="en-AU" sz="8000" dirty="0">
                <a:solidFill>
                  <a:schemeClr val="tx2"/>
                </a:solidFill>
              </a:rPr>
              <a:t>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1ECE2-C1BD-8BF8-93CD-EF3602C63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r>
              <a:rPr lang="en-AU" sz="2200">
                <a:solidFill>
                  <a:schemeClr val="tx2"/>
                </a:solidFill>
              </a:rPr>
              <a:t>HTML &amp; CSS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030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5913-2CF1-E531-8804-6B2A28F74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27725" cy="1325563"/>
          </a:xfrm>
        </p:spPr>
        <p:txBody>
          <a:bodyPr/>
          <a:lstStyle/>
          <a:p>
            <a:r>
              <a:rPr lang="en-AU" sz="4000" dirty="0"/>
              <a:t>Purpose</a:t>
            </a:r>
            <a:r>
              <a:rPr lang="en-AU" dirty="0"/>
              <a:t> of accessibility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DDDA-FC0D-C7C6-D109-D1FFAFF03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0491"/>
            <a:ext cx="6627725" cy="3996471"/>
          </a:xfrm>
        </p:spPr>
        <p:txBody>
          <a:bodyPr>
            <a:normAutofit/>
          </a:bodyPr>
          <a:lstStyle/>
          <a:p>
            <a:r>
              <a:rPr lang="en-AU" sz="1800" b="1" dirty="0"/>
              <a:t>According to WCAG, accessible sites should enshrine four key principles:</a:t>
            </a:r>
          </a:p>
          <a:p>
            <a:pPr lvl="1"/>
            <a:r>
              <a:rPr lang="en-AU" sz="1800" dirty="0"/>
              <a:t>Perceivable</a:t>
            </a:r>
          </a:p>
          <a:p>
            <a:pPr lvl="1"/>
            <a:r>
              <a:rPr lang="en-AU" sz="1800" dirty="0"/>
              <a:t>Operable</a:t>
            </a:r>
          </a:p>
          <a:p>
            <a:pPr lvl="1"/>
            <a:r>
              <a:rPr lang="en-AU" sz="1800" dirty="0"/>
              <a:t>Understandable</a:t>
            </a:r>
          </a:p>
          <a:p>
            <a:pPr lvl="1"/>
            <a:r>
              <a:rPr lang="en-AU" sz="1800" dirty="0"/>
              <a:t>Robust</a:t>
            </a:r>
          </a:p>
          <a:p>
            <a:pPr lvl="1"/>
            <a:endParaRPr lang="en-AU" sz="1800" dirty="0"/>
          </a:p>
          <a:p>
            <a:r>
              <a:rPr lang="en-AU" sz="1800" dirty="0"/>
              <a:t>These are actually quite hard to measure against, so </a:t>
            </a:r>
            <a:r>
              <a:rPr lang="en-AU" sz="1800" dirty="0">
                <a:hlinkClick r:id="rId2"/>
              </a:rPr>
              <a:t>WCAG created compliance “levels” to meet</a:t>
            </a:r>
            <a:r>
              <a:rPr lang="en-AU" sz="1800" dirty="0"/>
              <a:t>, depending on your audience:</a:t>
            </a:r>
          </a:p>
          <a:p>
            <a:pPr lvl="1"/>
            <a:r>
              <a:rPr lang="en-AU" sz="1800" dirty="0"/>
              <a:t>“A” Essential</a:t>
            </a:r>
          </a:p>
          <a:p>
            <a:pPr lvl="1"/>
            <a:r>
              <a:rPr lang="en-AU" sz="1800" dirty="0"/>
              <a:t>“AA” Ideal Support</a:t>
            </a:r>
          </a:p>
          <a:p>
            <a:pPr lvl="1"/>
            <a:r>
              <a:rPr lang="en-AU" sz="1800" dirty="0"/>
              <a:t>“AAA” Specialised Support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4C506-3D78-4092-4DC1-956A1E54F7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44" r="33244"/>
          <a:stretch/>
        </p:blipFill>
        <p:spPr>
          <a:xfrm>
            <a:off x="8106334" y="10"/>
            <a:ext cx="408566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56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19ED-6EBF-A175-AEDD-4B2B15ED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6804568" cy="1401183"/>
          </a:xfrm>
        </p:spPr>
        <p:txBody>
          <a:bodyPr anchor="t">
            <a:normAutofit/>
          </a:bodyPr>
          <a:lstStyle/>
          <a:p>
            <a:r>
              <a:rPr lang="en-AU" sz="3200" dirty="0"/>
              <a:t>User Groups &amp; Targeting your User(s)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5F42A-232C-1ED1-D972-525B9708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39" y="2551176"/>
            <a:ext cx="6804569" cy="3602935"/>
          </a:xfrm>
        </p:spPr>
        <p:txBody>
          <a:bodyPr>
            <a:normAutofit/>
          </a:bodyPr>
          <a:lstStyle/>
          <a:p>
            <a:r>
              <a:rPr lang="en-AU" sz="1800" b="1" dirty="0"/>
              <a:t>In order to know how strict we should adhere to accessibility, we therefore need to know our anticipated users:</a:t>
            </a:r>
          </a:p>
          <a:p>
            <a:pPr lvl="1"/>
            <a:r>
              <a:rPr lang="en-AU" sz="1800" dirty="0"/>
              <a:t>This is also extremely important when building websites in general, as we generally design the site to meet their demands</a:t>
            </a:r>
          </a:p>
          <a:p>
            <a:pPr lvl="1"/>
            <a:endParaRPr lang="en-AU" sz="1800" dirty="0"/>
          </a:p>
          <a:p>
            <a:r>
              <a:rPr lang="en-AU" sz="1800" b="1" dirty="0"/>
              <a:t>Assessment – you are required to identify two types of users who will visit your site that have accessibility issues:</a:t>
            </a:r>
          </a:p>
          <a:p>
            <a:pPr lvl="1"/>
            <a:r>
              <a:rPr lang="en-AU" sz="1800" b="1" dirty="0"/>
              <a:t>Examples</a:t>
            </a:r>
            <a:r>
              <a:rPr lang="en-AU" sz="1800" dirty="0"/>
              <a:t>: </a:t>
            </a:r>
            <a:r>
              <a:rPr lang="en-AU" sz="1800" dirty="0" err="1"/>
              <a:t>Color</a:t>
            </a:r>
            <a:r>
              <a:rPr lang="en-AU" sz="1800" dirty="0"/>
              <a:t>-blind user OR poor eyesight user OR mobile users</a:t>
            </a:r>
          </a:p>
          <a:p>
            <a:pPr lvl="1"/>
            <a:r>
              <a:rPr lang="en-AU" sz="1800" dirty="0"/>
              <a:t>If your expected user base included these users, you would likely need to meet at least </a:t>
            </a:r>
            <a:r>
              <a:rPr lang="en-AU" sz="1800" b="1" dirty="0"/>
              <a:t>WCAG “</a:t>
            </a:r>
            <a:r>
              <a:rPr lang="en-AU" sz="1800" b="1" u="sng" dirty="0"/>
              <a:t>AA Ideal Support”</a:t>
            </a:r>
            <a:r>
              <a:rPr lang="en-AU" sz="1800" b="1" dirty="0"/>
              <a:t>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1F99D-3E66-E986-C9A5-C253E671B2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9" r="5319"/>
          <a:stretch/>
        </p:blipFill>
        <p:spPr>
          <a:xfrm>
            <a:off x="8106334" y="10"/>
            <a:ext cx="408566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15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3161-F7C7-776E-4550-4527AB38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6744119" cy="1402470"/>
          </a:xfrm>
        </p:spPr>
        <p:txBody>
          <a:bodyPr anchor="t">
            <a:normAutofit/>
          </a:bodyPr>
          <a:lstStyle/>
          <a:p>
            <a:r>
              <a:rPr lang="en-AU" sz="3200" dirty="0"/>
              <a:t>Usability / Accessibility Checklist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7C398-B3B8-81DB-DDF0-F0A12714A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6744119" cy="3591207"/>
          </a:xfrm>
        </p:spPr>
        <p:txBody>
          <a:bodyPr>
            <a:noAutofit/>
          </a:bodyPr>
          <a:lstStyle/>
          <a:p>
            <a:r>
              <a:rPr lang="en-AU" sz="1400" b="1" dirty="0"/>
              <a:t>Normally, during post-build, developers will prepare a “useability checklist” ahead of launching – to ensure that all essential user concerns are met, including:</a:t>
            </a:r>
          </a:p>
          <a:p>
            <a:pPr lvl="1"/>
            <a:r>
              <a:rPr lang="en-AU" sz="1400" dirty="0"/>
              <a:t>Accessibility</a:t>
            </a:r>
          </a:p>
          <a:p>
            <a:pPr lvl="1"/>
            <a:r>
              <a:rPr lang="en-AU" sz="1400" dirty="0"/>
              <a:t>Navigation </a:t>
            </a:r>
          </a:p>
          <a:p>
            <a:pPr lvl="1"/>
            <a:r>
              <a:rPr lang="en-AU" sz="1400" dirty="0"/>
              <a:t>Content</a:t>
            </a:r>
          </a:p>
          <a:p>
            <a:pPr lvl="1"/>
            <a:r>
              <a:rPr lang="en-AU" sz="1400" dirty="0"/>
              <a:t>Identity</a:t>
            </a:r>
          </a:p>
          <a:p>
            <a:pPr lvl="1"/>
            <a:r>
              <a:rPr lang="en-AU" sz="1400" i="1" dirty="0"/>
              <a:t>There is an example of a basic useability checklist on Brightspace</a:t>
            </a:r>
          </a:p>
          <a:p>
            <a:pPr lvl="1"/>
            <a:endParaRPr lang="en-AU" sz="1400" dirty="0"/>
          </a:p>
          <a:p>
            <a:r>
              <a:rPr lang="en-AU" sz="1400" b="1" dirty="0"/>
              <a:t>Assessment – you are required to make a more specific “accessibility checklist”, which is often within a useability checklist</a:t>
            </a:r>
          </a:p>
          <a:p>
            <a:pPr lvl="1"/>
            <a:r>
              <a:rPr lang="en-AU" sz="1400" dirty="0"/>
              <a:t>Only need to provide three things to cover, to ensure you help your identified accessibility users</a:t>
            </a:r>
          </a:p>
          <a:p>
            <a:pPr lvl="1"/>
            <a:r>
              <a:rPr lang="en-AU" sz="1400" dirty="0">
                <a:hlinkClick r:id="rId2"/>
              </a:rPr>
              <a:t>Example</a:t>
            </a:r>
            <a:r>
              <a:rPr lang="en-AU" sz="1400" dirty="0"/>
              <a:t> of large accessibility checklist</a:t>
            </a:r>
          </a:p>
          <a:p>
            <a:pPr lvl="1"/>
            <a:r>
              <a:rPr lang="en-AU" sz="1400" b="1" i="1" dirty="0"/>
              <a:t>A2 Example: </a:t>
            </a:r>
            <a:r>
              <a:rPr lang="en-AU" sz="1400" i="1" dirty="0"/>
              <a:t>“Make sure all </a:t>
            </a:r>
            <a:r>
              <a:rPr lang="en-AU" sz="1400" i="1" dirty="0" err="1"/>
              <a:t>img</a:t>
            </a:r>
            <a:r>
              <a:rPr lang="en-AU" sz="1400" i="1" dirty="0"/>
              <a:t> elements have an alt attribute”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11739-BC49-8504-B943-8545D70556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62" r="48028"/>
          <a:stretch/>
        </p:blipFill>
        <p:spPr>
          <a:xfrm>
            <a:off x="8106334" y="10"/>
            <a:ext cx="408566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74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1EEC-EEB4-D235-E7CC-A5795071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6090976" cy="1402470"/>
          </a:xfrm>
        </p:spPr>
        <p:txBody>
          <a:bodyPr anchor="t">
            <a:normAutofit/>
          </a:bodyPr>
          <a:lstStyle/>
          <a:p>
            <a:r>
              <a:rPr lang="en-AU" sz="3200" dirty="0"/>
              <a:t>Fundamental Accessibility Rules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8FE2A-0F7A-DD4D-2490-5357BF900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6020637" cy="3591207"/>
          </a:xfrm>
        </p:spPr>
        <p:txBody>
          <a:bodyPr>
            <a:normAutofit/>
          </a:bodyPr>
          <a:lstStyle/>
          <a:p>
            <a:r>
              <a:rPr lang="en-AU" sz="2000" b="1" dirty="0"/>
              <a:t>Whilst there are many considerations regarding accessibility, there are generally a few core rules you must observe every build &amp; include: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2000" dirty="0"/>
              <a:t>Images must include descriptive “alt” tags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2000" dirty="0"/>
              <a:t>Form inputs must include descriptive labels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2000" dirty="0"/>
              <a:t>Websites must still be readable without CSS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2000" dirty="0"/>
              <a:t>Anchor links should use descriptive text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2000" dirty="0"/>
              <a:t>HTML heading &amp; grouping tag rules should be followed (</a:t>
            </a:r>
            <a:r>
              <a:rPr lang="en-AU" sz="2000" i="1" dirty="0"/>
              <a:t>i.e. 1 &lt;main&gt; per page</a:t>
            </a:r>
            <a:r>
              <a:rPr lang="en-AU" sz="2000" dirty="0"/>
              <a:t>)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2000" dirty="0"/>
              <a:t>HTML semantics should be observed</a:t>
            </a:r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622006DF-4DBB-1329-DAC6-81303BCC95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828" r="16869" b="2"/>
          <a:stretch/>
        </p:blipFill>
        <p:spPr>
          <a:xfrm>
            <a:off x="7344336" y="10"/>
            <a:ext cx="484766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9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BBFE-41AE-105A-27F4-F497956E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AU" sz="3200"/>
              <a:t>Accessibility Testing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5BC48-F420-D91A-9FC9-2FFCC9BA6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63" r="24963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19F36-D040-BB67-970C-F6B3C0E41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039816"/>
            <a:ext cx="5444382" cy="4102568"/>
          </a:xfrm>
        </p:spPr>
        <p:txBody>
          <a:bodyPr>
            <a:noAutofit/>
          </a:bodyPr>
          <a:lstStyle/>
          <a:p>
            <a:r>
              <a:rPr lang="en-AU" sz="1200" b="1" dirty="0"/>
              <a:t>We will test for different aspects that help a developer to ascribe to core accessibility guidelines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1200" u="sng" dirty="0"/>
              <a:t>Monochrome/non-CSS readability</a:t>
            </a:r>
          </a:p>
          <a:p>
            <a:pPr lvl="2"/>
            <a:r>
              <a:rPr lang="en-AU" sz="1200" dirty="0"/>
              <a:t>Ensure webpage can be displayed without any stylesheet</a:t>
            </a:r>
          </a:p>
          <a:p>
            <a:pPr lvl="2"/>
            <a:r>
              <a:rPr lang="en-AU" sz="1200" b="1" dirty="0"/>
              <a:t>Tool: </a:t>
            </a:r>
            <a:r>
              <a:rPr lang="en-AU" sz="1200" dirty="0"/>
              <a:t>Disable CSS stylesheet either in code editor or Network tab in Browser dev tools</a:t>
            </a:r>
          </a:p>
          <a:p>
            <a:pPr lvl="2"/>
            <a:endParaRPr lang="en-AU" sz="1200" dirty="0"/>
          </a:p>
          <a:p>
            <a:pPr marL="914400" lvl="1" indent="-457200">
              <a:buFont typeface="+mj-lt"/>
              <a:buAutoNum type="alphaLcPeriod"/>
            </a:pPr>
            <a:r>
              <a:rPr lang="en-AU" sz="1200" u="sng" dirty="0"/>
              <a:t>Colour contrast</a:t>
            </a:r>
          </a:p>
          <a:p>
            <a:pPr lvl="2"/>
            <a:r>
              <a:rPr lang="en-AU" sz="1200" dirty="0"/>
              <a:t>Ensure webpage can be read without colours (</a:t>
            </a:r>
            <a:r>
              <a:rPr lang="en-AU" sz="1200" i="1" dirty="0"/>
              <a:t>as greyscale</a:t>
            </a:r>
            <a:r>
              <a:rPr lang="en-AU" sz="1200" dirty="0"/>
              <a:t>)</a:t>
            </a:r>
          </a:p>
          <a:p>
            <a:pPr lvl="2"/>
            <a:r>
              <a:rPr lang="en-AU" sz="1200" b="1" dirty="0"/>
              <a:t>Tool: </a:t>
            </a:r>
            <a:r>
              <a:rPr lang="en-AU" sz="1200" dirty="0">
                <a:hlinkClick r:id="rId3"/>
              </a:rPr>
              <a:t>Adobe Color Analyzer </a:t>
            </a:r>
            <a:r>
              <a:rPr lang="en-AU" sz="1200" dirty="0"/>
              <a:t>/ </a:t>
            </a:r>
            <a:r>
              <a:rPr lang="en-AU" sz="1200" dirty="0" err="1"/>
              <a:t>DevTools</a:t>
            </a:r>
            <a:r>
              <a:rPr lang="en-AU" sz="1200" dirty="0"/>
              <a:t> plugin</a:t>
            </a:r>
          </a:p>
          <a:p>
            <a:pPr marL="914400" lvl="1" indent="-457200">
              <a:buFont typeface="+mj-lt"/>
              <a:buAutoNum type="alphaLcPeriod"/>
            </a:pPr>
            <a:endParaRPr lang="en-AU" sz="1200" dirty="0"/>
          </a:p>
          <a:p>
            <a:pPr marL="914400" lvl="1" indent="-457200">
              <a:buFont typeface="+mj-lt"/>
              <a:buAutoNum type="alphaLcPeriod"/>
            </a:pPr>
            <a:r>
              <a:rPr lang="en-AU" sz="1200" u="sng" dirty="0"/>
              <a:t>Text equivalents / screen readability</a:t>
            </a:r>
          </a:p>
          <a:p>
            <a:pPr lvl="2"/>
            <a:r>
              <a:rPr lang="en-AU" sz="1200" dirty="0"/>
              <a:t>Ensure non-text elements have a text equivalent, so can be read by screen readers</a:t>
            </a:r>
          </a:p>
          <a:p>
            <a:pPr lvl="2"/>
            <a:r>
              <a:rPr lang="en-AU" sz="1200" b="1" dirty="0"/>
              <a:t>Tool: </a:t>
            </a:r>
            <a:r>
              <a:rPr lang="en-AU" sz="1200" dirty="0">
                <a:hlinkClick r:id="rId4"/>
              </a:rPr>
              <a:t>Read Aloud Chrome Extension </a:t>
            </a:r>
            <a:endParaRPr lang="en-AU" sz="1200" dirty="0"/>
          </a:p>
          <a:p>
            <a:pPr marL="914400" lvl="1" indent="-457200">
              <a:buFont typeface="+mj-lt"/>
              <a:buAutoNum type="alphaLcPeriod"/>
            </a:pPr>
            <a:endParaRPr lang="en-AU" sz="1200" dirty="0"/>
          </a:p>
          <a:p>
            <a:pPr marL="914400" lvl="1" indent="-457200">
              <a:buFont typeface="+mj-lt"/>
              <a:buAutoNum type="alphaLcPeriod"/>
            </a:pPr>
            <a:r>
              <a:rPr lang="en-AU" sz="1200" u="sng" dirty="0"/>
              <a:t>Recommended HTML semantics</a:t>
            </a:r>
          </a:p>
          <a:p>
            <a:pPr lvl="2"/>
            <a:r>
              <a:rPr lang="en-AU" sz="1200" dirty="0"/>
              <a:t>Ensure HTML is written correctly &amp; uses elements which accurately describe the content</a:t>
            </a:r>
          </a:p>
          <a:p>
            <a:pPr lvl="2"/>
            <a:r>
              <a:rPr lang="en-AU" sz="1200" b="1" dirty="0"/>
              <a:t>Tool: </a:t>
            </a:r>
            <a:r>
              <a:rPr lang="en-AU" sz="1200" dirty="0"/>
              <a:t>Browser </a:t>
            </a:r>
            <a:r>
              <a:rPr lang="en-AU" sz="1200" dirty="0" err="1"/>
              <a:t>DevTools</a:t>
            </a:r>
            <a:r>
              <a:rPr lang="en-AU" sz="1200" dirty="0"/>
              <a:t> / </a:t>
            </a:r>
            <a:r>
              <a:rPr lang="en-AU" sz="1200" dirty="0">
                <a:hlinkClick r:id="rId5"/>
              </a:rPr>
              <a:t>HTML Validator</a:t>
            </a:r>
            <a:r>
              <a:rPr lang="en-AU" sz="1200" dirty="0"/>
              <a:t> (later)</a:t>
            </a:r>
          </a:p>
          <a:p>
            <a:pPr marL="914400" lvl="1" indent="-457200">
              <a:buFont typeface="+mj-lt"/>
              <a:buAutoNum type="alphaLcPeriod"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767426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2336C-C407-C8AB-FA63-4E8E2E81A7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39031" b="471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1D66D-EAAC-C321-CD43-7CB919C6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en-AU" sz="8000" dirty="0">
                <a:solidFill>
                  <a:schemeClr val="tx2"/>
                </a:solidFill>
              </a:rPr>
              <a:t>Functionality </a:t>
            </a:r>
            <a:br>
              <a:rPr lang="en-AU" sz="8000" dirty="0">
                <a:solidFill>
                  <a:schemeClr val="tx2"/>
                </a:solidFill>
              </a:rPr>
            </a:br>
            <a:r>
              <a:rPr lang="en-AU" sz="8000" dirty="0">
                <a:solidFill>
                  <a:schemeClr val="tx2"/>
                </a:solidFill>
              </a:rPr>
              <a:t>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1ECE2-C1BD-8BF8-93CD-EF3602C63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r>
              <a:rPr lang="en-AU" sz="2200">
                <a:solidFill>
                  <a:schemeClr val="tx2"/>
                </a:solidFill>
              </a:rPr>
              <a:t>HTML &amp; CSS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544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11A6-C772-A64A-3E0D-57CCFD72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5668945" cy="1402470"/>
          </a:xfrm>
        </p:spPr>
        <p:txBody>
          <a:bodyPr anchor="t">
            <a:normAutofit/>
          </a:bodyPr>
          <a:lstStyle/>
          <a:p>
            <a:r>
              <a:rPr lang="en-AU" sz="3200" dirty="0"/>
              <a:t>Website Functionality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0C086900-CEC3-169F-361D-60088F2D2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5668945" cy="3591207"/>
          </a:xfrm>
        </p:spPr>
        <p:txBody>
          <a:bodyPr>
            <a:normAutofit/>
          </a:bodyPr>
          <a:lstStyle/>
          <a:p>
            <a:r>
              <a:rPr lang="en-AU" sz="1600" b="1" dirty="0"/>
              <a:t>Website functionality testing, tests UI/features for bugs and errors</a:t>
            </a:r>
          </a:p>
          <a:p>
            <a:pPr lvl="1"/>
            <a:r>
              <a:rPr lang="en-AU" sz="1600" dirty="0"/>
              <a:t>“Functionality testing” can be a wide field and can include checking user usability, compatibility between devices &amp; browsers, security testing and dynamic UI testing </a:t>
            </a:r>
          </a:p>
          <a:p>
            <a:pPr lvl="1"/>
            <a:r>
              <a:rPr lang="en-AU" sz="1600" b="1" dirty="0"/>
              <a:t>Example: </a:t>
            </a:r>
            <a:r>
              <a:rPr lang="en-AU" sz="1600" dirty="0"/>
              <a:t>Test that the contact form correctly submits user information to the server-side API</a:t>
            </a:r>
          </a:p>
          <a:p>
            <a:pPr lvl="1"/>
            <a:endParaRPr lang="en-AU" sz="1600" b="1" dirty="0"/>
          </a:p>
          <a:p>
            <a:r>
              <a:rPr lang="en-AU" sz="1600" b="1" dirty="0"/>
              <a:t>Functionality testing becomes more complex and time-consuming, the more technical the site is</a:t>
            </a:r>
          </a:p>
          <a:p>
            <a:pPr lvl="1"/>
            <a:r>
              <a:rPr lang="en-AU" sz="1600" dirty="0"/>
              <a:t>In our case, HTML/CSS 3-page static websites have only a few items worthy of functionality testing 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7EA14924-BC09-D75D-8EED-FC2AC60F18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07" t="-2" r="40567"/>
          <a:stretch/>
        </p:blipFill>
        <p:spPr>
          <a:xfrm>
            <a:off x="7134330" y="10"/>
            <a:ext cx="506771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23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7E98-9486-5CC2-0C2D-5407A799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751051"/>
          </a:xfrm>
        </p:spPr>
        <p:txBody>
          <a:bodyPr anchor="t">
            <a:normAutofit/>
          </a:bodyPr>
          <a:lstStyle/>
          <a:p>
            <a:r>
              <a:rPr lang="en-AU" sz="3200" dirty="0"/>
              <a:t>Functionality Testing Tools</a:t>
            </a:r>
          </a:p>
        </p:txBody>
      </p:sp>
      <p:pic>
        <p:nvPicPr>
          <p:cNvPr id="5" name="Picture 4" descr="Blue digital binary data on a screen">
            <a:extLst>
              <a:ext uri="{FF2B5EF4-FFF2-40B4-BE49-F238E27FC236}">
                <a16:creationId xmlns:a16="http://schemas.microsoft.com/office/drawing/2014/main" id="{C9EAD045-D0CC-7866-AB3A-651D13A9C0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396" r="23353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18C61-704C-6697-0EF7-46DB42906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1889088"/>
            <a:ext cx="5444382" cy="4253296"/>
          </a:xfrm>
        </p:spPr>
        <p:txBody>
          <a:bodyPr>
            <a:normAutofit/>
          </a:bodyPr>
          <a:lstStyle/>
          <a:p>
            <a:r>
              <a:rPr lang="en-AU" sz="1400" b="1" dirty="0"/>
              <a:t>We will use a few key aspects to focus on regarding functionality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AU" sz="1400" u="sng" dirty="0"/>
              <a:t>Browser accessibility</a:t>
            </a:r>
          </a:p>
          <a:p>
            <a:pPr lvl="2"/>
            <a:r>
              <a:rPr lang="en-AU" sz="1400" dirty="0"/>
              <a:t>Confirming website / app works consistently between different browsers, by opening up on a sample set of browsers</a:t>
            </a:r>
          </a:p>
          <a:p>
            <a:pPr marL="914400" lvl="2" indent="0">
              <a:buNone/>
            </a:pPr>
            <a:endParaRPr lang="en-AU" sz="1400" dirty="0"/>
          </a:p>
          <a:p>
            <a:pPr marL="914400" lvl="1" indent="-457200">
              <a:buFont typeface="+mj-lt"/>
              <a:buAutoNum type="alphaLcPeriod"/>
            </a:pPr>
            <a:r>
              <a:rPr lang="en-AU" sz="1400" u="sng" dirty="0"/>
              <a:t>Markup validation</a:t>
            </a:r>
          </a:p>
          <a:p>
            <a:pPr lvl="2"/>
            <a:r>
              <a:rPr lang="en-AU" sz="1400" dirty="0"/>
              <a:t>Validation of markup via W3C validation service  against standard: </a:t>
            </a:r>
            <a:r>
              <a:rPr lang="en-AU" sz="1400" dirty="0">
                <a:hlinkClick r:id="rId3"/>
              </a:rPr>
              <a:t>validator</a:t>
            </a:r>
            <a:endParaRPr lang="en-AU" sz="1400" dirty="0"/>
          </a:p>
          <a:p>
            <a:pPr marL="914400" lvl="2" indent="0">
              <a:buNone/>
            </a:pPr>
            <a:endParaRPr lang="en-AU" sz="1400" dirty="0"/>
          </a:p>
          <a:p>
            <a:pPr marL="914400" lvl="1" indent="-457200">
              <a:buFont typeface="+mj-lt"/>
              <a:buAutoNum type="alphaLcPeriod"/>
            </a:pPr>
            <a:r>
              <a:rPr lang="en-AU" sz="1400" u="sng" dirty="0"/>
              <a:t>Stylesheet validation</a:t>
            </a:r>
          </a:p>
          <a:p>
            <a:pPr lvl="2"/>
            <a:r>
              <a:rPr lang="en-AU" sz="1400" dirty="0"/>
              <a:t>Validation of stylesheet by W3C validation service against standard: </a:t>
            </a:r>
            <a:r>
              <a:rPr lang="en-AU" sz="1400" dirty="0">
                <a:hlinkClick r:id="rId4"/>
              </a:rPr>
              <a:t>validator</a:t>
            </a:r>
            <a:endParaRPr lang="en-AU" sz="1400" dirty="0"/>
          </a:p>
          <a:p>
            <a:pPr marL="914400" lvl="2" indent="0">
              <a:buNone/>
            </a:pPr>
            <a:endParaRPr lang="en-AU" sz="1400" dirty="0"/>
          </a:p>
          <a:p>
            <a:pPr marL="914400" lvl="1" indent="-457200">
              <a:buFont typeface="+mj-lt"/>
              <a:buAutoNum type="alphaLcPeriod"/>
            </a:pPr>
            <a:r>
              <a:rPr lang="en-AU" sz="1400" u="sng" dirty="0"/>
              <a:t>Manual feature testing</a:t>
            </a:r>
          </a:p>
          <a:p>
            <a:pPr lvl="2"/>
            <a:r>
              <a:rPr lang="en-AU" sz="1400" dirty="0"/>
              <a:t>Testing checklist on specific features to ensure they work as expected (</a:t>
            </a:r>
            <a:r>
              <a:rPr lang="en-AU" sz="1400" i="1" dirty="0"/>
              <a:t>checking against actual output</a:t>
            </a:r>
            <a:r>
              <a:rPr lang="en-AU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9394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2336C-C407-C8AB-FA63-4E8E2E81A7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39031" b="471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1D66D-EAAC-C321-CD43-7CB919C6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en-AU" sz="8000" dirty="0">
                <a:solidFill>
                  <a:schemeClr val="tx2"/>
                </a:solidFill>
              </a:rPr>
              <a:t>Performance </a:t>
            </a:r>
            <a:br>
              <a:rPr lang="en-AU" sz="8000" dirty="0">
                <a:solidFill>
                  <a:schemeClr val="tx2"/>
                </a:solidFill>
              </a:rPr>
            </a:br>
            <a:r>
              <a:rPr lang="en-AU" sz="8000" dirty="0">
                <a:solidFill>
                  <a:schemeClr val="tx2"/>
                </a:solidFill>
              </a:rPr>
              <a:t>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1ECE2-C1BD-8BF8-93CD-EF3602C63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r>
              <a:rPr lang="en-AU" sz="2200">
                <a:solidFill>
                  <a:schemeClr val="tx2"/>
                </a:solidFill>
              </a:rPr>
              <a:t>HTML &amp; CSS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640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E237-22DF-D0BE-6EAA-2CE514AA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6492910" cy="1402470"/>
          </a:xfrm>
        </p:spPr>
        <p:txBody>
          <a:bodyPr anchor="t">
            <a:normAutofit/>
          </a:bodyPr>
          <a:lstStyle/>
          <a:p>
            <a:r>
              <a:rPr lang="en-AU" sz="3200" dirty="0"/>
              <a:t>Website “Technical” Performance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7FBBA-0856-B354-7800-6A8EA5524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6673780" cy="3591207"/>
          </a:xfrm>
        </p:spPr>
        <p:txBody>
          <a:bodyPr>
            <a:normAutofit/>
          </a:bodyPr>
          <a:lstStyle/>
          <a:p>
            <a:r>
              <a:rPr lang="en-AU" sz="1800" dirty="0"/>
              <a:t>Testing websites does </a:t>
            </a:r>
            <a:r>
              <a:rPr lang="en-AU" sz="1800" b="1" dirty="0"/>
              <a:t>NOT</a:t>
            </a:r>
            <a:r>
              <a:rPr lang="en-AU" sz="1800" dirty="0"/>
              <a:t> only focus on bugs and errors – but can </a:t>
            </a:r>
            <a:r>
              <a:rPr lang="en-AU" sz="1800" u="sng" dirty="0"/>
              <a:t>look at the wider performance</a:t>
            </a:r>
            <a:r>
              <a:rPr lang="en-AU" sz="1800" dirty="0"/>
              <a:t> of the site when a user accesses it</a:t>
            </a:r>
          </a:p>
          <a:p>
            <a:endParaRPr lang="en-AU" sz="1800" dirty="0"/>
          </a:p>
          <a:p>
            <a:r>
              <a:rPr lang="en-AU" sz="1800" b="1" dirty="0"/>
              <a:t>Technical performance measurement checks the overall speed and efficiency of a website, and will track items like:</a:t>
            </a:r>
          </a:p>
          <a:p>
            <a:pPr lvl="1"/>
            <a:r>
              <a:rPr lang="en-AU" sz="1800" dirty="0"/>
              <a:t>load times</a:t>
            </a:r>
          </a:p>
          <a:p>
            <a:pPr lvl="1"/>
            <a:r>
              <a:rPr lang="en-AU" sz="1800" dirty="0"/>
              <a:t>efficiency of loading certain assets</a:t>
            </a:r>
          </a:p>
          <a:p>
            <a:pPr lvl="1"/>
            <a:r>
              <a:rPr lang="en-AU" sz="1800" dirty="0"/>
              <a:t>efficacy of scripts running on the page</a:t>
            </a:r>
          </a:p>
          <a:p>
            <a:pPr lvl="1"/>
            <a:r>
              <a:rPr lang="en-AU" sz="1800" dirty="0"/>
              <a:t>SEO and search metrics</a:t>
            </a:r>
          </a:p>
          <a:p>
            <a:pPr lvl="1"/>
            <a:r>
              <a:rPr lang="en-AU" sz="1800" dirty="0"/>
              <a:t>user access and conversion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E000FC-9D14-CF5E-4CC9-AB15B90E55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19" r="10011"/>
          <a:stretch/>
        </p:blipFill>
        <p:spPr>
          <a:xfrm>
            <a:off x="8106334" y="10"/>
            <a:ext cx="408566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3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2AAF-1C1C-DD21-461E-0FC4373D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AU" sz="3200"/>
              <a:t>Performance Testing Tools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1080-53C0-D212-A17C-ADCA62306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n-AU" sz="2000" dirty="0"/>
              <a:t>We will use one major tool for performance, as HTML/CSS websites by nature should be fast:</a:t>
            </a:r>
          </a:p>
          <a:p>
            <a:pPr lvl="1"/>
            <a:endParaRPr lang="en-AU" sz="2000" dirty="0"/>
          </a:p>
          <a:p>
            <a:pPr lvl="1"/>
            <a:r>
              <a:rPr lang="en-AU" sz="2000" b="1" dirty="0"/>
              <a:t>Google Lighthouse </a:t>
            </a:r>
            <a:r>
              <a:rPr lang="en-AU" sz="2000" dirty="0"/>
              <a:t>testing</a:t>
            </a:r>
          </a:p>
          <a:p>
            <a:pPr lvl="1"/>
            <a:endParaRPr lang="en-AU" sz="2000" dirty="0"/>
          </a:p>
          <a:p>
            <a:pPr lvl="1"/>
            <a:r>
              <a:rPr lang="en-AU" sz="2000" i="1" dirty="0"/>
              <a:t>This tool, built into your browser, includes SEVERAL important tools beyond performance too</a:t>
            </a:r>
          </a:p>
          <a:p>
            <a:pPr lvl="1"/>
            <a:endParaRPr lang="en-AU" sz="2000" i="1" dirty="0"/>
          </a:p>
          <a:p>
            <a:pPr lvl="1"/>
            <a:r>
              <a:rPr lang="en-AU" sz="2000" i="1" dirty="0"/>
              <a:t>You can even test accessibility!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05F38-77E6-8992-ACF6-76C44CC8B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118" y="771753"/>
            <a:ext cx="5329419" cy="531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1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</TotalTime>
  <Words>1315</Words>
  <Application>Microsoft Macintosh PowerPoint</Application>
  <PresentationFormat>Widescreen</PresentationFormat>
  <Paragraphs>172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Post-Build Considerations</vt:lpstr>
      <vt:lpstr>What is “post-build”?</vt:lpstr>
      <vt:lpstr>Post-build step prior to launch</vt:lpstr>
      <vt:lpstr>Standards &amp; Guidelines</vt:lpstr>
      <vt:lpstr>Web standards (recap)</vt:lpstr>
      <vt:lpstr>Accessibility Guidelines (recap)</vt:lpstr>
      <vt:lpstr>Website Testing</vt:lpstr>
      <vt:lpstr>Testing websites before “production”</vt:lpstr>
      <vt:lpstr>How complex can testing get?</vt:lpstr>
      <vt:lpstr>Our focus</vt:lpstr>
      <vt:lpstr>Accessibility  Testing</vt:lpstr>
      <vt:lpstr>Purpose of accessibility (recap)</vt:lpstr>
      <vt:lpstr>User Groups &amp; Targeting your User(s)</vt:lpstr>
      <vt:lpstr>Usability / Accessibility Checklist</vt:lpstr>
      <vt:lpstr>Fundamental Accessibility Rules</vt:lpstr>
      <vt:lpstr>Accessibility Testing Tools</vt:lpstr>
      <vt:lpstr>Functionality  Testing</vt:lpstr>
      <vt:lpstr>Website Functionality</vt:lpstr>
      <vt:lpstr>Functionality Testing Tools</vt:lpstr>
      <vt:lpstr>Performance  Testing</vt:lpstr>
      <vt:lpstr>Website “Technical” Performance</vt:lpstr>
      <vt:lpstr>Performance Testing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Accessibility Principles</dc:title>
  <dc:creator>Alex Bicknell</dc:creator>
  <cp:lastModifiedBy>Alex Bicknell</cp:lastModifiedBy>
  <cp:revision>106</cp:revision>
  <dcterms:created xsi:type="dcterms:W3CDTF">2024-03-11T05:46:55Z</dcterms:created>
  <dcterms:modified xsi:type="dcterms:W3CDTF">2024-03-11T08:47:05Z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a614bb-7b8e-4b4e-afa5-3fac8d0b6cac_Enabled">
    <vt:lpwstr>true</vt:lpwstr>
  </property>
  <property fmtid="{D5CDD505-2E9C-101B-9397-08002B2CF9AE}" pid="3" name="MSIP_Label_41a614bb-7b8e-4b4e-afa5-3fac8d0b6cac_SetDate">
    <vt:lpwstr>2024-03-11T05:47:51Z</vt:lpwstr>
  </property>
  <property fmtid="{D5CDD505-2E9C-101B-9397-08002B2CF9AE}" pid="4" name="MSIP_Label_41a614bb-7b8e-4b4e-afa5-3fac8d0b6cac_Method">
    <vt:lpwstr>Standard</vt:lpwstr>
  </property>
  <property fmtid="{D5CDD505-2E9C-101B-9397-08002B2CF9AE}" pid="5" name="MSIP_Label_41a614bb-7b8e-4b4e-afa5-3fac8d0b6cac_Name">
    <vt:lpwstr>OFFICIAL</vt:lpwstr>
  </property>
  <property fmtid="{D5CDD505-2E9C-101B-9397-08002B2CF9AE}" pid="6" name="MSIP_Label_41a614bb-7b8e-4b4e-afa5-3fac8d0b6cac_SiteId">
    <vt:lpwstr>435f6007-b395-4841-9bdb-dcba52302216</vt:lpwstr>
  </property>
  <property fmtid="{D5CDD505-2E9C-101B-9397-08002B2CF9AE}" pid="7" name="MSIP_Label_41a614bb-7b8e-4b4e-afa5-3fac8d0b6cac_ActionId">
    <vt:lpwstr>c7143e6c-e4da-48ca-bc21-a119c5ccb8c2</vt:lpwstr>
  </property>
  <property fmtid="{D5CDD505-2E9C-101B-9397-08002B2CF9AE}" pid="8" name="MSIP_Label_41a614bb-7b8e-4b4e-afa5-3fac8d0b6cac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OFFICIAL</vt:lpwstr>
  </property>
</Properties>
</file>