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1pPr>
    <a:lvl2pPr marL="0" marR="0" indent="45716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2pPr>
    <a:lvl3pPr marL="0" marR="0" indent="91433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3pPr>
    <a:lvl4pPr marL="0" marR="0" indent="1371494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4pPr>
    <a:lvl5pPr marL="0" marR="0" indent="182866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5pPr>
    <a:lvl6pPr marL="0" marR="0" indent="228582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6pPr>
    <a:lvl7pPr marL="0" marR="0" indent="2742989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7pPr>
    <a:lvl8pPr marL="0" marR="0" indent="3200155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8pPr>
    <a:lvl9pPr marL="0" marR="0" indent="3657320" algn="l" defTabSz="9143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3D1"/>
          </a:solidFill>
        </a:fill>
      </a:tcStyle>
    </a:wholeTbl>
    <a:band2H>
      <a:tcTxStyle b="def" i="def"/>
      <a:tcStyle>
        <a:tcBdr/>
        <a:fill>
          <a:solidFill>
            <a:srgbClr val="FFF9EA"/>
          </a:solidFill>
        </a:fill>
      </a:tcStyle>
    </a:band2H>
    <a:firstCol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5CA"/>
          </a:solidFill>
        </a:fill>
      </a:tcStyle>
    </a:wholeTbl>
    <a:band2H>
      <a:tcTxStyle b="def" i="def"/>
      <a:tcStyle>
        <a:tcBdr/>
        <a:fill>
          <a:solidFill>
            <a:srgbClr val="FDEBE6"/>
          </a:solidFill>
        </a:fill>
      </a:tcStyle>
    </a:band2H>
    <a:firstCol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CCA"/>
          </a:solidFill>
        </a:fill>
      </a:tcStyle>
    </a:wholeTbl>
    <a:band2H>
      <a:tcTxStyle b="def" i="def"/>
      <a:tcStyle>
        <a:tcBdr/>
        <a:fill>
          <a:solidFill>
            <a:srgbClr val="ECEEE6"/>
          </a:solidFill>
        </a:fill>
      </a:tcStyle>
    </a:band2H>
    <a:firstCol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Open Sans"/>
          <a:ea typeface="Open Sans"/>
          <a:cs typeface="Open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Open Sans"/>
          <a:ea typeface="Open Sans"/>
          <a:cs typeface="Open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" name="Shape 8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Title Text"/>
          <p:cNvSpPr txBox="1"/>
          <p:nvPr>
            <p:ph type="title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1578881" y="423447"/>
            <a:ext cx="128886" cy="139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1pPr>
            <a:lvl2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2pPr>
            <a:lvl3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3pPr>
            <a:lvl4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4pPr>
            <a:lvl5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Title Text"/>
          <p:cNvSpPr txBox="1"/>
          <p:nvPr>
            <p:ph type="title"/>
          </p:nvPr>
        </p:nvSpPr>
        <p:spPr>
          <a:xfrm>
            <a:off x="1596570" y="1432830"/>
            <a:ext cx="9833431" cy="10287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xfrm>
            <a:off x="11578881" y="423447"/>
            <a:ext cx="128886" cy="139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1pPr>
            <a:lvl2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2pPr>
            <a:lvl3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3pPr>
            <a:lvl4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4pPr>
            <a:lvl5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596572" y="1432830"/>
            <a:ext cx="5069272" cy="10287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11578881" y="423447"/>
            <a:ext cx="128886" cy="139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1" name="Body Level One…"/>
          <p:cNvSpPr txBox="1"/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1pPr>
            <a:lvl2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2pPr>
            <a:lvl3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3pPr>
            <a:lvl4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4pPr>
            <a:lvl5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Picture Placeholder 7"/>
          <p:cNvSpPr/>
          <p:nvPr>
            <p:ph type="pic" idx="13"/>
          </p:nvPr>
        </p:nvSpPr>
        <p:spPr>
          <a:xfrm>
            <a:off x="7074638" y="0"/>
            <a:ext cx="5117362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xfrm>
            <a:off x="11578881" y="423447"/>
            <a:ext cx="128886" cy="139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1" name="Body Level One…"/>
          <p:cNvSpPr txBox="1"/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1pPr>
            <a:lvl2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2pPr>
            <a:lvl3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3pPr>
            <a:lvl4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4pPr>
            <a:lvl5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Picture Placeholder 7"/>
          <p:cNvSpPr/>
          <p:nvPr>
            <p:ph type="pic" sz="half" idx="13"/>
          </p:nvPr>
        </p:nvSpPr>
        <p:spPr>
          <a:xfrm>
            <a:off x="1596572" y="1554465"/>
            <a:ext cx="4126316" cy="412631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11578881" y="423447"/>
            <a:ext cx="128886" cy="139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" name="Body Level One…"/>
          <p:cNvSpPr txBox="1"/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1pPr>
            <a:lvl2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2pPr>
            <a:lvl3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3pPr>
            <a:lvl4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4pPr>
            <a:lvl5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Picture Placeholder 7"/>
          <p:cNvSpPr/>
          <p:nvPr>
            <p:ph type="pic" sz="quarter" idx="13"/>
          </p:nvPr>
        </p:nvSpPr>
        <p:spPr>
          <a:xfrm>
            <a:off x="1596571" y="1977275"/>
            <a:ext cx="2638604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Oval 9"/>
          <p:cNvSpPr/>
          <p:nvPr/>
        </p:nvSpPr>
        <p:spPr>
          <a:xfrm>
            <a:off x="5883283" y="1060172"/>
            <a:ext cx="7261609" cy="7261609"/>
          </a:xfrm>
          <a:prstGeom prst="ellipse">
            <a:avLst/>
          </a:prstGeom>
          <a:ln w="6350">
            <a:solidFill>
              <a:srgbClr val="000000">
                <a:alpha val="10000"/>
              </a:srgbClr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" name="Picture Placeholder 7"/>
          <p:cNvSpPr/>
          <p:nvPr>
            <p:ph type="pic" sz="quarter" idx="14"/>
          </p:nvPr>
        </p:nvSpPr>
        <p:spPr>
          <a:xfrm>
            <a:off x="4736929" y="1977275"/>
            <a:ext cx="2638603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5" name="Picture Placeholder 7"/>
          <p:cNvSpPr/>
          <p:nvPr>
            <p:ph type="pic" sz="quarter" idx="15"/>
          </p:nvPr>
        </p:nvSpPr>
        <p:spPr>
          <a:xfrm>
            <a:off x="7877286" y="1977275"/>
            <a:ext cx="2638603" cy="26386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4"/>
          <p:cNvSpPr/>
          <p:nvPr/>
        </p:nvSpPr>
        <p:spPr>
          <a:xfrm>
            <a:off x="11458267" y="308240"/>
            <a:ext cx="370115" cy="370114"/>
          </a:xfrm>
          <a:prstGeom prst="ellipse">
            <a:avLst/>
          </a:prstGeom>
          <a:solidFill>
            <a:srgbClr val="000000">
              <a:alpha val="1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3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45193" y="1277827"/>
            <a:ext cx="7881707" cy="4627673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Picture Placeholder 4"/>
          <p:cNvSpPr/>
          <p:nvPr>
            <p:ph type="pic" sz="half" idx="13"/>
          </p:nvPr>
        </p:nvSpPr>
        <p:spPr>
          <a:xfrm>
            <a:off x="5109454" y="1602012"/>
            <a:ext cx="5952246" cy="37319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5" name="Title Text"/>
          <p:cNvSpPr txBox="1"/>
          <p:nvPr>
            <p:ph type="title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xfrm>
            <a:off x="11578881" y="423447"/>
            <a:ext cx="128886" cy="1397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7" name="Body Level One…"/>
          <p:cNvSpPr txBox="1"/>
          <p:nvPr>
            <p:ph type="body" sz="quarter" idx="1"/>
          </p:nvPr>
        </p:nvSpPr>
        <p:spPr>
          <a:xfrm>
            <a:off x="1596572" y="471526"/>
            <a:ext cx="3006426" cy="9144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1pPr>
            <a:lvl2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2pPr>
            <a:lvl3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3pPr>
            <a:lvl4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4pPr>
            <a:lvl5pPr>
              <a:lnSpc>
                <a:spcPct val="100000"/>
              </a:lnSpc>
              <a:defRPr i="1" sz="900">
                <a:solidFill>
                  <a:srgbClr val="000000">
                    <a:alpha val="70000"/>
                  </a:srgbClr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ransition xmlns:p14="http://schemas.microsoft.com/office/powerpoint/2010/main" spd="med" advClick="1"/>
  <p:txStyles>
    <p:titleStyle>
      <a:lvl1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1pPr>
      <a:lvl2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2pPr>
      <a:lvl3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3pPr>
      <a:lvl4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4pPr>
      <a:lvl5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5pPr>
      <a:lvl6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6pPr>
      <a:lvl7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7pPr>
      <a:lvl8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8pPr>
      <a:lvl9pPr marL="0" marR="0" indent="0" algn="l" defTabSz="914318" rtl="0" latinLnBrk="0">
        <a:lnSpc>
          <a:spcPct val="7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51" strike="noStrike" sz="4400" u="none">
          <a:solidFill>
            <a:srgbClr val="000000"/>
          </a:solidFill>
          <a:uFillTx/>
          <a:latin typeface="Montserrat Bold"/>
          <a:ea typeface="Montserrat Bold"/>
          <a:cs typeface="Montserrat Bold"/>
          <a:sym typeface="Montserrat Bold"/>
        </a:defRPr>
      </a:lvl9pPr>
    </p:titleStyle>
    <p:bodyStyle>
      <a:lvl1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1pPr>
      <a:lvl2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2pPr>
      <a:lvl3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3pPr>
      <a:lvl4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4pPr>
      <a:lvl5pPr marL="0" marR="0" indent="0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5pPr>
      <a:lvl6pPr marL="2641362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6pPr>
      <a:lvl7pPr marL="3098522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7pPr>
      <a:lvl8pPr marL="3555680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8pPr>
      <a:lvl9pPr marL="4012838" marR="0" indent="-355568" algn="l" defTabSz="914318" rtl="0" latinLnBrk="0">
        <a:lnSpc>
          <a:spcPct val="15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9pPr>
    </p:bodyStyle>
    <p:otherStyle>
      <a:lvl1pPr marL="0" marR="0" indent="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1pPr>
      <a:lvl2pPr marL="0" marR="0" indent="45716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2pPr>
      <a:lvl3pPr marL="0" marR="0" indent="91433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3pPr>
      <a:lvl4pPr marL="0" marR="0" indent="1371494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4pPr>
      <a:lvl5pPr marL="0" marR="0" indent="182866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5pPr>
      <a:lvl6pPr marL="0" marR="0" indent="228582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6pPr>
      <a:lvl7pPr marL="0" marR="0" indent="2742989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7pPr>
      <a:lvl8pPr marL="0" marR="0" indent="3200155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8pPr>
      <a:lvl9pPr marL="0" marR="0" indent="3657320" algn="ctr" defTabSz="91433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Placeholder 1" descr="Picture Placeholder 1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0" t="18984" r="0" b="39193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87" name="Title 2"/>
          <p:cNvSpPr txBox="1"/>
          <p:nvPr>
            <p:ph type="title"/>
          </p:nvPr>
        </p:nvSpPr>
        <p:spPr>
          <a:xfrm>
            <a:off x="1596570" y="2389411"/>
            <a:ext cx="4187373" cy="1783444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Client Side Development Tools</a:t>
            </a:r>
          </a:p>
        </p:txBody>
      </p:sp>
      <p:sp>
        <p:nvSpPr>
          <p:cNvPr id="88" name="Slide Number Placeholder 3"/>
          <p:cNvSpPr txBox="1"/>
          <p:nvPr>
            <p:ph type="sldNum" sz="quarter" idx="2"/>
          </p:nvPr>
        </p:nvSpPr>
        <p:spPr>
          <a:xfrm>
            <a:off x="11579824" y="423447"/>
            <a:ext cx="127001" cy="1397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9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Server Side Development  / Web Programming</a:t>
            </a:r>
          </a:p>
        </p:txBody>
      </p:sp>
      <p:sp>
        <p:nvSpPr>
          <p:cNvPr id="90" name="TextBox 5"/>
          <p:cNvSpPr txBox="1"/>
          <p:nvPr/>
        </p:nvSpPr>
        <p:spPr>
          <a:xfrm>
            <a:off x="1596570" y="5348404"/>
            <a:ext cx="198483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pPr/>
            <a:r>
              <a:t>??????????</a:t>
            </a:r>
          </a:p>
        </p:txBody>
      </p:sp>
      <p:sp>
        <p:nvSpPr>
          <p:cNvPr id="91" name="TextBox 6"/>
          <p:cNvSpPr txBox="1"/>
          <p:nvPr/>
        </p:nvSpPr>
        <p:spPr>
          <a:xfrm>
            <a:off x="1596569" y="5113549"/>
            <a:ext cx="49097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400">
                <a:solidFill>
                  <a:schemeClr val="accent3"/>
                </a:solidFill>
              </a:defRPr>
            </a:lvl1pPr>
          </a:lstStyle>
          <a:p>
            <a:pPr/>
            <a:r>
              <a:t>Why?</a:t>
            </a:r>
          </a:p>
        </p:txBody>
      </p:sp>
      <p:sp>
        <p:nvSpPr>
          <p:cNvPr id="92" name="TextBox 6"/>
          <p:cNvSpPr txBox="1"/>
          <p:nvPr/>
        </p:nvSpPr>
        <p:spPr>
          <a:xfrm>
            <a:off x="1528224" y="4075864"/>
            <a:ext cx="314312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00263" indent="-100263">
              <a:lnSpc>
                <a:spcPct val="120000"/>
              </a:lnSpc>
              <a:buSzPct val="100000"/>
              <a:buChar char="•"/>
              <a:defRPr sz="15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pPr/>
            <a:r>
              <a:t>These tools are only important if you are building client side web apps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Number Placeholder 1"/>
          <p:cNvSpPr txBox="1"/>
          <p:nvPr>
            <p:ph type="sldNum" sz="quarter" idx="2"/>
          </p:nvPr>
        </p:nvSpPr>
        <p:spPr>
          <a:xfrm>
            <a:off x="11579824" y="423447"/>
            <a:ext cx="127001" cy="1397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5" name="Text Placeholder 2"/>
          <p:cNvSpPr txBox="1"/>
          <p:nvPr>
            <p:ph type="body" sz="quarter" idx="1"/>
          </p:nvPr>
        </p:nvSpPr>
        <p:spPr>
          <a:xfrm>
            <a:off x="1596572" y="992226"/>
            <a:ext cx="3006426" cy="914401"/>
          </a:xfrm>
          <a:prstGeom prst="rect">
            <a:avLst/>
          </a:prstGeom>
        </p:spPr>
        <p:txBody>
          <a:bodyPr/>
          <a:lstStyle/>
          <a:p>
            <a:pPr/>
            <a:r>
              <a:t>Server Side Development  / Web Programming</a:t>
            </a:r>
          </a:p>
        </p:txBody>
      </p:sp>
      <p:sp>
        <p:nvSpPr>
          <p:cNvPr id="96" name="TextBox 9"/>
          <p:cNvSpPr txBox="1"/>
          <p:nvPr/>
        </p:nvSpPr>
        <p:spPr>
          <a:xfrm>
            <a:off x="3628565" y="5015017"/>
            <a:ext cx="10306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b="1" sz="1600"/>
            </a:lvl1pPr>
          </a:lstStyle>
          <a:p>
            <a:pPr/>
            <a:r>
              <a:t>Transpiler</a:t>
            </a:r>
          </a:p>
        </p:txBody>
      </p:sp>
      <p:sp>
        <p:nvSpPr>
          <p:cNvPr id="97" name="TextBox 10"/>
          <p:cNvSpPr txBox="1"/>
          <p:nvPr/>
        </p:nvSpPr>
        <p:spPr>
          <a:xfrm>
            <a:off x="3230354" y="5341966"/>
            <a:ext cx="1829793" cy="604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pPr/>
            <a:r>
              <a:t>Converts Modern JavaScript into JavaScript all browsers can understand</a:t>
            </a:r>
          </a:p>
        </p:txBody>
      </p:sp>
      <p:sp>
        <p:nvSpPr>
          <p:cNvPr id="98" name="The 2 tools you will need"/>
          <p:cNvSpPr txBox="1"/>
          <p:nvPr>
            <p:ph type="title" idx="4294967295"/>
          </p:nvPr>
        </p:nvSpPr>
        <p:spPr>
          <a:xfrm>
            <a:off x="1571172" y="416830"/>
            <a:ext cx="5069272" cy="74171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defTabSz="877745">
              <a:defRPr b="1" spc="-191" sz="3455"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pPr/>
            <a:r>
              <a:t>The 2 tools you will need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7668021" y="5015017"/>
            <a:ext cx="81925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b="1" sz="1600"/>
            </a:lvl1pPr>
          </a:lstStyle>
          <a:p>
            <a:pPr/>
            <a:r>
              <a:t>Bundler</a:t>
            </a:r>
          </a:p>
        </p:txBody>
      </p:sp>
      <p:sp>
        <p:nvSpPr>
          <p:cNvPr id="100" name="TextBox 10"/>
          <p:cNvSpPr txBox="1"/>
          <p:nvPr/>
        </p:nvSpPr>
        <p:spPr>
          <a:xfrm>
            <a:off x="7164092" y="5341966"/>
            <a:ext cx="1829793" cy="604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sz="1000">
                <a:solidFill>
                  <a:srgbClr val="000000">
                    <a:alpha val="70000"/>
                  </a:srgbClr>
                </a:solidFill>
              </a:defRPr>
            </a:lvl1pPr>
          </a:lstStyle>
          <a:p>
            <a:pPr/>
            <a:r>
              <a:t>Compiles code for easy distribution. Compiles modules into one file.</a:t>
            </a:r>
          </a:p>
        </p:txBody>
      </p:sp>
      <p:sp>
        <p:nvSpPr>
          <p:cNvPr id="101" name="Transpiler"/>
          <p:cNvSpPr/>
          <p:nvPr/>
        </p:nvSpPr>
        <p:spPr>
          <a:xfrm>
            <a:off x="2985764" y="2092110"/>
            <a:ext cx="2316288" cy="2316288"/>
          </a:xfrm>
          <a:prstGeom prst="ellipse">
            <a:avLst/>
          </a:prstGeom>
          <a:solidFill>
            <a:schemeClr val="accent4">
              <a:satOff val="-32236"/>
              <a:lumOff val="29803"/>
            </a:schemeClr>
          </a:solidFill>
          <a:ln w="279400">
            <a:solidFill>
              <a:schemeClr val="accent4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Transpiler</a:t>
            </a:r>
          </a:p>
        </p:txBody>
      </p:sp>
      <p:sp>
        <p:nvSpPr>
          <p:cNvPr id="102" name="Bundler"/>
          <p:cNvSpPr/>
          <p:nvPr/>
        </p:nvSpPr>
        <p:spPr>
          <a:xfrm>
            <a:off x="6919502" y="2092110"/>
            <a:ext cx="2316288" cy="2316288"/>
          </a:xfrm>
          <a:prstGeom prst="ellipse">
            <a:avLst/>
          </a:prstGeom>
          <a:solidFill>
            <a:schemeClr val="accent2">
              <a:lumOff val="25000"/>
            </a:schemeClr>
          </a:solidFill>
          <a:ln w="279400">
            <a:solidFill>
              <a:schemeClr val="accent2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Bundler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Placeholder 1" descr="Picture Placeholder 1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1894" t="0" r="1894" b="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05" name="Title 2"/>
          <p:cNvSpPr txBox="1"/>
          <p:nvPr>
            <p:ph type="title"/>
          </p:nvPr>
        </p:nvSpPr>
        <p:spPr>
          <a:xfrm>
            <a:off x="1596570" y="1284511"/>
            <a:ext cx="4187373" cy="1783444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Babel</a:t>
            </a:r>
          </a:p>
        </p:txBody>
      </p:sp>
      <p:sp>
        <p:nvSpPr>
          <p:cNvPr id="106" name="Slide Number Placeholder 3"/>
          <p:cNvSpPr txBox="1"/>
          <p:nvPr>
            <p:ph type="sldNum" sz="quarter" idx="2"/>
          </p:nvPr>
        </p:nvSpPr>
        <p:spPr>
          <a:xfrm>
            <a:off x="11579824" y="423447"/>
            <a:ext cx="127001" cy="1397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7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Server Side Development  / Web Programming</a:t>
            </a:r>
          </a:p>
        </p:txBody>
      </p:sp>
      <p:sp>
        <p:nvSpPr>
          <p:cNvPr id="108" name="TextBox 6"/>
          <p:cNvSpPr txBox="1"/>
          <p:nvPr/>
        </p:nvSpPr>
        <p:spPr>
          <a:xfrm>
            <a:off x="1596569" y="5113549"/>
            <a:ext cx="1531815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400">
                <a:solidFill>
                  <a:schemeClr val="accent3"/>
                </a:solidFill>
              </a:defRPr>
            </a:lvl1pPr>
          </a:lstStyle>
          <a:p>
            <a:pPr/>
            <a:r>
              <a:t>https://babeljs.io</a:t>
            </a:r>
          </a:p>
        </p:txBody>
      </p:sp>
      <p:sp>
        <p:nvSpPr>
          <p:cNvPr id="109" name="TextBox 6"/>
          <p:cNvSpPr txBox="1"/>
          <p:nvPr/>
        </p:nvSpPr>
        <p:spPr>
          <a:xfrm>
            <a:off x="1596569" y="1988770"/>
            <a:ext cx="3143122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500">
                <a:solidFill>
                  <a:srgbClr val="000000">
                    <a:alpha val="70000"/>
                  </a:srgbClr>
                </a:solidFill>
              </a:defRPr>
            </a:pPr>
            <a:r>
              <a:t>Translator + Compiler = Transpiler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500">
                <a:solidFill>
                  <a:srgbClr val="000000">
                    <a:alpha val="70000"/>
                  </a:srgbClr>
                </a:solidFill>
              </a:defRPr>
            </a:pPr>
            <a:r>
              <a:t>It takes modern JavaScript and converts it to JavaScript all browsers can understand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500">
                <a:solidFill>
                  <a:srgbClr val="000000">
                    <a:alpha val="70000"/>
                  </a:srgbClr>
                </a:solidFill>
              </a:defRPr>
            </a:pPr>
            <a:r>
              <a:t>Babel is one of the most popular</a:t>
            </a:r>
          </a:p>
        </p:txBody>
      </p:sp>
      <p:sp>
        <p:nvSpPr>
          <p:cNvPr id="110" name="TextBox 9"/>
          <p:cNvSpPr txBox="1"/>
          <p:nvPr/>
        </p:nvSpPr>
        <p:spPr>
          <a:xfrm>
            <a:off x="1621965" y="1001817"/>
            <a:ext cx="10306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600">
                <a:solidFill>
                  <a:srgbClr val="535353"/>
                </a:solidFill>
              </a:defRPr>
            </a:lvl1pPr>
          </a:lstStyle>
          <a:p>
            <a:pPr/>
            <a:r>
              <a:t>Transpiler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Placeholder 1" descr="Picture Placeholder 1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0" t="496" r="0" b="910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13" name="Title 2"/>
          <p:cNvSpPr txBox="1"/>
          <p:nvPr>
            <p:ph type="title"/>
          </p:nvPr>
        </p:nvSpPr>
        <p:spPr>
          <a:xfrm>
            <a:off x="1596570" y="1271811"/>
            <a:ext cx="4187373" cy="1783444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Webpack</a:t>
            </a:r>
          </a:p>
        </p:txBody>
      </p:sp>
      <p:sp>
        <p:nvSpPr>
          <p:cNvPr id="114" name="Slide Number Placeholder 3"/>
          <p:cNvSpPr txBox="1"/>
          <p:nvPr>
            <p:ph type="sldNum" sz="quarter" idx="2"/>
          </p:nvPr>
        </p:nvSpPr>
        <p:spPr>
          <a:xfrm>
            <a:off x="11579824" y="423447"/>
            <a:ext cx="127001" cy="1397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5" name="Text Placehold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Server Side Development  / Web Programming</a:t>
            </a:r>
          </a:p>
        </p:txBody>
      </p:sp>
      <p:sp>
        <p:nvSpPr>
          <p:cNvPr id="116" name="TextBox 6"/>
          <p:cNvSpPr txBox="1"/>
          <p:nvPr/>
        </p:nvSpPr>
        <p:spPr>
          <a:xfrm>
            <a:off x="1596569" y="5113549"/>
            <a:ext cx="200730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400">
                <a:solidFill>
                  <a:schemeClr val="accent3"/>
                </a:solidFill>
              </a:defRPr>
            </a:lvl1pPr>
          </a:lstStyle>
          <a:p>
            <a:pPr/>
            <a:r>
              <a:t>https://webpack.js.org</a:t>
            </a:r>
          </a:p>
        </p:txBody>
      </p:sp>
      <p:sp>
        <p:nvSpPr>
          <p:cNvPr id="117" name="TextBox 6"/>
          <p:cNvSpPr txBox="1"/>
          <p:nvPr/>
        </p:nvSpPr>
        <p:spPr>
          <a:xfrm>
            <a:off x="1596569" y="1988770"/>
            <a:ext cx="3143122" cy="177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00263" indent="-100263">
              <a:lnSpc>
                <a:spcPct val="120000"/>
              </a:lnSpc>
              <a:buSzPct val="100000"/>
              <a:buChar char="•"/>
              <a:defRPr sz="1500">
                <a:solidFill>
                  <a:srgbClr val="000000">
                    <a:alpha val="70000"/>
                  </a:srgbClr>
                </a:solidFill>
              </a:defRPr>
            </a:pPr>
            <a:r>
              <a:t>Combines all our JavaScript Modules into one file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500">
                <a:solidFill>
                  <a:srgbClr val="000000">
                    <a:alpha val="70000"/>
                  </a:srgbClr>
                </a:solidFill>
              </a:defRPr>
            </a:pPr>
            <a:r>
              <a:t>Webpack is the most popular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500">
                <a:solidFill>
                  <a:srgbClr val="000000">
                    <a:alpha val="70000"/>
                  </a:srgbClr>
                </a:solidFill>
              </a:defRPr>
            </a:pPr>
            <a:r>
              <a:t>It Minifies code = Removes white space</a:t>
            </a:r>
          </a:p>
          <a:p>
            <a:pPr marL="100263" indent="-100263">
              <a:lnSpc>
                <a:spcPct val="120000"/>
              </a:lnSpc>
              <a:buSzPct val="100000"/>
              <a:buChar char="•"/>
              <a:defRPr sz="1500">
                <a:solidFill>
                  <a:srgbClr val="000000">
                    <a:alpha val="70000"/>
                  </a:srgbClr>
                </a:solidFill>
              </a:defRPr>
            </a:pPr>
            <a:r>
              <a:t>It Uglifies code = shortens names</a:t>
            </a:r>
          </a:p>
        </p:txBody>
      </p:sp>
      <p:sp>
        <p:nvSpPr>
          <p:cNvPr id="118" name="TextBox 9"/>
          <p:cNvSpPr txBox="1"/>
          <p:nvPr/>
        </p:nvSpPr>
        <p:spPr>
          <a:xfrm>
            <a:off x="1621965" y="1001817"/>
            <a:ext cx="81925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600">
                <a:solidFill>
                  <a:srgbClr val="535353"/>
                </a:solidFill>
              </a:defRPr>
            </a:lvl1pPr>
          </a:lstStyle>
          <a:p>
            <a:pPr/>
            <a:r>
              <a:t>Bundler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Ravi Powerpoint Template">
  <a:themeElements>
    <a:clrScheme name="Ravi Powerpoi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DF62"/>
      </a:accent1>
      <a:accent2>
        <a:srgbClr val="FFC900"/>
      </a:accent2>
      <a:accent3>
        <a:srgbClr val="F77803"/>
      </a:accent3>
      <a:accent4>
        <a:srgbClr val="CE004E"/>
      </a:accent4>
      <a:accent5>
        <a:srgbClr val="4F003F"/>
      </a:accent5>
      <a:accent6>
        <a:srgbClr val="809600"/>
      </a:accent6>
      <a:hlink>
        <a:srgbClr val="0000FF"/>
      </a:hlink>
      <a:folHlink>
        <a:srgbClr val="FF00FF"/>
      </a:folHlink>
    </a:clrScheme>
    <a:fontScheme name="Ravi Powerpoint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avi Powerpoi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Open Sans"/>
            <a:ea typeface="Open Sans"/>
            <a:cs typeface="Open San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Open Sans"/>
            <a:ea typeface="Open Sans"/>
            <a:cs typeface="Open San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avi Powerpoint Template">
  <a:themeElements>
    <a:clrScheme name="Ravi Powerpoint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DF62"/>
      </a:accent1>
      <a:accent2>
        <a:srgbClr val="FFC900"/>
      </a:accent2>
      <a:accent3>
        <a:srgbClr val="F77803"/>
      </a:accent3>
      <a:accent4>
        <a:srgbClr val="CE004E"/>
      </a:accent4>
      <a:accent5>
        <a:srgbClr val="4F003F"/>
      </a:accent5>
      <a:accent6>
        <a:srgbClr val="809600"/>
      </a:accent6>
      <a:hlink>
        <a:srgbClr val="0000FF"/>
      </a:hlink>
      <a:folHlink>
        <a:srgbClr val="FF00FF"/>
      </a:folHlink>
    </a:clrScheme>
    <a:fontScheme name="Ravi Powerpoint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Ravi Powerpoint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Open Sans"/>
            <a:ea typeface="Open Sans"/>
            <a:cs typeface="Open San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3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Open Sans"/>
            <a:ea typeface="Open Sans"/>
            <a:cs typeface="Open San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